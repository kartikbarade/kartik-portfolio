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72" r:id="rId3"/>
    <p:sldId id="257" r:id="rId4"/>
    <p:sldId id="258" r:id="rId5"/>
    <p:sldId id="269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70" r:id="rId16"/>
    <p:sldId id="271" r:id="rId17"/>
    <p:sldId id="268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4155"/>
    <a:srgbClr val="616C7C"/>
    <a:srgbClr val="B7BDC5"/>
    <a:srgbClr val="64748B"/>
    <a:srgbClr val="5E37BE"/>
    <a:srgbClr val="FFFFFF"/>
    <a:srgbClr val="94A3B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66" d="100"/>
          <a:sy n="66" d="100"/>
        </p:scale>
        <p:origin x="1068" y="42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png"/><Relationship Id="rId3" Type="http://schemas.openxmlformats.org/officeDocument/2006/relationships/image" Target="../media/image5.png"/><Relationship Id="rId7" Type="http://schemas.openxmlformats.org/officeDocument/2006/relationships/image" Target="../media/image3.png"/><Relationship Id="rId12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11" Type="http://schemas.openxmlformats.org/officeDocument/2006/relationships/image" Target="../media/image12.png"/><Relationship Id="rId5" Type="http://schemas.openxmlformats.org/officeDocument/2006/relationships/image" Target="../media/image7.png"/><Relationship Id="rId10" Type="http://schemas.openxmlformats.org/officeDocument/2006/relationships/image" Target="../media/image11.png"/><Relationship Id="rId4" Type="http://schemas.openxmlformats.org/officeDocument/2006/relationships/image" Target="../media/image6.png"/><Relationship Id="rId9" Type="http://schemas.openxmlformats.org/officeDocument/2006/relationships/image" Target="../media/image10.png"/><Relationship Id="rId14" Type="http://schemas.openxmlformats.org/officeDocument/2006/relationships/image" Target="../media/image1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6.png"/><Relationship Id="rId7" Type="http://schemas.openxmlformats.org/officeDocument/2006/relationships/image" Target="../media/image1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1.png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13" Type="http://schemas.openxmlformats.org/officeDocument/2006/relationships/image" Target="../media/image3.pn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12" Type="http://schemas.openxmlformats.org/officeDocument/2006/relationships/image" Target="../media/image3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png"/><Relationship Id="rId11" Type="http://schemas.openxmlformats.org/officeDocument/2006/relationships/image" Target="../media/image33.png"/><Relationship Id="rId5" Type="http://schemas.openxmlformats.org/officeDocument/2006/relationships/image" Target="../media/image27.png"/><Relationship Id="rId10" Type="http://schemas.openxmlformats.org/officeDocument/2006/relationships/image" Target="../media/image32.png"/><Relationship Id="rId4" Type="http://schemas.openxmlformats.org/officeDocument/2006/relationships/image" Target="../media/image26.png"/><Relationship Id="rId9" Type="http://schemas.openxmlformats.org/officeDocument/2006/relationships/image" Target="../media/image31.png"/><Relationship Id="rId14" Type="http://schemas.openxmlformats.org/officeDocument/2006/relationships/image" Target="../media/image3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6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13" Type="http://schemas.openxmlformats.org/officeDocument/2006/relationships/image" Target="../media/image46.png"/><Relationship Id="rId3" Type="http://schemas.openxmlformats.org/officeDocument/2006/relationships/image" Target="../media/image37.png"/><Relationship Id="rId7" Type="http://schemas.openxmlformats.org/officeDocument/2006/relationships/image" Target="../media/image40.png"/><Relationship Id="rId12" Type="http://schemas.openxmlformats.org/officeDocument/2006/relationships/image" Target="../media/image4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11" Type="http://schemas.openxmlformats.org/officeDocument/2006/relationships/image" Target="../media/image44.png"/><Relationship Id="rId5" Type="http://schemas.openxmlformats.org/officeDocument/2006/relationships/image" Target="../media/image39.png"/><Relationship Id="rId10" Type="http://schemas.openxmlformats.org/officeDocument/2006/relationships/image" Target="../media/image43.png"/><Relationship Id="rId4" Type="http://schemas.openxmlformats.org/officeDocument/2006/relationships/image" Target="../media/image38.png"/><Relationship Id="rId9" Type="http://schemas.openxmlformats.org/officeDocument/2006/relationships/image" Target="../media/image42.png"/><Relationship Id="rId14" Type="http://schemas.openxmlformats.org/officeDocument/2006/relationships/image" Target="../media/image47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png"/><Relationship Id="rId3" Type="http://schemas.openxmlformats.org/officeDocument/2006/relationships/image" Target="../media/image48.png"/><Relationship Id="rId7" Type="http://schemas.openxmlformats.org/officeDocument/2006/relationships/image" Target="../media/image5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0.png"/><Relationship Id="rId5" Type="http://schemas.openxmlformats.org/officeDocument/2006/relationships/image" Target="../media/image3.png"/><Relationship Id="rId4" Type="http://schemas.openxmlformats.org/officeDocument/2006/relationships/image" Target="../media/image49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png"/><Relationship Id="rId3" Type="http://schemas.openxmlformats.org/officeDocument/2006/relationships/image" Target="../media/image53.png"/><Relationship Id="rId7" Type="http://schemas.openxmlformats.org/officeDocument/2006/relationships/image" Target="../media/image5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8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png"/><Relationship Id="rId13" Type="http://schemas.openxmlformats.org/officeDocument/2006/relationships/image" Target="../media/image68.png"/><Relationship Id="rId3" Type="http://schemas.openxmlformats.org/officeDocument/2006/relationships/image" Target="../media/image59.png"/><Relationship Id="rId7" Type="http://schemas.openxmlformats.org/officeDocument/2006/relationships/image" Target="../media/image63.png"/><Relationship Id="rId12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2.png"/><Relationship Id="rId11" Type="http://schemas.openxmlformats.org/officeDocument/2006/relationships/image" Target="../media/image67.png"/><Relationship Id="rId5" Type="http://schemas.openxmlformats.org/officeDocument/2006/relationships/image" Target="../media/image61.png"/><Relationship Id="rId10" Type="http://schemas.openxmlformats.org/officeDocument/2006/relationships/image" Target="../media/image66.png"/><Relationship Id="rId4" Type="http://schemas.openxmlformats.org/officeDocument/2006/relationships/image" Target="../media/image60.png"/><Relationship Id="rId9" Type="http://schemas.openxmlformats.org/officeDocument/2006/relationships/image" Target="../media/image6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9.png"/><Relationship Id="rId4" Type="http://schemas.openxmlformats.org/officeDocument/2006/relationships/image" Target="../media/image6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0.png"/><Relationship Id="rId5" Type="http://schemas.openxmlformats.org/officeDocument/2006/relationships/image" Target="../media/image69.png"/><Relationship Id="rId4" Type="http://schemas.openxmlformats.org/officeDocument/2006/relationships/image" Target="../media/image6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852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3661767"/>
            <a:ext cx="10668000" cy="1361033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250" y="6429375"/>
            <a:ext cx="11239500" cy="25717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76250" y="6534150"/>
            <a:ext cx="372427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94A3B8"/>
                </a:solidFill>
                <a:latin typeface="Inter"/>
              </a:rPr>
              <a:t>ISBM College of Engineering, Nande, Pune — Dept. of AI &amp; ML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20425" y="6534150"/>
            <a:ext cx="69532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 dirty="0">
                <a:solidFill>
                  <a:srgbClr val="94A3B8"/>
                </a:solidFill>
                <a:latin typeface="Inter"/>
              </a:rPr>
              <a:t>Slide 1 of 1</a:t>
            </a:r>
            <a:r>
              <a:rPr lang="en-US" sz="975" b="0" i="0" u="none" dirty="0">
                <a:solidFill>
                  <a:srgbClr val="94A3B8"/>
                </a:solidFill>
                <a:latin typeface="Inter"/>
              </a:rPr>
              <a:t>7</a:t>
            </a:r>
            <a:endParaRPr sz="975" b="0" i="0" u="none" dirty="0">
              <a:solidFill>
                <a:srgbClr val="94A3B8"/>
              </a:solidFill>
              <a:latin typeface="Inter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62000" y="1835050"/>
            <a:ext cx="1066800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 dirty="0">
                <a:solidFill>
                  <a:srgbClr val="4F46E5"/>
                </a:solidFill>
                <a:latin typeface="Inter"/>
              </a:rPr>
              <a:t>ACADEMIC YEAR 2026-27 |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2073175"/>
            <a:ext cx="11201400" cy="9599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sz="3150" b="1" i="0" u="none" dirty="0">
                <a:solidFill>
                  <a:srgbClr val="1E1B4B"/>
                </a:solidFill>
                <a:latin typeface="Poppins"/>
              </a:rPr>
              <a:t>Sales and Marketing Agent Development for Online Websites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3147417"/>
            <a:ext cx="10668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 dirty="0">
                <a:solidFill>
                  <a:srgbClr val="4F46E5"/>
                </a:solidFill>
                <a:latin typeface="Inter Medium"/>
              </a:rPr>
              <a:t>An AI-Powered Multi-Agent System for Sales, Marketing and Lead Qualification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1075" y="3880842"/>
            <a:ext cx="5722433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64748B"/>
                </a:solidFill>
                <a:latin typeface="Poppins"/>
              </a:rPr>
              <a:t>STUDENT TEAM MEMBERS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1075" y="4138017"/>
            <a:ext cx="5449937" cy="1933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0" i="0" u="none">
                <a:solidFill>
                  <a:srgbClr val="1E293B"/>
                </a:solidFill>
                <a:latin typeface="Inter SemiBold"/>
              </a:rPr>
              <a:t>1. Barade Kartik Yogiraj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1075" y="4359919"/>
            <a:ext cx="5449937" cy="1933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0" i="0" u="none">
                <a:solidFill>
                  <a:srgbClr val="1E293B"/>
                </a:solidFill>
                <a:latin typeface="Inter SemiBold"/>
              </a:rPr>
              <a:t>2. Kaname Dnyaneshwari Dattatray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1075" y="4581822"/>
            <a:ext cx="5449937" cy="1933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0" i="0" u="none">
                <a:solidFill>
                  <a:srgbClr val="1E293B"/>
                </a:solidFill>
                <a:latin typeface="Inter SemiBold"/>
              </a:rPr>
              <a:t>3. Bangar Sayali Hanumant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69137" y="3880842"/>
            <a:ext cx="4768877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64748B"/>
                </a:solidFill>
                <a:latin typeface="Poppins"/>
              </a:rPr>
              <a:t>PROJECT SUPERVISION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69137" y="4138017"/>
            <a:ext cx="4541787" cy="1933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0" i="0" u="none">
                <a:solidFill>
                  <a:srgbClr val="1E293B"/>
                </a:solidFill>
                <a:latin typeface="Inter SemiBold"/>
              </a:rPr>
              <a:t>Guide: Prof. Sangeeta Alagi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69137" y="4359919"/>
            <a:ext cx="4541787" cy="1933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0" i="0" u="none">
                <a:solidFill>
                  <a:srgbClr val="1E293B"/>
                </a:solidFill>
                <a:latin typeface="Inter SemiBold"/>
              </a:rPr>
              <a:t>Coordinator: Prof. Prajakta Puranik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69137" y="4581822"/>
            <a:ext cx="4541787" cy="1933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0" i="0" u="none">
                <a:solidFill>
                  <a:srgbClr val="1E293B"/>
                </a:solidFill>
                <a:latin typeface="Inter SemiBold"/>
              </a:rPr>
              <a:t>HOD: Prof. Kirti Randhe</a:t>
            </a:r>
          </a:p>
        </p:txBody>
      </p:sp>
      <p:sp>
        <p:nvSpPr>
          <p:cNvPr id="19" name="object 4">
            <a:extLst>
              <a:ext uri="{FF2B5EF4-FFF2-40B4-BE49-F238E27FC236}">
                <a16:creationId xmlns:a16="http://schemas.microsoft.com/office/drawing/2014/main" id="{4889088E-4789-FACA-A958-B1E01F3C0DFD}"/>
              </a:ext>
            </a:extLst>
          </p:cNvPr>
          <p:cNvSpPr txBox="1">
            <a:spLocks/>
          </p:cNvSpPr>
          <p:nvPr/>
        </p:nvSpPr>
        <p:spPr>
          <a:xfrm>
            <a:off x="2400300" y="775417"/>
            <a:ext cx="7391400" cy="534443"/>
          </a:xfrm>
          <a:prstGeom prst="rect">
            <a:avLst/>
          </a:prstGeom>
        </p:spPr>
        <p:txBody>
          <a:bodyPr/>
          <a:lstStyle/>
          <a:p>
            <a:pPr marL="2038453" indent="-1954311">
              <a:lnSpc>
                <a:spcPct val="109000"/>
              </a:lnSpc>
              <a:spcBef>
                <a:spcPct val="0"/>
              </a:spcBef>
              <a:defRPr/>
            </a:pPr>
            <a:r>
              <a:rPr lang="en-US" sz="2400" b="1" dirty="0">
                <a:ln w="13462">
                  <a:solidFill>
                    <a:schemeClr val="bg1"/>
                  </a:solidFill>
                  <a:prstDash val="solid"/>
                </a:ln>
                <a:latin typeface="Poppins" panose="00000500000000000000" pitchFamily="2" charset="0"/>
                <a:ea typeface="+mj-ea"/>
                <a:cs typeface="Poppins" panose="00000500000000000000" pitchFamily="2" charset="0"/>
              </a:rPr>
              <a:t>ISBM College of Engineering, Nande, Pune</a:t>
            </a:r>
          </a:p>
        </p:txBody>
      </p:sp>
      <p:pic>
        <p:nvPicPr>
          <p:cNvPr id="21" name="image1.jpeg">
            <a:extLst>
              <a:ext uri="{FF2B5EF4-FFF2-40B4-BE49-F238E27FC236}">
                <a16:creationId xmlns:a16="http://schemas.microsoft.com/office/drawing/2014/main" id="{52FF4E57-BDAF-B108-F447-7E66DBED5D5B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549400" y="666600"/>
            <a:ext cx="634187" cy="685009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CC2DD0D3-6E1A-D031-C004-48B16F729DCF}"/>
              </a:ext>
            </a:extLst>
          </p:cNvPr>
          <p:cNvSpPr txBox="1"/>
          <p:nvPr/>
        </p:nvSpPr>
        <p:spPr>
          <a:xfrm>
            <a:off x="-379562" y="220261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E74618B-0812-C833-3DB9-E40694433A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>
            <a:extLst>
              <a:ext uri="{FF2B5EF4-FFF2-40B4-BE49-F238E27FC236}">
                <a16:creationId xmlns:a16="http://schemas.microsoft.com/office/drawing/2014/main" id="{DB0E5A8C-E896-522D-1085-C0B0912411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751"/>
            <a:ext cx="12192000" cy="6858000"/>
          </a:xfrm>
          <a:prstGeom prst="rect">
            <a:avLst/>
          </a:prstGeom>
        </p:spPr>
      </p:pic>
      <p:pic>
        <p:nvPicPr>
          <p:cNvPr id="7" name="Picture 6" descr="image.png">
            <a:extLst>
              <a:ext uri="{FF2B5EF4-FFF2-40B4-BE49-F238E27FC236}">
                <a16:creationId xmlns:a16="http://schemas.microsoft.com/office/drawing/2014/main" id="{CD1B1166-C71D-F654-4923-6DBAB7D845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6429375"/>
            <a:ext cx="11239500" cy="25717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B8DF199-A416-B40B-7327-03F37E7AC832}"/>
              </a:ext>
            </a:extLst>
          </p:cNvPr>
          <p:cNvSpPr txBox="1"/>
          <p:nvPr/>
        </p:nvSpPr>
        <p:spPr>
          <a:xfrm>
            <a:off x="476250" y="381000"/>
            <a:ext cx="11715750" cy="36567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1" i="0" u="none" dirty="0">
                <a:solidFill>
                  <a:srgbClr val="1E1B4B"/>
                </a:solidFill>
                <a:latin typeface="Poppins"/>
              </a:rPr>
              <a:t>Content</a:t>
            </a:r>
            <a:endParaRPr sz="2400" b="1" i="0" u="none" dirty="0">
              <a:solidFill>
                <a:srgbClr val="1E1B4B"/>
              </a:solidFill>
              <a:latin typeface="Poppin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46B509E-7DBF-E8C0-A786-27A7C2D86C93}"/>
              </a:ext>
            </a:extLst>
          </p:cNvPr>
          <p:cNvSpPr txBox="1"/>
          <p:nvPr/>
        </p:nvSpPr>
        <p:spPr>
          <a:xfrm>
            <a:off x="10991850" y="6534150"/>
            <a:ext cx="7239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 dirty="0">
                <a:solidFill>
                  <a:srgbClr val="94A3B8"/>
                </a:solidFill>
                <a:latin typeface="Inter"/>
              </a:rPr>
              <a:t>Slide 2 of 1</a:t>
            </a:r>
            <a:r>
              <a:rPr lang="en-US" sz="975" b="0" i="0" u="none" dirty="0">
                <a:solidFill>
                  <a:srgbClr val="94A3B8"/>
                </a:solidFill>
                <a:latin typeface="Inter"/>
              </a:rPr>
              <a:t>7</a:t>
            </a:r>
            <a:endParaRPr sz="975" b="0" i="0" u="none" dirty="0">
              <a:solidFill>
                <a:srgbClr val="94A3B8"/>
              </a:solidFill>
              <a:latin typeface="Inter"/>
            </a:endParaRPr>
          </a:p>
        </p:txBody>
      </p:sp>
      <p:graphicFrame>
        <p:nvGraphicFramePr>
          <p:cNvPr id="31" name="Table 30">
            <a:extLst>
              <a:ext uri="{FF2B5EF4-FFF2-40B4-BE49-F238E27FC236}">
                <a16:creationId xmlns:a16="http://schemas.microsoft.com/office/drawing/2014/main" id="{31FB7863-03F8-E944-830D-004B38A104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7674426"/>
              </p:ext>
            </p:extLst>
          </p:nvPr>
        </p:nvGraphicFramePr>
        <p:xfrm>
          <a:off x="476250" y="914400"/>
          <a:ext cx="8128000" cy="545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8309">
                  <a:extLst>
                    <a:ext uri="{9D8B030D-6E8A-4147-A177-3AD203B41FA5}">
                      <a16:colId xmlns:a16="http://schemas.microsoft.com/office/drawing/2014/main" val="3521869411"/>
                    </a:ext>
                  </a:extLst>
                </a:gridCol>
                <a:gridCol w="6749691">
                  <a:extLst>
                    <a:ext uri="{9D8B030D-6E8A-4147-A177-3AD203B41FA5}">
                      <a16:colId xmlns:a16="http://schemas.microsoft.com/office/drawing/2014/main" val="238688394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Inter Medium"/>
                        </a:rPr>
                        <a:t>Sr.no</a:t>
                      </a:r>
                      <a:endParaRPr lang="en-IN" sz="1600" dirty="0">
                        <a:latin typeface="Inter Medium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Inter Medium"/>
                        </a:rPr>
                        <a:t>Index</a:t>
                      </a:r>
                      <a:endParaRPr lang="en-IN" sz="1600" dirty="0">
                        <a:latin typeface="Inter Medium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42619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1</a:t>
                      </a:r>
                      <a:endParaRPr lang="en-IN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100" b="1" i="0" u="none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Inter"/>
                        </a:rPr>
                        <a:t>Project Concept &amp; Overview</a:t>
                      </a:r>
                    </a:p>
                    <a:p>
                      <a:endParaRPr lang="en-IN" sz="300" b="1" dirty="0">
                        <a:solidFill>
                          <a:schemeClr val="tx2">
                            <a:lumMod val="75000"/>
                          </a:schemeClr>
                        </a:solidFill>
                        <a:latin typeface="Inter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4973457"/>
                  </a:ext>
                </a:extLst>
              </a:tr>
              <a:tr h="121058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2</a:t>
                      </a:r>
                      <a:endParaRPr lang="en-IN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100" b="1" i="0" u="none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Inter"/>
                        </a:rPr>
                        <a:t>Problem Statement &amp; Motivation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26801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3</a:t>
                      </a:r>
                      <a:endParaRPr lang="en-IN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100" b="1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Inter"/>
                        </a:rPr>
                        <a:t>Similar  type  of  methodology</a:t>
                      </a:r>
                      <a:endParaRPr lang="en-IN" sz="1100" b="1" i="0" u="none" dirty="0">
                        <a:solidFill>
                          <a:schemeClr val="tx2">
                            <a:lumMod val="75000"/>
                          </a:schemeClr>
                        </a:solidFill>
                        <a:latin typeface="Inter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13532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4</a:t>
                      </a:r>
                      <a:endParaRPr lang="en-IN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100" b="1" i="0" u="none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Inter"/>
                        </a:rPr>
                        <a:t>Literature Survey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49608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5</a:t>
                      </a:r>
                      <a:endParaRPr lang="en-IN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="1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Inter"/>
                        </a:rPr>
                        <a:t>Project Objectives</a:t>
                      </a:r>
                      <a:endParaRPr lang="en-IN" sz="1100" b="1" dirty="0">
                        <a:solidFill>
                          <a:schemeClr val="tx2">
                            <a:lumMod val="75000"/>
                          </a:schemeClr>
                        </a:solidFill>
                        <a:latin typeface="Inter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34403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6</a:t>
                      </a:r>
                      <a:endParaRPr lang="en-IN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="1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Inter"/>
                        </a:rPr>
                        <a:t>System Methodology and workflow</a:t>
                      </a:r>
                      <a:endParaRPr lang="en-IN" sz="1100" b="1" dirty="0">
                        <a:solidFill>
                          <a:schemeClr val="tx2">
                            <a:lumMod val="75000"/>
                          </a:schemeClr>
                        </a:solidFill>
                        <a:latin typeface="Inter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11317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7</a:t>
                      </a:r>
                      <a:endParaRPr lang="en-IN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100" b="1" i="0" u="none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Inter"/>
                        </a:rPr>
                        <a:t>Proposed System Architecture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89855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8</a:t>
                      </a:r>
                      <a:endParaRPr lang="en-IN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100" b="1" i="0" u="none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Inter"/>
                        </a:rPr>
                        <a:t>Autonomous Agent Responsibilities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3960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9</a:t>
                      </a:r>
                      <a:endParaRPr lang="en-IN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100" b="1" i="0" u="none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Inter"/>
                        </a:rPr>
                        <a:t>System Inputs &amp; Outputs Matrix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216877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10</a:t>
                      </a:r>
                      <a:endParaRPr lang="en-IN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100" b="1" i="0" u="none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Inter"/>
                        </a:rPr>
                        <a:t>System UI Implementation &amp; Prototype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99504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11</a:t>
                      </a:r>
                      <a:endParaRPr lang="en-IN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100" b="1" i="0" u="none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Inter"/>
                        </a:rPr>
                        <a:t>Technology Stack &amp; System Specs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02056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12</a:t>
                      </a:r>
                      <a:endParaRPr lang="en-IN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100" b="1" i="0" u="none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Inter"/>
                        </a:rPr>
                        <a:t>Project Review Checklist Alignment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84201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13</a:t>
                      </a:r>
                      <a:endParaRPr lang="en-IN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i="0" u="none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Inter"/>
                        </a:rPr>
                        <a:t>Conclusion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61688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14</a:t>
                      </a:r>
                      <a:endParaRPr lang="en-IN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="1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Inter"/>
                        </a:rPr>
                        <a:t>References</a:t>
                      </a:r>
                      <a:endParaRPr lang="en-IN" sz="1100" b="1" dirty="0">
                        <a:solidFill>
                          <a:schemeClr val="tx2">
                            <a:lumMod val="75000"/>
                          </a:schemeClr>
                        </a:solidFill>
                        <a:latin typeface="Inter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95843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687462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2157412"/>
            <a:ext cx="11239500" cy="1014412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250" y="3362325"/>
            <a:ext cx="3606849" cy="1913483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92649" y="3362325"/>
            <a:ext cx="3606849" cy="1913483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09049" y="3362325"/>
            <a:ext cx="3606849" cy="1913483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6250" y="6429375"/>
            <a:ext cx="11239500" cy="25717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76250" y="381000"/>
            <a:ext cx="11715750" cy="36567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 dirty="0">
                <a:solidFill>
                  <a:srgbClr val="1E1B4B"/>
                </a:solidFill>
                <a:latin typeface="Poppins"/>
              </a:rPr>
              <a:t>Project Concept &amp; Overview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700295" y="447675"/>
            <a:ext cx="1015454" cy="2323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76250" y="6534150"/>
            <a:ext cx="524827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94A3B8"/>
                </a:solidFill>
                <a:latin typeface="Inter"/>
              </a:rPr>
              <a:t>Specialized autonomous agents collaborate seamlessly to deliver end-to-end automation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91850" y="6534150"/>
            <a:ext cx="7239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 dirty="0">
                <a:solidFill>
                  <a:srgbClr val="94A3B8"/>
                </a:solidFill>
                <a:latin typeface="Inter"/>
              </a:rPr>
              <a:t>Slide </a:t>
            </a:r>
            <a:r>
              <a:rPr lang="en-US" sz="975" b="0" i="0" u="none" dirty="0">
                <a:solidFill>
                  <a:srgbClr val="94A3B8"/>
                </a:solidFill>
                <a:latin typeface="Inter"/>
              </a:rPr>
              <a:t>3</a:t>
            </a:r>
            <a:r>
              <a:rPr sz="975" b="0" i="0" u="none" dirty="0">
                <a:solidFill>
                  <a:srgbClr val="94A3B8"/>
                </a:solidFill>
                <a:latin typeface="Inter"/>
              </a:rPr>
              <a:t> of 1</a:t>
            </a:r>
            <a:r>
              <a:rPr lang="en-US" sz="975" b="0" i="0" u="none" dirty="0">
                <a:solidFill>
                  <a:srgbClr val="94A3B8"/>
                </a:solidFill>
                <a:latin typeface="Inter"/>
              </a:rPr>
              <a:t>7</a:t>
            </a:r>
            <a:endParaRPr sz="975" b="0" i="0" u="none" dirty="0">
              <a:solidFill>
                <a:srgbClr val="94A3B8"/>
              </a:solidFill>
              <a:latin typeface="Inter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23900" y="2309812"/>
            <a:ext cx="11341417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1E1B4B"/>
                </a:solidFill>
                <a:latin typeface="Poppins"/>
              </a:rPr>
              <a:t>Concept Statement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900" y="2605087"/>
            <a:ext cx="10801350" cy="4143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125" b="0" i="0" u="none">
                <a:solidFill>
                  <a:srgbClr val="1E293B"/>
                </a:solidFill>
                <a:latin typeface="Inter"/>
              </a:rPr>
              <a:t>An intelligent B2B web system that replaces static forms and generic single-prompt chatbots with specialized, autonomous AI agents powered by LLMs and Retrieval-Augmented Generation (RAG).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5325" y="3609975"/>
            <a:ext cx="419100" cy="4191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95325" y="4143375"/>
            <a:ext cx="3327134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1E1B4B"/>
                </a:solidFill>
                <a:latin typeface="Poppins"/>
              </a:rPr>
              <a:t>Sales Agent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5325" y="4476750"/>
            <a:ext cx="3168699" cy="5799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0" i="0" u="none">
                <a:solidFill>
                  <a:srgbClr val="475569"/>
                </a:solidFill>
                <a:latin typeface="Inter"/>
              </a:rPr>
              <a:t>Handles customer inquiries, provides context-grounded consultation, presents pricing packages, and assists potential leads directly.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11724" y="3609975"/>
            <a:ext cx="419100" cy="4191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4511724" y="4143375"/>
            <a:ext cx="3327134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1E1B4B"/>
                </a:solidFill>
                <a:latin typeface="Poppins"/>
              </a:rPr>
              <a:t>Marketing Agent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11724" y="4476750"/>
            <a:ext cx="3168699" cy="5799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0" i="0" u="none">
                <a:solidFill>
                  <a:srgbClr val="475569"/>
                </a:solidFill>
                <a:latin typeface="Inter"/>
              </a:rPr>
              <a:t>Generates targeted promotional content, creates personalized follow-up campaigns, and crafts customized business outreach emails.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328124" y="3609975"/>
            <a:ext cx="419100" cy="4191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8328124" y="4143375"/>
            <a:ext cx="3327134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1E1B4B"/>
                </a:solidFill>
                <a:latin typeface="Poppins"/>
              </a:rPr>
              <a:t>Lead Qualification Agent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8124" y="4476750"/>
            <a:ext cx="3168699" cy="5799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0" i="0" u="none">
                <a:solidFill>
                  <a:srgbClr val="475569"/>
                </a:solidFill>
                <a:latin typeface="Inter"/>
              </a:rPr>
              <a:t>Analyzes incoming prospect details, evaluates budget and timeline, scores conversion readiness, and updates CRM tables.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85812" y="3724275"/>
            <a:ext cx="238125" cy="190500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626024" y="3724275"/>
            <a:ext cx="190500" cy="190500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428136" y="3724275"/>
            <a:ext cx="219075" cy="190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751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2403127"/>
            <a:ext cx="5453062" cy="1180058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250" y="3716535"/>
            <a:ext cx="5453062" cy="1180058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62687" y="2519064"/>
            <a:ext cx="5453062" cy="137338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6250" y="6429375"/>
            <a:ext cx="11239500" cy="25717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76250" y="381000"/>
            <a:ext cx="11715750" cy="36567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 dirty="0">
                <a:solidFill>
                  <a:srgbClr val="1E1B4B"/>
                </a:solidFill>
                <a:latin typeface="Poppins"/>
              </a:rPr>
              <a:t>Problem Statement &amp; Motivation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28795" y="447675"/>
            <a:ext cx="1586954" cy="2323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76250" y="6534150"/>
            <a:ext cx="378142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94A3B8"/>
                </a:solidFill>
                <a:latin typeface="Inter"/>
              </a:rPr>
              <a:t>Problem definition aligned with QMS consulting business needs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91850" y="6534150"/>
            <a:ext cx="7239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 dirty="0">
                <a:solidFill>
                  <a:srgbClr val="94A3B8"/>
                </a:solidFill>
                <a:latin typeface="Inter"/>
              </a:rPr>
              <a:t>Slide </a:t>
            </a:r>
            <a:r>
              <a:rPr lang="en-US" sz="975" b="0" i="0" u="none" dirty="0">
                <a:solidFill>
                  <a:srgbClr val="94A3B8"/>
                </a:solidFill>
                <a:latin typeface="Inter"/>
              </a:rPr>
              <a:t>4</a:t>
            </a:r>
            <a:r>
              <a:rPr sz="975" b="0" i="0" u="none" dirty="0">
                <a:solidFill>
                  <a:srgbClr val="94A3B8"/>
                </a:solidFill>
                <a:latin typeface="Inter"/>
              </a:rPr>
              <a:t> of 1</a:t>
            </a:r>
            <a:r>
              <a:rPr lang="en-US" sz="975" b="0" i="0" u="none" dirty="0">
                <a:solidFill>
                  <a:srgbClr val="94A3B8"/>
                </a:solidFill>
                <a:latin typeface="Inter"/>
              </a:rPr>
              <a:t>7</a:t>
            </a:r>
            <a:endParaRPr sz="975" b="0" i="0" u="none" dirty="0">
              <a:solidFill>
                <a:srgbClr val="94A3B8"/>
              </a:solidFill>
              <a:latin typeface="Inter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04850" y="2558702"/>
            <a:ext cx="528566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312E81"/>
                </a:solidFill>
                <a:latin typeface="Poppins"/>
              </a:rPr>
              <a:t>Current Industry Challenges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850" y="2850802"/>
            <a:ext cx="5033962" cy="5799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0" i="0" u="none" dirty="0">
                <a:solidFill>
                  <a:srgbClr val="475569"/>
                </a:solidFill>
                <a:latin typeface="Inter"/>
              </a:rPr>
              <a:t>Manual handling of technical business inquiries, lead scoring, and campaign copy leads to delayed response times, high operational overhead, and lost sales opportunities.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850" y="3868935"/>
            <a:ext cx="528566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312E81"/>
                </a:solidFill>
                <a:latin typeface="Poppins"/>
              </a:rPr>
              <a:t>The Rule-Based Chatbot Gap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850" y="4164210"/>
            <a:ext cx="5033962" cy="5799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0" i="0" u="none">
                <a:solidFill>
                  <a:srgbClr val="475569"/>
                </a:solidFill>
                <a:latin typeface="Inter"/>
              </a:rPr>
              <a:t>Traditional rule-based website chatbots provide rigid, generic responses and struggle with multi-turn compliance standards (e.g., ISO 9001, IATF 16949 QMS consulting).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1287" y="2671464"/>
            <a:ext cx="528566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581C87"/>
                </a:solidFill>
                <a:latin typeface="Poppins"/>
              </a:rPr>
              <a:t>Concise Problem Statement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1287" y="2966739"/>
            <a:ext cx="5033962" cy="7733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0" i="0" u="none">
                <a:solidFill>
                  <a:srgbClr val="3B0764"/>
                </a:solidFill>
                <a:latin typeface="Inter Medium"/>
              </a:rPr>
              <a:t>"To develop an autonomous AI multi-agent web platform that provides domain-grounded pre-sales consultations using RAG, automatically qualifies high-intent leads, and generates personalized marketing campaigns with zero manual delay."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29387" y="4025800"/>
            <a:ext cx="5186362" cy="207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125" b="1" i="0" u="none">
                <a:solidFill>
                  <a:srgbClr val="334155"/>
                </a:solidFill>
                <a:latin typeface="Inter"/>
              </a:rPr>
              <a:t>Reduce Manual Pre-Sales Effort:</a:t>
            </a:r>
            <a:r>
              <a:rPr sz="1125" b="0" i="0" u="none">
                <a:solidFill>
                  <a:srgbClr val="334155"/>
                </a:solidFill>
                <a:latin typeface="Inter"/>
              </a:rPr>
              <a:t> Automates routine Q&amp;A and qualification.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29387" y="4366319"/>
            <a:ext cx="5186362" cy="4143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125" b="1" i="0" u="none">
                <a:solidFill>
                  <a:srgbClr val="334155"/>
                </a:solidFill>
                <a:latin typeface="Inter"/>
              </a:rPr>
              <a:t>Improve Response Speed:</a:t>
            </a:r>
            <a:r>
              <a:rPr sz="1125" b="0" i="0" u="none">
                <a:solidFill>
                  <a:srgbClr val="334155"/>
                </a:solidFill>
                <a:latin typeface="Inter"/>
              </a:rPr>
              <a:t> Instant 24/7 technical answers keep leads engaged.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62687" y="4054375"/>
            <a:ext cx="152400" cy="15240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62687" y="4394894"/>
            <a:ext cx="152400" cy="1524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D736F5F-1143-AD41-21EE-03BAC4114D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image.png">
            <a:extLst>
              <a:ext uri="{FF2B5EF4-FFF2-40B4-BE49-F238E27FC236}">
                <a16:creationId xmlns:a16="http://schemas.microsoft.com/office/drawing/2014/main" id="{C3B53D03-039D-2701-C51F-3702F2941B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250" y="6429375"/>
            <a:ext cx="11239500" cy="257175"/>
          </a:xfrm>
          <a:prstGeom prst="rect">
            <a:avLst/>
          </a:prstGeom>
        </p:spPr>
      </p:pic>
      <p:pic>
        <p:nvPicPr>
          <p:cNvPr id="8" name="Picture 7" descr="image.png">
            <a:extLst>
              <a:ext uri="{FF2B5EF4-FFF2-40B4-BE49-F238E27FC236}">
                <a16:creationId xmlns:a16="http://schemas.microsoft.com/office/drawing/2014/main" id="{0C3785A8-4A6D-CD7F-7BFA-B64CB26391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8795" y="447675"/>
            <a:ext cx="1586954" cy="232320"/>
          </a:xfrm>
          <a:prstGeom prst="rect">
            <a:avLst/>
          </a:prstGeom>
        </p:spPr>
      </p:pic>
      <p:pic>
        <p:nvPicPr>
          <p:cNvPr id="34" name="Picture 33" descr="image.png">
            <a:extLst>
              <a:ext uri="{FF2B5EF4-FFF2-40B4-BE49-F238E27FC236}">
                <a16:creationId xmlns:a16="http://schemas.microsoft.com/office/drawing/2014/main" id="{2F37234E-8EB3-0799-6C26-1DD5E24136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5751"/>
            <a:ext cx="12192000" cy="68580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36E925F-D5DC-D943-57C8-6A3FC76287C0}"/>
              </a:ext>
            </a:extLst>
          </p:cNvPr>
          <p:cNvSpPr txBox="1"/>
          <p:nvPr/>
        </p:nvSpPr>
        <p:spPr>
          <a:xfrm>
            <a:off x="476250" y="6534150"/>
            <a:ext cx="3781425" cy="30392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IN" sz="980" dirty="0">
                <a:solidFill>
                  <a:srgbClr val="94A3B8"/>
                </a:solidFill>
                <a:latin typeface="Inter"/>
              </a:rPr>
              <a:t>Similar  type  of  methodology</a:t>
            </a:r>
          </a:p>
          <a:p>
            <a:pPr algn="l"/>
            <a:endParaRPr sz="975" b="0" i="0" u="none" dirty="0">
              <a:solidFill>
                <a:srgbClr val="94A3B8"/>
              </a:solidFill>
              <a:latin typeface="Inter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B7E92FC-067C-5079-BF6D-D7B25DB232B0}"/>
              </a:ext>
            </a:extLst>
          </p:cNvPr>
          <p:cNvSpPr txBox="1"/>
          <p:nvPr/>
        </p:nvSpPr>
        <p:spPr>
          <a:xfrm>
            <a:off x="10991850" y="6534150"/>
            <a:ext cx="7239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 dirty="0">
                <a:solidFill>
                  <a:srgbClr val="94A3B8"/>
                </a:solidFill>
                <a:latin typeface="Inter"/>
              </a:rPr>
              <a:t>Slide </a:t>
            </a:r>
            <a:r>
              <a:rPr lang="en-US" sz="975" dirty="0">
                <a:solidFill>
                  <a:srgbClr val="94A3B8"/>
                </a:solidFill>
                <a:latin typeface="Inter"/>
              </a:rPr>
              <a:t>5</a:t>
            </a:r>
            <a:r>
              <a:rPr sz="975" b="0" i="0" u="none" dirty="0">
                <a:solidFill>
                  <a:srgbClr val="94A3B8"/>
                </a:solidFill>
                <a:latin typeface="Inter"/>
              </a:rPr>
              <a:t> of 1</a:t>
            </a:r>
            <a:r>
              <a:rPr lang="en-US" sz="975" b="0" i="0" u="none" dirty="0">
                <a:solidFill>
                  <a:srgbClr val="94A3B8"/>
                </a:solidFill>
                <a:latin typeface="Inter"/>
              </a:rPr>
              <a:t>7</a:t>
            </a:r>
            <a:endParaRPr sz="975" b="0" i="0" u="none" dirty="0">
              <a:solidFill>
                <a:srgbClr val="94A3B8"/>
              </a:solidFill>
              <a:latin typeface="Inter"/>
            </a:endParaRP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F9F86482-8E7B-3962-DEBE-1B1B878A6DC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6186" y="1688441"/>
            <a:ext cx="10839627" cy="3481118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809D5DC9-26D1-9F3F-8281-7CD604BAADCD}"/>
              </a:ext>
            </a:extLst>
          </p:cNvPr>
          <p:cNvSpPr/>
          <p:nvPr/>
        </p:nvSpPr>
        <p:spPr>
          <a:xfrm>
            <a:off x="676186" y="1691640"/>
            <a:ext cx="64008" cy="150876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solidFill>
                <a:schemeClr val="accent1"/>
              </a:solidFill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B554497-72B7-65AE-588C-EF5B2500A6DD}"/>
              </a:ext>
            </a:extLst>
          </p:cNvPr>
          <p:cNvSpPr/>
          <p:nvPr/>
        </p:nvSpPr>
        <p:spPr>
          <a:xfrm>
            <a:off x="6208306" y="1691640"/>
            <a:ext cx="64008" cy="1508760"/>
          </a:xfrm>
          <a:prstGeom prst="rect">
            <a:avLst/>
          </a:prstGeom>
          <a:solidFill>
            <a:srgbClr val="5E3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B963349C-AA02-FA5D-7537-3BEDE2EE58B0}"/>
              </a:ext>
            </a:extLst>
          </p:cNvPr>
          <p:cNvSpPr/>
          <p:nvPr/>
        </p:nvSpPr>
        <p:spPr>
          <a:xfrm>
            <a:off x="676186" y="3566160"/>
            <a:ext cx="64008" cy="150876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36E69C06-2A87-6D16-FE72-04B4018F0B11}"/>
              </a:ext>
            </a:extLst>
          </p:cNvPr>
          <p:cNvSpPr/>
          <p:nvPr/>
        </p:nvSpPr>
        <p:spPr>
          <a:xfrm>
            <a:off x="6208306" y="3566160"/>
            <a:ext cx="64008" cy="1508760"/>
          </a:xfrm>
          <a:prstGeom prst="rect">
            <a:avLst/>
          </a:prstGeom>
          <a:solidFill>
            <a:srgbClr val="5E3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397726F-B0FA-BF1C-CC6E-5D6EBF352D1B}"/>
              </a:ext>
            </a:extLst>
          </p:cNvPr>
          <p:cNvSpPr txBox="1"/>
          <p:nvPr/>
        </p:nvSpPr>
        <p:spPr>
          <a:xfrm>
            <a:off x="476250" y="381000"/>
            <a:ext cx="11715750" cy="36567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ts val="2879"/>
              </a:lnSpc>
            </a:pPr>
            <a:r>
              <a:rPr lang="en-IN" sz="2400" b="1" dirty="0">
                <a:solidFill>
                  <a:srgbClr val="1E1B4B"/>
                </a:solidFill>
                <a:latin typeface="Poppins"/>
              </a:rPr>
              <a:t>Similar  type  of  methodology</a:t>
            </a:r>
            <a:endParaRPr sz="2400" b="1" i="0" u="none" dirty="0">
              <a:solidFill>
                <a:srgbClr val="1E1B4B"/>
              </a:solidFill>
              <a:latin typeface="Poppins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61B991D-9CCF-BDFA-B456-479FC17A8652}"/>
              </a:ext>
            </a:extLst>
          </p:cNvPr>
          <p:cNvSpPr txBox="1"/>
          <p:nvPr/>
        </p:nvSpPr>
        <p:spPr>
          <a:xfrm>
            <a:off x="3013494" y="5440680"/>
            <a:ext cx="616501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>
                <a:solidFill>
                  <a:srgbClr val="5E37BE"/>
                </a:solidFill>
                <a:latin typeface="Aptos"/>
              </a:rPr>
              <a:t>Project direction: combine specialized agents + LLMs + RAG for practical sales, marketing and lead automation.</a:t>
            </a:r>
          </a:p>
        </p:txBody>
      </p:sp>
    </p:spTree>
    <p:extLst>
      <p:ext uri="{BB962C8B-B14F-4D97-AF65-F5344CB8AC3E}">
        <p14:creationId xmlns:p14="http://schemas.microsoft.com/office/powerpoint/2010/main" val="41139748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2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6429375"/>
            <a:ext cx="11239500" cy="2571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76250" y="381000"/>
            <a:ext cx="11715750" cy="36567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 dirty="0">
                <a:solidFill>
                  <a:srgbClr val="1E1B4B"/>
                </a:solidFill>
                <a:latin typeface="Poppins"/>
              </a:rPr>
              <a:t>Literature Survey 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70815" y="447675"/>
            <a:ext cx="1144934" cy="232320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8325627"/>
              </p:ext>
            </p:extLst>
          </p:nvPr>
        </p:nvGraphicFramePr>
        <p:xfrm>
          <a:off x="482602" y="2079518"/>
          <a:ext cx="11239499" cy="36458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001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5866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806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07635">
                <a:tc>
                  <a:txBody>
                    <a:bodyPr/>
                    <a:lstStyle/>
                    <a:p>
                      <a:pPr algn="l"/>
                      <a:r>
                        <a:rPr sz="1050" b="0" i="0" u="none" dirty="0">
                          <a:solidFill>
                            <a:srgbClr val="FFFFFF"/>
                          </a:solidFill>
                          <a:latin typeface="Inter SemiBold"/>
                        </a:rPr>
                        <a:t>Paper / System Title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12E8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 dirty="0">
                          <a:solidFill>
                            <a:srgbClr val="FFFFFF"/>
                          </a:solidFill>
                          <a:latin typeface="Inter SemiBold"/>
                        </a:rPr>
                        <a:t>Technique Used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12E8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FFFFFF"/>
                          </a:solidFill>
                          <a:latin typeface="Inter SemiBold"/>
                        </a:rPr>
                        <a:t>Key Takeaway &amp; Relevance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12E8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7635">
                <a:tc>
                  <a:txBody>
                    <a:bodyPr/>
                    <a:lstStyle/>
                    <a:p>
                      <a:pPr algn="l"/>
                      <a:r>
                        <a:rPr sz="1050" b="1" i="0" u="none" dirty="0">
                          <a:solidFill>
                            <a:srgbClr val="334155"/>
                          </a:solidFill>
                          <a:latin typeface="Inter"/>
                        </a:rPr>
                        <a:t>LLM-based Multi-Agents Survey</a:t>
                      </a:r>
                      <a:r>
                        <a:rPr dirty="0"/>
                        <a:t>
</a:t>
                      </a:r>
                      <a:r>
                        <a:rPr sz="1050" b="0" i="0" u="none" dirty="0">
                          <a:solidFill>
                            <a:srgbClr val="64748B"/>
                          </a:solidFill>
                          <a:latin typeface="Inter"/>
                        </a:rPr>
                        <a:t>IJCAI 2024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 dirty="0">
                          <a:solidFill>
                            <a:srgbClr val="334155"/>
                          </a:solidFill>
                          <a:latin typeface="Inter"/>
                        </a:rPr>
                        <a:t>LLM Planning &amp; Agent Communication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Inter"/>
                        </a:rPr>
                        <a:t>Provides foundation for orchestrating specialized AI agents with discrete functional roles.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7635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334155"/>
                          </a:solidFill>
                          <a:latin typeface="Inter"/>
                        </a:rPr>
                        <a:t>Multi-Agent Chatbot Framework</a:t>
                      </a:r>
                      <a:r>
                        <a:t>
</a:t>
                      </a:r>
                      <a:r>
                        <a:rPr sz="1050" b="0" i="0" u="none">
                          <a:solidFill>
                            <a:srgbClr val="64748B"/>
                          </a:solidFill>
                          <a:latin typeface="Inter"/>
                        </a:rPr>
                        <a:t>ScienceDirect 2026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Inter"/>
                        </a:rPr>
                        <a:t>RAG &amp; Intent Routing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Inter"/>
                        </a:rPr>
                        <a:t>Demonstrates how RAG prevents LLM hallucinations in complex compliance customer support.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7635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334155"/>
                          </a:solidFill>
                          <a:latin typeface="Inter"/>
                        </a:rPr>
                        <a:t>MaRGen: Market Research Agents</a:t>
                      </a:r>
                      <a:r>
                        <a:t>
</a:t>
                      </a:r>
                      <a:r>
                        <a:rPr sz="1050" b="0" i="0" u="none">
                          <a:solidFill>
                            <a:srgbClr val="64748B"/>
                          </a:solidFill>
                          <a:latin typeface="Inter"/>
                        </a:rPr>
                        <a:t>arXiv 2025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Inter"/>
                        </a:rPr>
                        <a:t>Multi-Agent Collaboration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Inter"/>
                        </a:rPr>
                        <a:t>Validates automated market data retrieval and personalized campaign content drafting.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7637">
                <a:tc>
                  <a:txBody>
                    <a:bodyPr/>
                    <a:lstStyle/>
                    <a:p>
                      <a:pPr algn="l"/>
                      <a:r>
                        <a:rPr sz="1050" b="1" i="0" u="none" dirty="0">
                          <a:solidFill>
                            <a:srgbClr val="334155"/>
                          </a:solidFill>
                          <a:latin typeface="Inter"/>
                        </a:rPr>
                        <a:t>AI Salesman: Telemarketing LLM</a:t>
                      </a:r>
                      <a:r>
                        <a:rPr dirty="0"/>
                        <a:t>
</a:t>
                      </a:r>
                      <a:r>
                        <a:rPr sz="1050" b="0" i="0" u="none" dirty="0">
                          <a:solidFill>
                            <a:srgbClr val="64748B"/>
                          </a:solidFill>
                          <a:latin typeface="Inter"/>
                        </a:rPr>
                        <a:t>AAAI 2026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 dirty="0">
                          <a:solidFill>
                            <a:srgbClr val="334155"/>
                          </a:solidFill>
                          <a:latin typeface="Inter"/>
                        </a:rPr>
                        <a:t>Dialogue Strategy Optimization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 dirty="0">
                          <a:solidFill>
                            <a:srgbClr val="334155"/>
                          </a:solidFill>
                          <a:latin typeface="Inter"/>
                        </a:rPr>
                        <a:t>Explores structured sales dialogue strategies that guide users towards booking consultations.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7637">
                <a:tc>
                  <a:txBody>
                    <a:bodyPr/>
                    <a:lstStyle/>
                    <a:p>
                      <a:pPr algn="l"/>
                      <a:r>
                        <a:rPr lang="en-IN" sz="1050" b="1" dirty="0">
                          <a:solidFill>
                            <a:srgbClr val="334155"/>
                          </a:solidFill>
                        </a:rPr>
                        <a:t>LEAD-MAS: Business Lead Intelligence</a:t>
                      </a:r>
                      <a:br>
                        <a:rPr lang="en-IN" sz="1050" dirty="0"/>
                      </a:br>
                      <a:r>
                        <a:rPr lang="en-IN" sz="1050" dirty="0">
                          <a:solidFill>
                            <a:srgbClr val="64748B"/>
                          </a:solidFill>
                        </a:rPr>
                        <a:t>SSRN 2026</a:t>
                      </a:r>
                      <a:endParaRPr sz="1050" b="0" i="0" u="none" dirty="0">
                        <a:solidFill>
                          <a:srgbClr val="64748B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050" dirty="0">
                          <a:solidFill>
                            <a:srgbClr val="334155"/>
                          </a:solidFill>
                        </a:rPr>
                        <a:t>LLM-based Multi-Agent Lead Intelligence &amp; Lead Scoring</a:t>
                      </a:r>
                      <a:endParaRPr sz="1050" b="0" i="0" u="none" dirty="0">
                        <a:solidFill>
                          <a:srgbClr val="334155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050" dirty="0">
                          <a:solidFill>
                            <a:srgbClr val="334155"/>
                          </a:solidFill>
                        </a:rPr>
                        <a:t>Automates business lead discovery, information extraction, lead qualification, scoring, and CRM integration for prioritizing potential customers.</a:t>
                      </a:r>
                      <a:endParaRPr sz="1050" b="0" i="0" u="none" dirty="0">
                        <a:solidFill>
                          <a:srgbClr val="334155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3865824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18741" y="5991718"/>
            <a:ext cx="11239500" cy="17948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413"/>
              </a:lnSpc>
            </a:pPr>
            <a:r>
              <a:rPr sz="975" b="0" i="1" u="none" dirty="0">
                <a:solidFill>
                  <a:srgbClr val="475569"/>
                </a:solidFill>
                <a:latin typeface="Inter"/>
              </a:rPr>
              <a:t>Conclusion: Extensive research literature validates our architecture (Multi-Agent + LLM + RAG + </a:t>
            </a:r>
            <a:r>
              <a:rPr sz="975" b="0" i="1" u="none" dirty="0" err="1">
                <a:solidFill>
                  <a:srgbClr val="475569"/>
                </a:solidFill>
                <a:latin typeface="Inter"/>
              </a:rPr>
              <a:t>FastAPI</a:t>
            </a:r>
            <a:r>
              <a:rPr sz="975" b="0" i="1" u="none" dirty="0">
                <a:solidFill>
                  <a:srgbClr val="475569"/>
                </a:solidFill>
                <a:latin typeface="Inter"/>
              </a:rPr>
              <a:t>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6250" y="6534150"/>
            <a:ext cx="44386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94A3B8"/>
                </a:solidFill>
                <a:latin typeface="Inter"/>
              </a:rPr>
              <a:t>Literature confirms technological feasibility and validates scope boundaries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98200" y="6534150"/>
            <a:ext cx="7239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 dirty="0">
                <a:solidFill>
                  <a:srgbClr val="94A3B8"/>
                </a:solidFill>
                <a:latin typeface="Inter"/>
              </a:rPr>
              <a:t>Slide </a:t>
            </a:r>
            <a:r>
              <a:rPr lang="en-US" sz="975" dirty="0">
                <a:solidFill>
                  <a:srgbClr val="94A3B8"/>
                </a:solidFill>
                <a:latin typeface="Inter"/>
              </a:rPr>
              <a:t>6</a:t>
            </a:r>
            <a:r>
              <a:rPr sz="975" b="0" i="0" u="none" dirty="0">
                <a:solidFill>
                  <a:srgbClr val="94A3B8"/>
                </a:solidFill>
                <a:latin typeface="Inter"/>
              </a:rPr>
              <a:t> of 1</a:t>
            </a:r>
            <a:r>
              <a:rPr lang="en-US" sz="975" dirty="0">
                <a:solidFill>
                  <a:srgbClr val="94A3B8"/>
                </a:solidFill>
                <a:latin typeface="Inter"/>
              </a:rPr>
              <a:t>7</a:t>
            </a:r>
            <a:endParaRPr sz="975" b="0" i="0" u="none" dirty="0">
              <a:solidFill>
                <a:srgbClr val="94A3B8"/>
              </a:solidFill>
              <a:latin typeface="Inter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476250" y="4492525"/>
            <a:ext cx="250016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2976413" y="4492525"/>
            <a:ext cx="265866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635079" y="4492525"/>
            <a:ext cx="608067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76250" y="5098256"/>
            <a:ext cx="250016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2976413" y="5098256"/>
            <a:ext cx="265866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635079" y="5098256"/>
            <a:ext cx="608067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573CD32-87BD-CB50-4B72-62E249CC3DDE}"/>
              </a:ext>
            </a:extLst>
          </p:cNvPr>
          <p:cNvSpPr/>
          <p:nvPr/>
        </p:nvSpPr>
        <p:spPr>
          <a:xfrm>
            <a:off x="482601" y="3896319"/>
            <a:ext cx="250016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6F7A214-2D50-BA50-67FC-42052E1E9379}"/>
              </a:ext>
            </a:extLst>
          </p:cNvPr>
          <p:cNvSpPr/>
          <p:nvPr/>
        </p:nvSpPr>
        <p:spPr>
          <a:xfrm>
            <a:off x="2982764" y="3896319"/>
            <a:ext cx="265866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186B83F-19E2-82A8-8067-57C3B42760AC}"/>
              </a:ext>
            </a:extLst>
          </p:cNvPr>
          <p:cNvSpPr/>
          <p:nvPr/>
        </p:nvSpPr>
        <p:spPr>
          <a:xfrm>
            <a:off x="5641430" y="3896319"/>
            <a:ext cx="608067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5C87E9AC-1C44-966F-CC15-2A6CB1568BEF}"/>
              </a:ext>
            </a:extLst>
          </p:cNvPr>
          <p:cNvSpPr/>
          <p:nvPr/>
        </p:nvSpPr>
        <p:spPr>
          <a:xfrm>
            <a:off x="476249" y="3276301"/>
            <a:ext cx="250016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8F0AF8DF-F11C-B7B5-46E2-BDE633DD4E8B}"/>
              </a:ext>
            </a:extLst>
          </p:cNvPr>
          <p:cNvSpPr/>
          <p:nvPr/>
        </p:nvSpPr>
        <p:spPr>
          <a:xfrm>
            <a:off x="2976412" y="3276301"/>
            <a:ext cx="265866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00358932-84AE-A18E-A7EB-277D5EB9D45C}"/>
              </a:ext>
            </a:extLst>
          </p:cNvPr>
          <p:cNvSpPr/>
          <p:nvPr/>
        </p:nvSpPr>
        <p:spPr>
          <a:xfrm>
            <a:off x="5635078" y="3276301"/>
            <a:ext cx="608067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12D0A16-6DF8-12CE-2815-3E4E28757018}"/>
              </a:ext>
            </a:extLst>
          </p:cNvPr>
          <p:cNvSpPr/>
          <p:nvPr/>
        </p:nvSpPr>
        <p:spPr>
          <a:xfrm>
            <a:off x="488954" y="5715807"/>
            <a:ext cx="250016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FECF100-B3C2-1B4D-4146-AC3BBE92EE53}"/>
              </a:ext>
            </a:extLst>
          </p:cNvPr>
          <p:cNvSpPr/>
          <p:nvPr/>
        </p:nvSpPr>
        <p:spPr>
          <a:xfrm>
            <a:off x="2989117" y="5715807"/>
            <a:ext cx="265866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9E8CF58-6F73-019C-2484-F560BC92BE87}"/>
              </a:ext>
            </a:extLst>
          </p:cNvPr>
          <p:cNvSpPr/>
          <p:nvPr/>
        </p:nvSpPr>
        <p:spPr>
          <a:xfrm>
            <a:off x="5647783" y="5715807"/>
            <a:ext cx="608067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5751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6429375"/>
            <a:ext cx="11239500" cy="2571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76250" y="381000"/>
            <a:ext cx="11715750" cy="36567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1E1B4B"/>
                </a:solidFill>
                <a:latin typeface="Poppins"/>
              </a:rPr>
              <a:t>Project Objectives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21230" y="447675"/>
            <a:ext cx="1394519" cy="2323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76250" y="6534150"/>
            <a:ext cx="461962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94A3B8"/>
                </a:solidFill>
                <a:latin typeface="Inter"/>
              </a:rPr>
              <a:t>Objectives are unambiguous, measurable, and aligned with project milestones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91850" y="6534150"/>
            <a:ext cx="7239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 dirty="0">
                <a:solidFill>
                  <a:srgbClr val="94A3B8"/>
                </a:solidFill>
                <a:latin typeface="Inter"/>
              </a:rPr>
              <a:t>Slide </a:t>
            </a:r>
            <a:r>
              <a:rPr lang="en-US" sz="975" dirty="0">
                <a:solidFill>
                  <a:srgbClr val="94A3B8"/>
                </a:solidFill>
                <a:latin typeface="Inter"/>
              </a:rPr>
              <a:t>7</a:t>
            </a:r>
            <a:r>
              <a:rPr sz="975" b="0" i="0" u="none" dirty="0">
                <a:solidFill>
                  <a:srgbClr val="94A3B8"/>
                </a:solidFill>
                <a:latin typeface="Inter"/>
              </a:rPr>
              <a:t> of 1</a:t>
            </a:r>
            <a:r>
              <a:rPr lang="en-US" sz="975" b="0" i="0" u="none" dirty="0">
                <a:solidFill>
                  <a:srgbClr val="94A3B8"/>
                </a:solidFill>
                <a:latin typeface="Inter"/>
              </a:rPr>
              <a:t>7</a:t>
            </a:r>
            <a:endParaRPr sz="975" b="0" i="0" u="none" dirty="0">
              <a:solidFill>
                <a:srgbClr val="94A3B8"/>
              </a:solidFill>
              <a:latin typeface="Inter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42950" y="2584251"/>
            <a:ext cx="5186362" cy="6215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125" b="1" i="0" u="none" dirty="0">
                <a:solidFill>
                  <a:srgbClr val="334155"/>
                </a:solidFill>
                <a:latin typeface="Inter"/>
              </a:rPr>
              <a:t>Objective 1: Multi-Agent Automation</a:t>
            </a:r>
            <a:r>
              <a:rPr dirty="0"/>
              <a:t>
</a:t>
            </a:r>
            <a:r>
              <a:rPr sz="1125" b="0" i="0" u="none" dirty="0">
                <a:solidFill>
                  <a:srgbClr val="334155"/>
                </a:solidFill>
                <a:latin typeface="Inter"/>
              </a:rPr>
              <a:t> Automate 24/7 web pre-sales consultation and customer interaction using specialized LLM agents.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2950" y="3339107"/>
            <a:ext cx="5186362" cy="6215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125" b="1" i="0" u="none">
                <a:solidFill>
                  <a:srgbClr val="334155"/>
                </a:solidFill>
                <a:latin typeface="Inter"/>
              </a:rPr>
              <a:t>Objective 2: Lead Qualification</a:t>
            </a:r>
            <a:r>
              <a:t>
</a:t>
            </a:r>
            <a:r>
              <a:rPr sz="1125" b="0" i="0" u="none">
                <a:solidFill>
                  <a:srgbClr val="334155"/>
                </a:solidFill>
                <a:latin typeface="Inter"/>
              </a:rPr>
              <a:t> Automatically score incoming prospects based on extracted budget, timeline, and compliance needs.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2950" y="4093964"/>
            <a:ext cx="5186362" cy="6215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125" b="1" i="0" u="none">
                <a:solidFill>
                  <a:srgbClr val="334155"/>
                </a:solidFill>
                <a:latin typeface="Inter"/>
              </a:rPr>
              <a:t>Objective 3: Marketing Content Generation</a:t>
            </a:r>
            <a:r>
              <a:t>
</a:t>
            </a:r>
            <a:r>
              <a:rPr sz="1125" b="0" i="0" u="none">
                <a:solidFill>
                  <a:srgbClr val="334155"/>
                </a:solidFill>
                <a:latin typeface="Inter"/>
              </a:rPr>
              <a:t> Generate tailored promotional copy, follow-up emails, and client pitch decks automatically.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29387" y="2584251"/>
            <a:ext cx="5186362" cy="6215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125" b="1" i="0" u="none">
                <a:solidFill>
                  <a:srgbClr val="334155"/>
                </a:solidFill>
                <a:latin typeface="Inter"/>
              </a:rPr>
              <a:t>Objective 4: RAG Grounding</a:t>
            </a:r>
            <a:r>
              <a:t>
</a:t>
            </a:r>
            <a:r>
              <a:rPr sz="1125" b="0" i="0" u="none">
                <a:solidFill>
                  <a:srgbClr val="334155"/>
                </a:solidFill>
                <a:latin typeface="Inter"/>
              </a:rPr>
              <a:t> Integrate vector databases to provide accurate, hallucination-free ISO/QMS standards advice.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29387" y="3339107"/>
            <a:ext cx="5186362" cy="6215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125" b="1" i="0" u="none">
                <a:solidFill>
                  <a:srgbClr val="334155"/>
                </a:solidFill>
                <a:latin typeface="Inter"/>
              </a:rPr>
              <a:t>Objective 5: Centralized CRM Management</a:t>
            </a:r>
            <a:r>
              <a:t>
</a:t>
            </a:r>
            <a:r>
              <a:rPr sz="1125" b="0" i="0" u="none">
                <a:solidFill>
                  <a:srgbClr val="334155"/>
                </a:solidFill>
                <a:latin typeface="Inter"/>
              </a:rPr>
              <a:t> Store and sync lead profiles, interaction logs, and analytics into a secure owner portal.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29387" y="4093964"/>
            <a:ext cx="5186362" cy="6215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125" b="1" i="0" u="none">
                <a:solidFill>
                  <a:srgbClr val="334155"/>
                </a:solidFill>
                <a:latin typeface="Inter"/>
              </a:rPr>
              <a:t>Objective 6: Operational Efficiency</a:t>
            </a:r>
            <a:r>
              <a:t>
</a:t>
            </a:r>
            <a:r>
              <a:rPr sz="1125" b="0" i="0" u="none">
                <a:solidFill>
                  <a:srgbClr val="334155"/>
                </a:solidFill>
                <a:latin typeface="Inter"/>
              </a:rPr>
              <a:t> Reduce manual human pre-sales workload by over 70% and lower average response times to &lt; 3 seconds.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6250" y="2612826"/>
            <a:ext cx="152400" cy="1524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6250" y="3367682"/>
            <a:ext cx="152400" cy="1524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6250" y="4122539"/>
            <a:ext cx="152400" cy="1524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62687" y="2612826"/>
            <a:ext cx="152400" cy="15240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62687" y="3367682"/>
            <a:ext cx="152400" cy="15240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62687" y="4122539"/>
            <a:ext cx="152400" cy="1524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3004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4044850"/>
            <a:ext cx="11239500" cy="98673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250" y="2268140"/>
            <a:ext cx="2133600" cy="153858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52725" y="2268140"/>
            <a:ext cx="2133600" cy="153858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0" y="2268140"/>
            <a:ext cx="2133600" cy="153858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05675" y="2268140"/>
            <a:ext cx="2133600" cy="153858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82150" y="2268140"/>
            <a:ext cx="2133600" cy="153858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90650" y="2430065"/>
            <a:ext cx="304800" cy="3048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667125" y="2430065"/>
            <a:ext cx="304800" cy="3048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943600" y="2430065"/>
            <a:ext cx="304800" cy="3048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220075" y="2430065"/>
            <a:ext cx="304800" cy="3048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496550" y="2430065"/>
            <a:ext cx="304800" cy="3048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76250" y="6429375"/>
            <a:ext cx="11239500" cy="25717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76250" y="381000"/>
            <a:ext cx="11715750" cy="36567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1E1B4B"/>
                </a:solidFill>
                <a:latin typeface="Poppins"/>
              </a:rPr>
              <a:t>System Methodology &amp; Workflow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741223" y="447675"/>
            <a:ext cx="974526" cy="23232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76250" y="6534150"/>
            <a:ext cx="423862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94A3B8"/>
                </a:solidFill>
                <a:latin typeface="Inter"/>
              </a:rPr>
              <a:t>5-Step structured execution pipeline from client input to owner insights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91850" y="6534150"/>
            <a:ext cx="7239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 dirty="0">
                <a:solidFill>
                  <a:srgbClr val="94A3B8"/>
                </a:solidFill>
                <a:latin typeface="Inter"/>
              </a:rPr>
              <a:t>Slide </a:t>
            </a:r>
            <a:r>
              <a:rPr lang="en-US" sz="975" dirty="0">
                <a:solidFill>
                  <a:srgbClr val="94A3B8"/>
                </a:solidFill>
                <a:latin typeface="Inter"/>
              </a:rPr>
              <a:t>8</a:t>
            </a:r>
            <a:r>
              <a:rPr sz="975" b="0" i="0" u="none" dirty="0">
                <a:solidFill>
                  <a:srgbClr val="94A3B8"/>
                </a:solidFill>
                <a:latin typeface="Inter"/>
              </a:rPr>
              <a:t> of 1</a:t>
            </a:r>
            <a:r>
              <a:rPr lang="en-US" sz="975" b="0" i="0" u="none" dirty="0">
                <a:solidFill>
                  <a:srgbClr val="94A3B8"/>
                </a:solidFill>
                <a:latin typeface="Inter"/>
              </a:rPr>
              <a:t>7</a:t>
            </a:r>
            <a:endParaRPr sz="975" b="0" i="0" u="none" dirty="0">
              <a:solidFill>
                <a:srgbClr val="94A3B8"/>
              </a:solidFill>
              <a:latin typeface="Inter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04850" y="4197250"/>
            <a:ext cx="1136142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312E81"/>
                </a:solidFill>
                <a:latin typeface="Poppins"/>
              </a:rPr>
              <a:t>Methodological Validation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850" y="4492525"/>
            <a:ext cx="10820400" cy="3866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0" i="0" u="none">
                <a:solidFill>
                  <a:srgbClr val="475569"/>
                </a:solidFill>
                <a:latin typeface="Inter"/>
              </a:rPr>
              <a:t>The system decouples user interaction from heavy backend computation. Intent routing ensures queries are processed by the most qualified specialized agent, while RAG restricts answers to verified company documentation.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2931" y="2830115"/>
            <a:ext cx="1900237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25" b="1" i="0" u="none">
                <a:solidFill>
                  <a:srgbClr val="1E1B4B"/>
                </a:solidFill>
                <a:latin typeface="Poppins"/>
              </a:rPr>
              <a:t>Website Query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8175" y="3106340"/>
            <a:ext cx="1809750" cy="35897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413"/>
              </a:lnSpc>
            </a:pPr>
            <a:r>
              <a:rPr sz="975" b="0" i="0" u="none">
                <a:solidFill>
                  <a:srgbClr val="64748B"/>
                </a:solidFill>
                <a:latin typeface="Inter"/>
              </a:rPr>
              <a:t>Visitor submits inquiry via online web chatbot interface.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69406" y="2830115"/>
            <a:ext cx="1900237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25" b="1" i="0" u="none">
                <a:solidFill>
                  <a:srgbClr val="1E1B4B"/>
                </a:solidFill>
                <a:latin typeface="Poppins"/>
              </a:rPr>
              <a:t>Intent Routing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14650" y="3106340"/>
            <a:ext cx="1809750" cy="5384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413"/>
              </a:lnSpc>
            </a:pPr>
            <a:r>
              <a:rPr sz="975" b="0" i="0" u="none">
                <a:solidFill>
                  <a:srgbClr val="64748B"/>
                </a:solidFill>
                <a:latin typeface="Inter"/>
              </a:rPr>
              <a:t>Classifier routes query to Sales, Marketing, or Lead Agent.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45881" y="2830115"/>
            <a:ext cx="1900237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25" b="1" i="0" u="none">
                <a:solidFill>
                  <a:srgbClr val="1E1B4B"/>
                </a:solidFill>
                <a:latin typeface="Poppins"/>
              </a:rPr>
              <a:t>RAG Retrieval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91125" y="3106340"/>
            <a:ext cx="1809750" cy="5384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413"/>
              </a:lnSpc>
            </a:pPr>
            <a:r>
              <a:rPr sz="975" b="0" i="0" u="none">
                <a:solidFill>
                  <a:srgbClr val="64748B"/>
                </a:solidFill>
                <a:latin typeface="Inter"/>
              </a:rPr>
              <a:t>Embeddings match query against ChromaDB knowledge base.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22356" y="2830115"/>
            <a:ext cx="1900237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25" b="1" i="0" u="none">
                <a:solidFill>
                  <a:srgbClr val="1E1B4B"/>
                </a:solidFill>
                <a:latin typeface="Poppins"/>
              </a:rPr>
              <a:t>Agent Processing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67600" y="3106340"/>
            <a:ext cx="1809750" cy="35897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413"/>
              </a:lnSpc>
            </a:pPr>
            <a:r>
              <a:rPr sz="975" b="0" i="0" u="none">
                <a:solidFill>
                  <a:srgbClr val="64748B"/>
                </a:solidFill>
                <a:latin typeface="Inter"/>
              </a:rPr>
              <a:t>LLM formulates context-aware response or marketing copy.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98831" y="2830115"/>
            <a:ext cx="1900237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25" b="1" i="0" u="none">
                <a:solidFill>
                  <a:srgbClr val="1E1B4B"/>
                </a:solidFill>
                <a:latin typeface="Poppins"/>
              </a:rPr>
              <a:t>Output &amp; CRM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44075" y="3106340"/>
            <a:ext cx="1809750" cy="5384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413"/>
              </a:lnSpc>
            </a:pPr>
            <a:r>
              <a:rPr sz="975" b="0" i="0" u="none">
                <a:solidFill>
                  <a:srgbClr val="64748B"/>
                </a:solidFill>
                <a:latin typeface="Inter"/>
              </a:rPr>
              <a:t>Delivers answer, updates database, and alerts owner portal.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751"/>
            <a:ext cx="12192000" cy="68580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6429375"/>
            <a:ext cx="11239500" cy="25717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76250" y="381000"/>
            <a:ext cx="11715750" cy="36567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 dirty="0">
                <a:solidFill>
                  <a:srgbClr val="1E1B4B"/>
                </a:solidFill>
                <a:latin typeface="Poppins"/>
              </a:rPr>
              <a:t>Proposed System Architecture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11742" y="447675"/>
            <a:ext cx="1104007" cy="2323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76250" y="6534150"/>
            <a:ext cx="513397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94A3B8"/>
                </a:solidFill>
                <a:latin typeface="Inter"/>
              </a:rPr>
              <a:t>Architectural schematic showing user entry points, authentication, and multi-agent hub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1375" y="6534150"/>
            <a:ext cx="71437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 dirty="0">
                <a:solidFill>
                  <a:srgbClr val="94A3B8"/>
                </a:solidFill>
                <a:latin typeface="Inter"/>
              </a:rPr>
              <a:t>Slide </a:t>
            </a:r>
            <a:r>
              <a:rPr lang="en-US" sz="975" dirty="0">
                <a:solidFill>
                  <a:srgbClr val="94A3B8"/>
                </a:solidFill>
                <a:latin typeface="Inter"/>
              </a:rPr>
              <a:t>9</a:t>
            </a:r>
            <a:r>
              <a:rPr sz="975" b="0" i="0" u="none" dirty="0">
                <a:solidFill>
                  <a:srgbClr val="94A3B8"/>
                </a:solidFill>
                <a:latin typeface="Inter"/>
              </a:rPr>
              <a:t> of 1</a:t>
            </a:r>
            <a:r>
              <a:rPr lang="en-US" sz="975" dirty="0">
                <a:solidFill>
                  <a:srgbClr val="94A3B8"/>
                </a:solidFill>
                <a:latin typeface="Inter"/>
              </a:rPr>
              <a:t>7</a:t>
            </a:r>
            <a:endParaRPr sz="975" b="0" i="0" u="none" dirty="0">
              <a:solidFill>
                <a:srgbClr val="94A3B8"/>
              </a:solidFill>
              <a:latin typeface="Inter"/>
            </a:endParaRPr>
          </a:p>
        </p:txBody>
      </p:sp>
      <p:sp>
        <p:nvSpPr>
          <p:cNvPr id="22" name="Rounded Rectangle 8">
            <a:extLst>
              <a:ext uri="{FF2B5EF4-FFF2-40B4-BE49-F238E27FC236}">
                <a16:creationId xmlns:a16="http://schemas.microsoft.com/office/drawing/2014/main" id="{91738814-E565-8528-978E-039BDC5309B4}"/>
              </a:ext>
            </a:extLst>
          </p:cNvPr>
          <p:cNvSpPr/>
          <p:nvPr/>
        </p:nvSpPr>
        <p:spPr>
          <a:xfrm>
            <a:off x="594360" y="1403039"/>
            <a:ext cx="2057400" cy="184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720089A-65C0-3B83-287B-84008C5391CD}"/>
              </a:ext>
            </a:extLst>
          </p:cNvPr>
          <p:cNvSpPr/>
          <p:nvPr/>
        </p:nvSpPr>
        <p:spPr>
          <a:xfrm>
            <a:off x="594360" y="1403039"/>
            <a:ext cx="64008" cy="1843080"/>
          </a:xfrm>
          <a:prstGeom prst="rect">
            <a:avLst/>
          </a:prstGeom>
          <a:solidFill>
            <a:srgbClr val="5E3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40D9806-4516-D6B9-F434-70AED970CEC5}"/>
              </a:ext>
            </a:extLst>
          </p:cNvPr>
          <p:cNvSpPr txBox="1"/>
          <p:nvPr/>
        </p:nvSpPr>
        <p:spPr>
          <a:xfrm>
            <a:off x="795528" y="1517904"/>
            <a:ext cx="1691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21B30"/>
                </a:solidFill>
                <a:latin typeface="Aptos"/>
              </a:rPr>
              <a:t>Company Website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C08AEB2-36FA-253B-4946-A9BB33267085}"/>
              </a:ext>
            </a:extLst>
          </p:cNvPr>
          <p:cNvSpPr txBox="1"/>
          <p:nvPr/>
        </p:nvSpPr>
        <p:spPr>
          <a:xfrm>
            <a:off x="795528" y="1947672"/>
            <a:ext cx="1691640" cy="11612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A2F3D"/>
                </a:solidFill>
                <a:latin typeface="Aptos"/>
              </a:rPr>
              <a:t>Customer-facing website and AI chatbot.</a:t>
            </a:r>
          </a:p>
        </p:txBody>
      </p:sp>
      <p:sp>
        <p:nvSpPr>
          <p:cNvPr id="30" name="Rounded Rectangle 12">
            <a:extLst>
              <a:ext uri="{FF2B5EF4-FFF2-40B4-BE49-F238E27FC236}">
                <a16:creationId xmlns:a16="http://schemas.microsoft.com/office/drawing/2014/main" id="{0917A486-5DC2-1A3C-E891-01F17031D533}"/>
              </a:ext>
            </a:extLst>
          </p:cNvPr>
          <p:cNvSpPr/>
          <p:nvPr/>
        </p:nvSpPr>
        <p:spPr>
          <a:xfrm>
            <a:off x="2971800" y="1403039"/>
            <a:ext cx="2057400" cy="184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687D8525-EF96-2C70-8FE5-AE40EFFBFBFB}"/>
              </a:ext>
            </a:extLst>
          </p:cNvPr>
          <p:cNvSpPr/>
          <p:nvPr/>
        </p:nvSpPr>
        <p:spPr>
          <a:xfrm>
            <a:off x="2971800" y="1403039"/>
            <a:ext cx="64008" cy="1843080"/>
          </a:xfrm>
          <a:prstGeom prst="rect">
            <a:avLst/>
          </a:prstGeom>
          <a:solidFill>
            <a:srgbClr val="12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BFE7B47-FA3F-2237-07C6-BF3A68C035BA}"/>
              </a:ext>
            </a:extLst>
          </p:cNvPr>
          <p:cNvSpPr txBox="1"/>
          <p:nvPr/>
        </p:nvSpPr>
        <p:spPr>
          <a:xfrm>
            <a:off x="3172968" y="1517904"/>
            <a:ext cx="1691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21B30"/>
                </a:solidFill>
                <a:latin typeface="Aptos"/>
              </a:rPr>
              <a:t>Owner Login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AC5B5B3-104B-B818-5C13-96AD2BE9060C}"/>
              </a:ext>
            </a:extLst>
          </p:cNvPr>
          <p:cNvSpPr txBox="1"/>
          <p:nvPr/>
        </p:nvSpPr>
        <p:spPr>
          <a:xfrm>
            <a:off x="3172968" y="1947672"/>
            <a:ext cx="1691640" cy="11612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A2F3D"/>
                </a:solidFill>
                <a:latin typeface="Aptos"/>
              </a:rPr>
              <a:t>Controlled access to the management environment.</a:t>
            </a:r>
          </a:p>
        </p:txBody>
      </p:sp>
      <p:sp>
        <p:nvSpPr>
          <p:cNvPr id="38" name="Rounded Rectangle 16">
            <a:extLst>
              <a:ext uri="{FF2B5EF4-FFF2-40B4-BE49-F238E27FC236}">
                <a16:creationId xmlns:a16="http://schemas.microsoft.com/office/drawing/2014/main" id="{95B751FF-DB0A-65A2-3501-0338633B4178}"/>
              </a:ext>
            </a:extLst>
          </p:cNvPr>
          <p:cNvSpPr/>
          <p:nvPr/>
        </p:nvSpPr>
        <p:spPr>
          <a:xfrm>
            <a:off x="5349240" y="1403039"/>
            <a:ext cx="2057400" cy="184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0B661608-595D-D62B-872E-7DF57E55C6FD}"/>
              </a:ext>
            </a:extLst>
          </p:cNvPr>
          <p:cNvSpPr/>
          <p:nvPr/>
        </p:nvSpPr>
        <p:spPr>
          <a:xfrm>
            <a:off x="5349240" y="1403039"/>
            <a:ext cx="64008" cy="1843080"/>
          </a:xfrm>
          <a:prstGeom prst="rect">
            <a:avLst/>
          </a:prstGeom>
          <a:solidFill>
            <a:srgbClr val="278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31FB1B3-A8C7-29FB-7C93-3A1CB1F6AAA3}"/>
              </a:ext>
            </a:extLst>
          </p:cNvPr>
          <p:cNvSpPr txBox="1"/>
          <p:nvPr/>
        </p:nvSpPr>
        <p:spPr>
          <a:xfrm>
            <a:off x="5550407" y="1517904"/>
            <a:ext cx="1691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21B30"/>
                </a:solidFill>
                <a:latin typeface="Aptos"/>
              </a:rPr>
              <a:t>Agent Layer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9B1F6F0-D427-96E1-C6CD-A0C1B8FF6836}"/>
              </a:ext>
            </a:extLst>
          </p:cNvPr>
          <p:cNvSpPr txBox="1"/>
          <p:nvPr/>
        </p:nvSpPr>
        <p:spPr>
          <a:xfrm>
            <a:off x="5550407" y="1947672"/>
            <a:ext cx="1691640" cy="11612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A2F3D"/>
                </a:solidFill>
                <a:latin typeface="Aptos"/>
              </a:rPr>
              <a:t>Sales • Marketing • Lead Generation</a:t>
            </a:r>
          </a:p>
        </p:txBody>
      </p:sp>
      <p:sp>
        <p:nvSpPr>
          <p:cNvPr id="46" name="Rounded Rectangle 20">
            <a:extLst>
              <a:ext uri="{FF2B5EF4-FFF2-40B4-BE49-F238E27FC236}">
                <a16:creationId xmlns:a16="http://schemas.microsoft.com/office/drawing/2014/main" id="{F85BF649-F045-6CEE-7354-835CE3490A85}"/>
              </a:ext>
            </a:extLst>
          </p:cNvPr>
          <p:cNvSpPr/>
          <p:nvPr/>
        </p:nvSpPr>
        <p:spPr>
          <a:xfrm>
            <a:off x="7726679" y="1403039"/>
            <a:ext cx="2057400" cy="184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D65AF6FA-0003-147A-5A51-30B0D6C7C349}"/>
              </a:ext>
            </a:extLst>
          </p:cNvPr>
          <p:cNvSpPr/>
          <p:nvPr/>
        </p:nvSpPr>
        <p:spPr>
          <a:xfrm>
            <a:off x="7726679" y="1403039"/>
            <a:ext cx="64008" cy="1843080"/>
          </a:xfrm>
          <a:prstGeom prst="rect">
            <a:avLst/>
          </a:prstGeom>
          <a:solidFill>
            <a:srgbClr val="DE7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15ACA69D-1B80-87F9-9251-637D765CFE9A}"/>
              </a:ext>
            </a:extLst>
          </p:cNvPr>
          <p:cNvSpPr txBox="1"/>
          <p:nvPr/>
        </p:nvSpPr>
        <p:spPr>
          <a:xfrm>
            <a:off x="7927848" y="1517904"/>
            <a:ext cx="1691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21B30"/>
                </a:solidFill>
                <a:latin typeface="Aptos"/>
              </a:rPr>
              <a:t>Knowledge Layer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C066D325-8806-4A64-60BE-6F6284A9DAEF}"/>
              </a:ext>
            </a:extLst>
          </p:cNvPr>
          <p:cNvSpPr txBox="1"/>
          <p:nvPr/>
        </p:nvSpPr>
        <p:spPr>
          <a:xfrm>
            <a:off x="7927848" y="1947672"/>
            <a:ext cx="1691640" cy="11612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A2F3D"/>
                </a:solidFill>
                <a:latin typeface="Aptos"/>
              </a:rPr>
              <a:t>RAG + company documents + FAQs</a:t>
            </a:r>
          </a:p>
        </p:txBody>
      </p:sp>
      <p:sp>
        <p:nvSpPr>
          <p:cNvPr id="54" name="Rounded Rectangle 24">
            <a:extLst>
              <a:ext uri="{FF2B5EF4-FFF2-40B4-BE49-F238E27FC236}">
                <a16:creationId xmlns:a16="http://schemas.microsoft.com/office/drawing/2014/main" id="{F45B46CF-CC45-0C9A-7F0E-BA2F659072FD}"/>
              </a:ext>
            </a:extLst>
          </p:cNvPr>
          <p:cNvSpPr/>
          <p:nvPr/>
        </p:nvSpPr>
        <p:spPr>
          <a:xfrm>
            <a:off x="10104120" y="1403039"/>
            <a:ext cx="1508760" cy="184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DFF09192-0F34-3686-0F7F-B9C7C338C2EF}"/>
              </a:ext>
            </a:extLst>
          </p:cNvPr>
          <p:cNvSpPr/>
          <p:nvPr/>
        </p:nvSpPr>
        <p:spPr>
          <a:xfrm>
            <a:off x="10104120" y="1403039"/>
            <a:ext cx="64008" cy="1843080"/>
          </a:xfrm>
          <a:prstGeom prst="rect">
            <a:avLst/>
          </a:prstGeom>
          <a:solidFill>
            <a:srgbClr val="774E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D7B83645-656C-42D2-9E4C-C2F2D155CE51}"/>
              </a:ext>
            </a:extLst>
          </p:cNvPr>
          <p:cNvSpPr txBox="1"/>
          <p:nvPr/>
        </p:nvSpPr>
        <p:spPr>
          <a:xfrm>
            <a:off x="10305288" y="1517904"/>
            <a:ext cx="1143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21B30"/>
                </a:solidFill>
                <a:latin typeface="Aptos"/>
              </a:rPr>
              <a:t>Data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75D02D26-2FD8-5D51-8C9E-1B409618116E}"/>
              </a:ext>
            </a:extLst>
          </p:cNvPr>
          <p:cNvSpPr txBox="1"/>
          <p:nvPr/>
        </p:nvSpPr>
        <p:spPr>
          <a:xfrm>
            <a:off x="10305288" y="1947672"/>
            <a:ext cx="1143000" cy="11612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A2F3D"/>
                </a:solidFill>
                <a:latin typeface="Aptos"/>
              </a:rPr>
              <a:t>CRM / DB
Reports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6CA926B5-7F35-0754-E397-29BCD660BD25}"/>
              </a:ext>
            </a:extLst>
          </p:cNvPr>
          <p:cNvSpPr txBox="1"/>
          <p:nvPr/>
        </p:nvSpPr>
        <p:spPr>
          <a:xfrm>
            <a:off x="2697480" y="1965960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606778"/>
                </a:solidFill>
                <a:latin typeface="Aptos"/>
              </a:rPr>
              <a:t>→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1E7B626E-B268-5DC7-7EEF-F4ED1F6BAF5D}"/>
              </a:ext>
            </a:extLst>
          </p:cNvPr>
          <p:cNvSpPr txBox="1"/>
          <p:nvPr/>
        </p:nvSpPr>
        <p:spPr>
          <a:xfrm>
            <a:off x="5074920" y="1965960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606778"/>
                </a:solidFill>
                <a:latin typeface="Aptos"/>
              </a:rPr>
              <a:t>→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2A1E9212-85F3-ACD0-DDF6-6C1663C49106}"/>
              </a:ext>
            </a:extLst>
          </p:cNvPr>
          <p:cNvSpPr txBox="1"/>
          <p:nvPr/>
        </p:nvSpPr>
        <p:spPr>
          <a:xfrm>
            <a:off x="7452360" y="1965960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606778"/>
                </a:solidFill>
                <a:latin typeface="Aptos"/>
              </a:rPr>
              <a:t>→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1972EB87-A20A-FA36-9984-79F794D2FCF8}"/>
              </a:ext>
            </a:extLst>
          </p:cNvPr>
          <p:cNvSpPr txBox="1"/>
          <p:nvPr/>
        </p:nvSpPr>
        <p:spPr>
          <a:xfrm>
            <a:off x="9829800" y="1965960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606778"/>
                </a:solidFill>
                <a:latin typeface="Aptos"/>
              </a:rPr>
              <a:t>→</a:t>
            </a:r>
          </a:p>
        </p:txBody>
      </p:sp>
      <p:sp>
        <p:nvSpPr>
          <p:cNvPr id="70" name="Rounded Rectangle 32">
            <a:extLst>
              <a:ext uri="{FF2B5EF4-FFF2-40B4-BE49-F238E27FC236}">
                <a16:creationId xmlns:a16="http://schemas.microsoft.com/office/drawing/2014/main" id="{4262217A-72A0-21A7-3C8B-D29A9836D172}"/>
              </a:ext>
            </a:extLst>
          </p:cNvPr>
          <p:cNvSpPr/>
          <p:nvPr/>
        </p:nvSpPr>
        <p:spPr>
          <a:xfrm>
            <a:off x="914400" y="3909970"/>
            <a:ext cx="3063240" cy="139354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EA6E3306-911C-103F-3B91-FB47980391D5}"/>
              </a:ext>
            </a:extLst>
          </p:cNvPr>
          <p:cNvSpPr/>
          <p:nvPr/>
        </p:nvSpPr>
        <p:spPr>
          <a:xfrm>
            <a:off x="914400" y="3909970"/>
            <a:ext cx="64008" cy="1393549"/>
          </a:xfrm>
          <a:prstGeom prst="rect">
            <a:avLst/>
          </a:prstGeom>
          <a:solidFill>
            <a:srgbClr val="5E3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68906FB6-46D8-D78B-5F2E-5EA562EA6242}"/>
              </a:ext>
            </a:extLst>
          </p:cNvPr>
          <p:cNvSpPr txBox="1"/>
          <p:nvPr/>
        </p:nvSpPr>
        <p:spPr>
          <a:xfrm>
            <a:off x="1115568" y="4032504"/>
            <a:ext cx="2697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21B30"/>
                </a:solidFill>
                <a:latin typeface="Aptos"/>
              </a:rPr>
              <a:t>Autonomous Sales Work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57FAEB60-3FED-A928-9873-73F57816934C}"/>
              </a:ext>
            </a:extLst>
          </p:cNvPr>
          <p:cNvSpPr txBox="1"/>
          <p:nvPr/>
        </p:nvSpPr>
        <p:spPr>
          <a:xfrm>
            <a:off x="1115568" y="4462272"/>
            <a:ext cx="2697480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A2F3D"/>
                </a:solidFill>
                <a:latin typeface="Aptos"/>
              </a:rPr>
              <a:t>Query handling, service guidance, consultation support.</a:t>
            </a:r>
          </a:p>
        </p:txBody>
      </p:sp>
      <p:sp>
        <p:nvSpPr>
          <p:cNvPr id="78" name="Rounded Rectangle 36">
            <a:extLst>
              <a:ext uri="{FF2B5EF4-FFF2-40B4-BE49-F238E27FC236}">
                <a16:creationId xmlns:a16="http://schemas.microsoft.com/office/drawing/2014/main" id="{B542C4FB-08D3-E3E5-8261-AFE6D6C1606B}"/>
              </a:ext>
            </a:extLst>
          </p:cNvPr>
          <p:cNvSpPr/>
          <p:nvPr/>
        </p:nvSpPr>
        <p:spPr>
          <a:xfrm>
            <a:off x="4526280" y="3909970"/>
            <a:ext cx="3063240" cy="139354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2D314DCB-493C-1B4E-E866-8B9EA503464E}"/>
              </a:ext>
            </a:extLst>
          </p:cNvPr>
          <p:cNvSpPr/>
          <p:nvPr/>
        </p:nvSpPr>
        <p:spPr>
          <a:xfrm>
            <a:off x="4526280" y="3909970"/>
            <a:ext cx="64008" cy="1393549"/>
          </a:xfrm>
          <a:prstGeom prst="rect">
            <a:avLst/>
          </a:prstGeom>
          <a:solidFill>
            <a:srgbClr val="DE7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7D797323-1C14-98A3-703C-DBF5176A3600}"/>
              </a:ext>
            </a:extLst>
          </p:cNvPr>
          <p:cNvSpPr txBox="1"/>
          <p:nvPr/>
        </p:nvSpPr>
        <p:spPr>
          <a:xfrm>
            <a:off x="4727448" y="4032504"/>
            <a:ext cx="2697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21B30"/>
                </a:solidFill>
                <a:latin typeface="Aptos"/>
              </a:rPr>
              <a:t>Autonomous Marketing Work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3DF68A99-E934-9053-924A-1914733827A9}"/>
              </a:ext>
            </a:extLst>
          </p:cNvPr>
          <p:cNvSpPr txBox="1"/>
          <p:nvPr/>
        </p:nvSpPr>
        <p:spPr>
          <a:xfrm>
            <a:off x="4727448" y="4462272"/>
            <a:ext cx="2697480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A2F3D"/>
                </a:solidFill>
                <a:latin typeface="Aptos"/>
              </a:rPr>
              <a:t>Personalized campaigns, emails and follow-up content.</a:t>
            </a:r>
          </a:p>
        </p:txBody>
      </p:sp>
      <p:sp>
        <p:nvSpPr>
          <p:cNvPr id="86" name="Rounded Rectangle 40">
            <a:extLst>
              <a:ext uri="{FF2B5EF4-FFF2-40B4-BE49-F238E27FC236}">
                <a16:creationId xmlns:a16="http://schemas.microsoft.com/office/drawing/2014/main" id="{275508BA-2BED-234E-C670-FBDBCEF4C071}"/>
              </a:ext>
            </a:extLst>
          </p:cNvPr>
          <p:cNvSpPr/>
          <p:nvPr/>
        </p:nvSpPr>
        <p:spPr>
          <a:xfrm>
            <a:off x="8138160" y="3909970"/>
            <a:ext cx="3063240" cy="139354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3409B0F3-43AE-61CB-DEE8-D6A4DF0470C4}"/>
              </a:ext>
            </a:extLst>
          </p:cNvPr>
          <p:cNvSpPr/>
          <p:nvPr/>
        </p:nvSpPr>
        <p:spPr>
          <a:xfrm>
            <a:off x="8138160" y="3909970"/>
            <a:ext cx="64008" cy="1393549"/>
          </a:xfrm>
          <a:prstGeom prst="rect">
            <a:avLst/>
          </a:prstGeom>
          <a:solidFill>
            <a:srgbClr val="278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5F7FB70E-EE8A-75F9-BCC0-1BC1B92B15AD}"/>
              </a:ext>
            </a:extLst>
          </p:cNvPr>
          <p:cNvSpPr txBox="1"/>
          <p:nvPr/>
        </p:nvSpPr>
        <p:spPr>
          <a:xfrm>
            <a:off x="8339328" y="4032504"/>
            <a:ext cx="2697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21B30"/>
                </a:solidFill>
                <a:latin typeface="Aptos"/>
              </a:rPr>
              <a:t>Autonomous Lead Work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35BE4C18-403E-8E07-A4D4-373EE7699183}"/>
              </a:ext>
            </a:extLst>
          </p:cNvPr>
          <p:cNvSpPr txBox="1"/>
          <p:nvPr/>
        </p:nvSpPr>
        <p:spPr>
          <a:xfrm>
            <a:off x="8339328" y="4462272"/>
            <a:ext cx="2697480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A2F3D"/>
                </a:solidFill>
                <a:latin typeface="Aptos"/>
              </a:rPr>
              <a:t>Requirement extraction, scoring, qualification and prioritization.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2204442"/>
            <a:ext cx="3606849" cy="3024187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2649" y="2204442"/>
            <a:ext cx="3606849" cy="3024187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09049" y="2204442"/>
            <a:ext cx="3606849" cy="3024187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6250" y="6429375"/>
            <a:ext cx="11239500" cy="25717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76250" y="381000"/>
            <a:ext cx="11715750" cy="36567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 dirty="0">
                <a:solidFill>
                  <a:srgbClr val="1E1B4B"/>
                </a:solidFill>
                <a:latin typeface="Poppins"/>
              </a:rPr>
              <a:t>Autonomous Agent Responsibilities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88848" y="447675"/>
            <a:ext cx="926901" cy="2323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76250" y="6534150"/>
            <a:ext cx="522922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94A3B8"/>
                </a:solidFill>
                <a:latin typeface="Inter"/>
              </a:rPr>
              <a:t>Each autonomous agent operates with specialized prompts, memory, and database tools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91850" y="6534150"/>
            <a:ext cx="7239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 dirty="0">
                <a:solidFill>
                  <a:srgbClr val="94A3B8"/>
                </a:solidFill>
                <a:latin typeface="Inter"/>
              </a:rPr>
              <a:t>Slide </a:t>
            </a:r>
            <a:r>
              <a:rPr lang="en-US" sz="975" b="0" i="0" u="none" dirty="0">
                <a:solidFill>
                  <a:srgbClr val="94A3B8"/>
                </a:solidFill>
                <a:latin typeface="Inter"/>
              </a:rPr>
              <a:t>10</a:t>
            </a:r>
            <a:r>
              <a:rPr sz="975" b="0" i="0" u="none" dirty="0">
                <a:solidFill>
                  <a:srgbClr val="94A3B8"/>
                </a:solidFill>
                <a:latin typeface="Inter"/>
              </a:rPr>
              <a:t> of 1</a:t>
            </a:r>
            <a:r>
              <a:rPr lang="en-US" sz="975" b="0" i="0" u="none" dirty="0">
                <a:solidFill>
                  <a:srgbClr val="94A3B8"/>
                </a:solidFill>
                <a:latin typeface="Inter"/>
              </a:rPr>
              <a:t>7</a:t>
            </a:r>
            <a:endParaRPr sz="975" b="0" i="0" u="none" dirty="0">
              <a:solidFill>
                <a:srgbClr val="94A3B8"/>
              </a:solidFill>
              <a:latin typeface="Inter"/>
            </a:endParaRP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5325" y="2423517"/>
            <a:ext cx="419100" cy="4191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95325" y="2956917"/>
            <a:ext cx="3327134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1E1B4B"/>
                </a:solidFill>
                <a:latin typeface="Poppins"/>
              </a:rPr>
              <a:t>Sales Agent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11724" y="2423517"/>
            <a:ext cx="419100" cy="4191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511724" y="2956917"/>
            <a:ext cx="3327134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1E1B4B"/>
                </a:solidFill>
                <a:latin typeface="Poppins"/>
              </a:rPr>
              <a:t>Marketing Agent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28124" y="2423517"/>
            <a:ext cx="419100" cy="4191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328124" y="2956917"/>
            <a:ext cx="3327134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1E1B4B"/>
                </a:solidFill>
                <a:latin typeface="Poppins"/>
              </a:rPr>
              <a:t>Lead Gen Agent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19150" y="2537817"/>
            <a:ext cx="171450" cy="1905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962025" y="3366492"/>
            <a:ext cx="2901999" cy="4143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125" b="0" i="0" u="none">
                <a:solidFill>
                  <a:srgbClr val="334155"/>
                </a:solidFill>
                <a:latin typeface="Inter"/>
              </a:rPr>
              <a:t>Answers technical product &amp; compliance standard FAQs.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2025" y="3914179"/>
            <a:ext cx="2901999" cy="4143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125" b="0" i="0" u="none">
                <a:solidFill>
                  <a:srgbClr val="334155"/>
                </a:solidFill>
                <a:latin typeface="Inter"/>
              </a:rPr>
              <a:t>Explains service packages &amp; consultancy pricing.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2025" y="4461867"/>
            <a:ext cx="2901999" cy="4143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125" b="0" i="0" u="none">
                <a:solidFill>
                  <a:srgbClr val="334155"/>
                </a:solidFill>
                <a:latin typeface="Inter"/>
              </a:rPr>
              <a:t>Guides prospects to book appointment slots.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626024" y="2537817"/>
            <a:ext cx="190500" cy="1905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4778424" y="3366492"/>
            <a:ext cx="2901999" cy="4143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125" b="0" i="0" u="none">
                <a:solidFill>
                  <a:srgbClr val="334155"/>
                </a:solidFill>
                <a:latin typeface="Inter"/>
              </a:rPr>
              <a:t>Creates personalized cold outreach email copy.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78424" y="3914179"/>
            <a:ext cx="2901999" cy="4143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125" b="0" i="0" u="none">
                <a:solidFill>
                  <a:srgbClr val="334155"/>
                </a:solidFill>
                <a:latin typeface="Inter"/>
              </a:rPr>
              <a:t>Generates promotional pitch decks &amp; campaign content.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78424" y="4461867"/>
            <a:ext cx="2901999" cy="4143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125" b="0" i="0" u="none">
                <a:solidFill>
                  <a:srgbClr val="334155"/>
                </a:solidFill>
                <a:latin typeface="Inter"/>
              </a:rPr>
              <a:t>Analyzes target audience industry profiles.</a:t>
            </a:r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428136" y="2537817"/>
            <a:ext cx="219075" cy="19050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8594824" y="3366492"/>
            <a:ext cx="2901999" cy="4143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125" b="0" i="0" u="none">
                <a:solidFill>
                  <a:srgbClr val="334155"/>
                </a:solidFill>
                <a:latin typeface="Inter"/>
              </a:rPr>
              <a:t>Collects user contact details &amp; compliance needs.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94824" y="3914179"/>
            <a:ext cx="2901999" cy="4143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125" b="0" i="0" u="none">
                <a:solidFill>
                  <a:srgbClr val="334155"/>
                </a:solidFill>
                <a:latin typeface="Inter"/>
              </a:rPr>
              <a:t>Calculates lead quality &amp; conversion scores.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94824" y="4461867"/>
            <a:ext cx="2901999" cy="4143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125" b="0" i="0" u="none">
                <a:solidFill>
                  <a:srgbClr val="334155"/>
                </a:solidFill>
                <a:latin typeface="Inter"/>
              </a:rPr>
              <a:t>Updates PostgreSQL / CRM database tables.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95325" y="3395067"/>
            <a:ext cx="95250" cy="152400"/>
          </a:xfrm>
          <a:prstGeom prst="rect">
            <a:avLst/>
          </a:prstGeom>
        </p:spPr>
      </p:pic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95325" y="3942754"/>
            <a:ext cx="95250" cy="152400"/>
          </a:xfrm>
          <a:prstGeom prst="rect">
            <a:avLst/>
          </a:prstGeom>
        </p:spPr>
      </p:pic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95325" y="4490442"/>
            <a:ext cx="95250" cy="152400"/>
          </a:xfrm>
          <a:prstGeom prst="rect">
            <a:avLst/>
          </a:prstGeom>
        </p:spPr>
      </p:pic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511724" y="3395067"/>
            <a:ext cx="95250" cy="152400"/>
          </a:xfrm>
          <a:prstGeom prst="rect">
            <a:avLst/>
          </a:prstGeom>
        </p:spPr>
      </p:pic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511724" y="3942754"/>
            <a:ext cx="95250" cy="152400"/>
          </a:xfrm>
          <a:prstGeom prst="rect">
            <a:avLst/>
          </a:prstGeom>
        </p:spPr>
      </p:pic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511724" y="4490442"/>
            <a:ext cx="95250" cy="152400"/>
          </a:xfrm>
          <a:prstGeom prst="rect">
            <a:avLst/>
          </a:prstGeom>
        </p:spPr>
      </p:pic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328124" y="3395067"/>
            <a:ext cx="95250" cy="152400"/>
          </a:xfrm>
          <a:prstGeom prst="rect">
            <a:avLst/>
          </a:prstGeom>
        </p:spPr>
      </p:pic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328124" y="3942754"/>
            <a:ext cx="95250" cy="152400"/>
          </a:xfrm>
          <a:prstGeom prst="rect">
            <a:avLst/>
          </a:prstGeom>
        </p:spPr>
      </p:pic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328124" y="4490442"/>
            <a:ext cx="95250" cy="1524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2225873"/>
            <a:ext cx="5453062" cy="28479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2687" y="2225873"/>
            <a:ext cx="5453062" cy="28479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6250" y="6429375"/>
            <a:ext cx="11239500" cy="25717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76250" y="381000"/>
            <a:ext cx="11715750" cy="36567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 dirty="0">
                <a:solidFill>
                  <a:srgbClr val="1E1B4B"/>
                </a:solidFill>
                <a:latin typeface="Poppins"/>
              </a:rPr>
              <a:t>System Inputs &amp; Outputs Matrix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18477" y="447675"/>
            <a:ext cx="797272" cy="2323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76250" y="6534150"/>
            <a:ext cx="393382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94A3B8"/>
                </a:solidFill>
                <a:latin typeface="Inter"/>
              </a:rPr>
              <a:t>Clear mapping of input parameters to generated business artifacts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91850" y="6534150"/>
            <a:ext cx="7239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 dirty="0">
                <a:solidFill>
                  <a:srgbClr val="94A3B8"/>
                </a:solidFill>
                <a:latin typeface="Inter"/>
              </a:rPr>
              <a:t>Slide</a:t>
            </a:r>
            <a:r>
              <a:rPr lang="en-US" sz="975" b="0" i="0" u="none" dirty="0">
                <a:solidFill>
                  <a:srgbClr val="94A3B8"/>
                </a:solidFill>
                <a:latin typeface="Inter"/>
              </a:rPr>
              <a:t>11</a:t>
            </a:r>
            <a:r>
              <a:rPr sz="975" b="0" i="0" u="none" dirty="0">
                <a:solidFill>
                  <a:srgbClr val="94A3B8"/>
                </a:solidFill>
                <a:latin typeface="Inter"/>
              </a:rPr>
              <a:t> of 1</a:t>
            </a:r>
            <a:r>
              <a:rPr lang="en-US" sz="975" b="0" i="0" u="none" dirty="0">
                <a:solidFill>
                  <a:srgbClr val="94A3B8"/>
                </a:solidFill>
                <a:latin typeface="Inter"/>
              </a:rPr>
              <a:t>7</a:t>
            </a:r>
            <a:endParaRPr sz="975" b="0" i="0" u="none" dirty="0">
              <a:solidFill>
                <a:srgbClr val="94A3B8"/>
              </a:solidFill>
              <a:latin typeface="Inter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04850" y="2378273"/>
            <a:ext cx="5285660" cy="257175"/>
          </a:xfrm>
          <a:prstGeom prst="rect">
            <a:avLst/>
          </a:prstGeom>
          <a:noFill/>
        </p:spPr>
        <p:txBody>
          <a:bodyPr wrap="square" lIns="24765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312E81"/>
                </a:solidFill>
                <a:latin typeface="Poppins"/>
              </a:rPr>
              <a:t>System Inputs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1287" y="2378273"/>
            <a:ext cx="5285660" cy="257175"/>
          </a:xfrm>
          <a:prstGeom prst="rect">
            <a:avLst/>
          </a:prstGeom>
          <a:noFill/>
        </p:spPr>
        <p:txBody>
          <a:bodyPr wrap="square" lIns="24765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65F46"/>
                </a:solidFill>
                <a:latin typeface="Poppins"/>
              </a:rPr>
              <a:t>System Outputs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4850" y="2425898"/>
            <a:ext cx="171450" cy="1714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71550" y="2730698"/>
            <a:ext cx="4767262" cy="4143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125" b="1" i="0" u="none" dirty="0">
                <a:solidFill>
                  <a:srgbClr val="334155"/>
                </a:solidFill>
                <a:latin typeface="Inter"/>
              </a:rPr>
              <a:t>Natural Language Queries:</a:t>
            </a:r>
            <a:r>
              <a:rPr sz="1125" b="0" i="0" u="none" dirty="0">
                <a:solidFill>
                  <a:srgbClr val="334155"/>
                </a:solidFill>
                <a:latin typeface="Inter"/>
              </a:rPr>
              <a:t> Client questions regarding QMS, ISO certification, and timelines.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1550" y="3278385"/>
            <a:ext cx="4767262" cy="4143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125" b="1" i="0" u="none">
                <a:solidFill>
                  <a:srgbClr val="334155"/>
                </a:solidFill>
                <a:latin typeface="Inter"/>
              </a:rPr>
              <a:t>Lead Profile Data:</a:t>
            </a:r>
            <a:r>
              <a:rPr sz="1125" b="0" i="0" u="none">
                <a:solidFill>
                  <a:srgbClr val="334155"/>
                </a:solidFill>
                <a:latin typeface="Inter"/>
              </a:rPr>
              <a:t> Contact name, business email, company size, and budget parameters.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1550" y="3826073"/>
            <a:ext cx="4767262" cy="4143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125" b="1" i="0" u="none">
                <a:solidFill>
                  <a:srgbClr val="334155"/>
                </a:solidFill>
                <a:latin typeface="Inter"/>
              </a:rPr>
              <a:t>Knowledge Documents:</a:t>
            </a:r>
            <a:r>
              <a:rPr sz="1125" b="0" i="0" u="none">
                <a:solidFill>
                  <a:srgbClr val="334155"/>
                </a:solidFill>
                <a:latin typeface="Inter"/>
              </a:rPr>
              <a:t> Company PDFs, service guidelines, ISO compliance standards, and FAQs.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1550" y="4373760"/>
            <a:ext cx="4767262" cy="4143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125" b="1" i="0" u="none">
                <a:solidFill>
                  <a:srgbClr val="334155"/>
                </a:solidFill>
                <a:latin typeface="Inter"/>
              </a:rPr>
              <a:t>Marketing Objectives:</a:t>
            </a:r>
            <a:r>
              <a:rPr sz="1125" b="0" i="0" u="none">
                <a:solidFill>
                  <a:srgbClr val="334155"/>
                </a:solidFill>
                <a:latin typeface="Inter"/>
              </a:rPr>
              <a:t> Target industry verticals, promotional campaign goals, and tone preferences.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91287" y="2425898"/>
            <a:ext cx="171450" cy="17145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757987" y="2730698"/>
            <a:ext cx="4767262" cy="4143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125" b="1" i="0" u="none">
                <a:solidFill>
                  <a:srgbClr val="334155"/>
                </a:solidFill>
                <a:latin typeface="Inter"/>
              </a:rPr>
              <a:t>Context-Aware AI Answers:</a:t>
            </a:r>
            <a:r>
              <a:rPr sz="1125" b="0" i="0" u="none">
                <a:solidFill>
                  <a:srgbClr val="334155"/>
                </a:solidFill>
                <a:latin typeface="Inter"/>
              </a:rPr>
              <a:t> Grounded technical answers delivered directly in chat.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57987" y="3278385"/>
            <a:ext cx="4767262" cy="4143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125" b="1" i="0" u="none">
                <a:solidFill>
                  <a:srgbClr val="334155"/>
                </a:solidFill>
                <a:latin typeface="Inter"/>
              </a:rPr>
              <a:t>Lead Qualification Summaries:</a:t>
            </a:r>
            <a:r>
              <a:rPr sz="1125" b="0" i="0" u="none">
                <a:solidFill>
                  <a:srgbClr val="334155"/>
                </a:solidFill>
                <a:latin typeface="Inter"/>
              </a:rPr>
              <a:t> Prioritized score rankings and conversion probability reports.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57987" y="3826073"/>
            <a:ext cx="4767262" cy="4143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125" b="1" i="0" u="none">
                <a:solidFill>
                  <a:srgbClr val="334155"/>
                </a:solidFill>
                <a:latin typeface="Inter"/>
              </a:rPr>
              <a:t>Marketing Campaign Assets:</a:t>
            </a:r>
            <a:r>
              <a:rPr sz="1125" b="0" i="0" u="none">
                <a:solidFill>
                  <a:srgbClr val="334155"/>
                </a:solidFill>
                <a:latin typeface="Inter"/>
              </a:rPr>
              <a:t> Customized follow-up emails, pitch messaging, and proposals.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57987" y="4373760"/>
            <a:ext cx="4767262" cy="4143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125" b="1" i="0" u="none">
                <a:solidFill>
                  <a:srgbClr val="334155"/>
                </a:solidFill>
                <a:latin typeface="Inter"/>
              </a:rPr>
              <a:t>CRM &amp; Analytics Entries:</a:t>
            </a:r>
            <a:r>
              <a:rPr sz="1125" b="0" i="0" u="none">
                <a:solidFill>
                  <a:srgbClr val="334155"/>
                </a:solidFill>
                <a:latin typeface="Inter"/>
              </a:rPr>
              <a:t> Updated lead tables and scheduled calendar meetings for owners.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5751"/>
            <a:ext cx="12192000" cy="6858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4842" y="2036415"/>
            <a:ext cx="4640907" cy="98673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74842" y="3156495"/>
            <a:ext cx="4640907" cy="98673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74842" y="4276576"/>
            <a:ext cx="4640907" cy="98673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6250" y="6429375"/>
            <a:ext cx="11239500" cy="25717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76250" y="381000"/>
            <a:ext cx="11715750" cy="36567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 dirty="0">
                <a:solidFill>
                  <a:srgbClr val="1E1B4B"/>
                </a:solidFill>
                <a:latin typeface="Poppins"/>
              </a:rPr>
              <a:t>System UI Implementation &amp; Prototype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858500" y="447675"/>
            <a:ext cx="857250" cy="2323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76250" y="6534150"/>
            <a:ext cx="441007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94A3B8"/>
                </a:solidFill>
                <a:latin typeface="Inter"/>
              </a:rPr>
              <a:t>Functional prototype interface designed for Samrath Consultancy Services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44225" y="6534150"/>
            <a:ext cx="77152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 dirty="0">
                <a:solidFill>
                  <a:srgbClr val="94A3B8"/>
                </a:solidFill>
                <a:latin typeface="Inter"/>
              </a:rPr>
              <a:t>Slide 1</a:t>
            </a:r>
            <a:r>
              <a:rPr lang="en-US" sz="975" dirty="0">
                <a:solidFill>
                  <a:srgbClr val="94A3B8"/>
                </a:solidFill>
                <a:latin typeface="Inter"/>
              </a:rPr>
              <a:t>2</a:t>
            </a:r>
            <a:r>
              <a:rPr sz="975" b="0" i="0" u="none" dirty="0">
                <a:solidFill>
                  <a:srgbClr val="94A3B8"/>
                </a:solidFill>
                <a:latin typeface="Inter"/>
              </a:rPr>
              <a:t> of 1</a:t>
            </a:r>
            <a:r>
              <a:rPr lang="en-US" sz="975" b="0" i="0" u="none" dirty="0">
                <a:solidFill>
                  <a:srgbClr val="94A3B8"/>
                </a:solidFill>
                <a:latin typeface="Inter"/>
              </a:rPr>
              <a:t>7</a:t>
            </a:r>
            <a:endParaRPr sz="975" b="0" i="0" u="none" dirty="0">
              <a:solidFill>
                <a:srgbClr val="94A3B8"/>
              </a:solidFill>
              <a:latin typeface="Inter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589175" y="1634579"/>
            <a:ext cx="6039366" cy="4164062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13" name="TextBox 12"/>
          <p:cNvSpPr txBox="1"/>
          <p:nvPr/>
        </p:nvSpPr>
        <p:spPr>
          <a:xfrm>
            <a:off x="7303442" y="2188815"/>
            <a:ext cx="4432897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312E81"/>
                </a:solidFill>
                <a:latin typeface="Poppins"/>
              </a:rPr>
              <a:t>1. Client Web Chat Widget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03442" y="2484090"/>
            <a:ext cx="4221807" cy="3866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0" i="0" u="none">
                <a:solidFill>
                  <a:srgbClr val="475569"/>
                </a:solidFill>
                <a:latin typeface="Inter"/>
              </a:rPr>
              <a:t>Clean modern landing page for Samrath Consultancy featuring an integrated interactive AI Assistant.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03442" y="3308895"/>
            <a:ext cx="4432897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312E81"/>
                </a:solidFill>
                <a:latin typeface="Poppins"/>
              </a:rPr>
              <a:t>2. Owner Portal Login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03442" y="3604170"/>
            <a:ext cx="4221807" cy="3866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0" i="0" u="none">
                <a:solidFill>
                  <a:srgbClr val="475569"/>
                </a:solidFill>
                <a:latin typeface="Inter"/>
              </a:rPr>
              <a:t>Secure authentication dashboard allowing business owners to monitor leads and agent operations.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03442" y="4428976"/>
            <a:ext cx="4432897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312E81"/>
                </a:solidFill>
                <a:latin typeface="Poppins"/>
              </a:rPr>
              <a:t>3. Agent Workspace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03442" y="4724251"/>
            <a:ext cx="4221807" cy="3866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0" i="0" u="none">
                <a:solidFill>
                  <a:srgbClr val="475569"/>
                </a:solidFill>
                <a:latin typeface="Inter"/>
              </a:rPr>
              <a:t>Real-time pipeline metrics (58 New Leads, 11 Converted) and instant research tools for sales managers.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6429375"/>
            <a:ext cx="11239500" cy="2571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76250" y="381000"/>
            <a:ext cx="11715750" cy="36567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 dirty="0">
                <a:solidFill>
                  <a:srgbClr val="1E1B4B"/>
                </a:solidFill>
                <a:latin typeface="Poppins"/>
              </a:rPr>
              <a:t>Technology Stack &amp; System Specs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48975" y="447675"/>
            <a:ext cx="866775" cy="2323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76250" y="6534150"/>
            <a:ext cx="511492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94A3B8"/>
                </a:solidFill>
                <a:latin typeface="Inter"/>
              </a:rPr>
              <a:t>Modular, scalable architecture enabling effortless addition of future specialized agents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34150"/>
            <a:ext cx="7429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 dirty="0">
                <a:solidFill>
                  <a:srgbClr val="94A3B8"/>
                </a:solidFill>
                <a:latin typeface="Inter"/>
              </a:rPr>
              <a:t>Slide 1</a:t>
            </a:r>
            <a:r>
              <a:rPr lang="en-US" sz="975" b="0" i="0" u="none" dirty="0">
                <a:solidFill>
                  <a:srgbClr val="94A3B8"/>
                </a:solidFill>
                <a:latin typeface="Inter"/>
              </a:rPr>
              <a:t>3</a:t>
            </a:r>
            <a:r>
              <a:rPr sz="975" b="0" i="0" u="none" dirty="0">
                <a:solidFill>
                  <a:srgbClr val="94A3B8"/>
                </a:solidFill>
                <a:latin typeface="Inter"/>
              </a:rPr>
              <a:t> of 1</a:t>
            </a:r>
            <a:r>
              <a:rPr lang="en-US" sz="975" b="0" i="0" u="none" dirty="0">
                <a:solidFill>
                  <a:srgbClr val="94A3B8"/>
                </a:solidFill>
                <a:latin typeface="Inter"/>
              </a:rPr>
              <a:t>7</a:t>
            </a:r>
            <a:endParaRPr sz="975" b="0" i="0" u="none" dirty="0">
              <a:solidFill>
                <a:srgbClr val="94A3B8"/>
              </a:solidFill>
              <a:latin typeface="Inter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76250" y="2307877"/>
            <a:ext cx="5725715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312E81"/>
                </a:solidFill>
                <a:latin typeface="Poppins"/>
              </a:rPr>
              <a:t>Software Architecture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76250" y="2650777"/>
          <a:ext cx="5453062" cy="2474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606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924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2402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334155"/>
                          </a:solidFill>
                          <a:latin typeface="Inter"/>
                        </a:rPr>
                        <a:t>Frontend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 dirty="0">
                          <a:solidFill>
                            <a:srgbClr val="334155"/>
                          </a:solidFill>
                          <a:latin typeface="Inter"/>
                        </a:rPr>
                        <a:t>React.js, HTML5, CSS3, Tailwind CSS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2402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334155"/>
                          </a:solidFill>
                          <a:latin typeface="Inter"/>
                        </a:rPr>
                        <a:t>Backend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Inter"/>
                        </a:rPr>
                        <a:t>FastAPI (Python 3.11+)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2402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334155"/>
                          </a:solidFill>
                          <a:latin typeface="Inter"/>
                        </a:rPr>
                        <a:t>AI Framework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Inter"/>
                        </a:rPr>
                        <a:t>LangChain, LangGraph / CrewAI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2402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334155"/>
                          </a:solidFill>
                          <a:latin typeface="Inter"/>
                        </a:rPr>
                        <a:t>LLM &amp; RAG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Inter"/>
                        </a:rPr>
                        <a:t>OpenAI GPT-4o / Gemini, ChromaDB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2402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334155"/>
                          </a:solidFill>
                          <a:latin typeface="Inter"/>
                        </a:rPr>
                        <a:t>Database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Inter"/>
                        </a:rPr>
                        <a:t>PostgreSQL / MongoDB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2406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334155"/>
                          </a:solidFill>
                          <a:latin typeface="Inter"/>
                        </a:rPr>
                        <a:t>Developer Tools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 dirty="0">
                          <a:solidFill>
                            <a:srgbClr val="334155"/>
                          </a:solidFill>
                          <a:latin typeface="Inter"/>
                        </a:rPr>
                        <a:t>VS Code, Postman, Git, GitHub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2687" y="2514004"/>
            <a:ext cx="5725715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312E81"/>
                </a:solidFill>
                <a:latin typeface="Poppins"/>
              </a:rPr>
              <a:t>Operating Specifications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262687" y="2856904"/>
          <a:ext cx="5453061" cy="206201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57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272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2402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334155"/>
                          </a:solidFill>
                          <a:latin typeface="Inter"/>
                        </a:rPr>
                        <a:t>Hardware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Inter"/>
                        </a:rPr>
                        <a:t>Intel i5 (11th Gen+) / 8GB+ RAM / SSD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2402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334155"/>
                          </a:solidFill>
                          <a:latin typeface="Inter"/>
                        </a:rPr>
                        <a:t>Security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Inter"/>
                        </a:rPr>
                        <a:t>JWT Token Auth, Password Hashing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2402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334155"/>
                          </a:solidFill>
                          <a:latin typeface="Inter"/>
                        </a:rPr>
                        <a:t>APIs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Inter"/>
                        </a:rPr>
                        <a:t>RESTful endpoints, Google Calendar API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2402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334155"/>
                          </a:solidFill>
                          <a:latin typeface="Inter"/>
                        </a:rPr>
                        <a:t>Deployment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Inter"/>
                        </a:rPr>
                        <a:t>Uvicorn / Docker Containerized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2405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334155"/>
                          </a:solidFill>
                          <a:latin typeface="Inter"/>
                        </a:rPr>
                        <a:t>Browsers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Inter"/>
                        </a:rPr>
                        <a:t>Chrome, Edge, Firefox, Safari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476250" y="3048892"/>
            <a:ext cx="186064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336899" y="3048892"/>
            <a:ext cx="359241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262687" y="3255019"/>
            <a:ext cx="152578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788473" y="3255019"/>
            <a:ext cx="392727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76250" y="3461295"/>
            <a:ext cx="186064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2336899" y="3461295"/>
            <a:ext cx="359241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76250" y="3873698"/>
            <a:ext cx="186064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2336899" y="3873698"/>
            <a:ext cx="359241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76250" y="4286101"/>
            <a:ext cx="186064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2336899" y="4286101"/>
            <a:ext cx="359241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76250" y="4698503"/>
            <a:ext cx="186064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2336899" y="4698503"/>
            <a:ext cx="359241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76250" y="5110906"/>
            <a:ext cx="186064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2336899" y="5110906"/>
            <a:ext cx="359241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262687" y="3667422"/>
            <a:ext cx="152578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7788473" y="3667422"/>
            <a:ext cx="392727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262687" y="4079825"/>
            <a:ext cx="152578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7788473" y="4079825"/>
            <a:ext cx="392727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262687" y="4492228"/>
            <a:ext cx="152578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7788473" y="4492228"/>
            <a:ext cx="392727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6262687" y="4904630"/>
            <a:ext cx="152578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7788473" y="4904630"/>
            <a:ext cx="392727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2163663"/>
            <a:ext cx="3651200" cy="939998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70325" y="2163663"/>
            <a:ext cx="3651200" cy="939998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64400" y="2163663"/>
            <a:ext cx="3651349" cy="939998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6250" y="3246536"/>
            <a:ext cx="3651200" cy="939998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70325" y="3246536"/>
            <a:ext cx="3651200" cy="939998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64400" y="3246536"/>
            <a:ext cx="3651349" cy="939998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6250" y="4329410"/>
            <a:ext cx="3651200" cy="939998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270325" y="4329410"/>
            <a:ext cx="3651200" cy="939998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064400" y="4329410"/>
            <a:ext cx="3651349" cy="939998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76250" y="6429375"/>
            <a:ext cx="11239500" cy="25717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76250" y="381000"/>
            <a:ext cx="11715750" cy="36567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 dirty="0">
                <a:solidFill>
                  <a:srgbClr val="1E1B4B"/>
                </a:solidFill>
                <a:latin typeface="Poppins"/>
              </a:rPr>
              <a:t>Project Review Checklist Alignment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810875" y="447675"/>
            <a:ext cx="904875" cy="23232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76250" y="6534150"/>
            <a:ext cx="482917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94A3B8"/>
                </a:solidFill>
                <a:latin typeface="Inter"/>
              </a:rPr>
              <a:t>Comprehensive alignment with Department of AI &amp; ML Project Review-I standards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44225" y="6534150"/>
            <a:ext cx="77152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 dirty="0">
                <a:solidFill>
                  <a:srgbClr val="94A3B8"/>
                </a:solidFill>
                <a:latin typeface="Inter"/>
              </a:rPr>
              <a:t>Slide 1</a:t>
            </a:r>
            <a:r>
              <a:rPr lang="en-US" sz="975" dirty="0">
                <a:solidFill>
                  <a:srgbClr val="94A3B8"/>
                </a:solidFill>
                <a:latin typeface="Inter"/>
              </a:rPr>
              <a:t>4</a:t>
            </a:r>
            <a:r>
              <a:rPr sz="975" b="0" i="0" u="none" dirty="0">
                <a:solidFill>
                  <a:srgbClr val="94A3B8"/>
                </a:solidFill>
                <a:latin typeface="Inter"/>
              </a:rPr>
              <a:t> of 1</a:t>
            </a:r>
            <a:r>
              <a:rPr lang="en-US" sz="975" b="0" i="0" u="none" dirty="0">
                <a:solidFill>
                  <a:srgbClr val="94A3B8"/>
                </a:solidFill>
                <a:latin typeface="Inter"/>
              </a:rPr>
              <a:t>7</a:t>
            </a:r>
            <a:endParaRPr sz="975" b="0" i="0" u="none" dirty="0">
              <a:solidFill>
                <a:srgbClr val="94A3B8"/>
              </a:solidFill>
              <a:latin typeface="Inter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28650" y="2316063"/>
            <a:ext cx="3513720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4F46E5"/>
                </a:solidFill>
                <a:latin typeface="Poppins"/>
              </a:rPr>
              <a:t>Q1: Research Gap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8650" y="2592288"/>
            <a:ext cx="3346400" cy="35897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13"/>
              </a:lnSpc>
            </a:pPr>
            <a:r>
              <a:rPr sz="975" b="0" i="0" u="none">
                <a:solidFill>
                  <a:srgbClr val="475569"/>
                </a:solidFill>
                <a:latin typeface="Inter"/>
              </a:rPr>
              <a:t>Identified limitations of static forms and generic rule-based chatbots.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22725" y="2316063"/>
            <a:ext cx="3513720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4F46E5"/>
                </a:solidFill>
                <a:latin typeface="Poppins"/>
              </a:rPr>
              <a:t>Q2-Q3: Problem Statement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22725" y="2592288"/>
            <a:ext cx="3346400" cy="35897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13"/>
              </a:lnSpc>
            </a:pPr>
            <a:r>
              <a:rPr sz="975" b="0" i="0" u="none">
                <a:solidFill>
                  <a:srgbClr val="475569"/>
                </a:solidFill>
                <a:latin typeface="Inter"/>
              </a:rPr>
              <a:t>Clear, concise definition of multi-agent pre-sales &amp; marketing automation.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16800" y="2316063"/>
            <a:ext cx="3513876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4F46E5"/>
                </a:solidFill>
                <a:latin typeface="Poppins"/>
              </a:rPr>
              <a:t>Q4: Literature Survey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16800" y="2592288"/>
            <a:ext cx="3346549" cy="35897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13"/>
              </a:lnSpc>
            </a:pPr>
            <a:r>
              <a:rPr sz="975" b="0" i="0" u="none">
                <a:solidFill>
                  <a:srgbClr val="475569"/>
                </a:solidFill>
                <a:latin typeface="Inter"/>
              </a:rPr>
              <a:t>4 recent high-impact publications surveyed (IJCAI, ScienceDirect, AAAI).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8650" y="3398936"/>
            <a:ext cx="3513720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4F46E5"/>
                </a:solidFill>
                <a:latin typeface="Poppins"/>
              </a:rPr>
              <a:t>Q5: Scope &amp; Survey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8650" y="3675161"/>
            <a:ext cx="3346400" cy="35897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13"/>
              </a:lnSpc>
            </a:pPr>
            <a:r>
              <a:rPr sz="975" b="0" i="0" u="none">
                <a:solidFill>
                  <a:srgbClr val="475569"/>
                </a:solidFill>
                <a:latin typeface="Inter"/>
              </a:rPr>
              <a:t>Survey confirms multi-agent RAG architecture is optimal for domain Q&amp;A.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22725" y="3398936"/>
            <a:ext cx="3513720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4F46E5"/>
                </a:solidFill>
                <a:latin typeface="Poppins"/>
              </a:rPr>
              <a:t>Q6: Objectives Alignment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22725" y="3675161"/>
            <a:ext cx="3346400" cy="35897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13"/>
              </a:lnSpc>
            </a:pPr>
            <a:r>
              <a:rPr sz="975" b="0" i="0" u="none">
                <a:solidFill>
                  <a:srgbClr val="475569"/>
                </a:solidFill>
                <a:latin typeface="Inter"/>
              </a:rPr>
              <a:t>6 unambiguous goals mapped directly to project system deliverables.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16800" y="3398936"/>
            <a:ext cx="3513876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4F46E5"/>
                </a:solidFill>
                <a:latin typeface="Poppins"/>
              </a:rPr>
              <a:t>Q7: Scope Clarity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16800" y="3675161"/>
            <a:ext cx="3346549" cy="35897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13"/>
              </a:lnSpc>
            </a:pPr>
            <a:r>
              <a:rPr sz="975" b="0" i="0" u="none">
                <a:solidFill>
                  <a:srgbClr val="475569"/>
                </a:solidFill>
                <a:latin typeface="Inter"/>
              </a:rPr>
              <a:t>Scope bounded to web chatbot, lead qualification, and owner portal.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8650" y="4481810"/>
            <a:ext cx="3513720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4F46E5"/>
                </a:solidFill>
                <a:latin typeface="Poppins"/>
              </a:rPr>
              <a:t>Q8-Q9: Goal Understanding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8650" y="4758035"/>
            <a:ext cx="3346400" cy="35897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13"/>
              </a:lnSpc>
            </a:pPr>
            <a:r>
              <a:rPr sz="975" b="0" i="0" u="none">
                <a:solidFill>
                  <a:srgbClr val="475569"/>
                </a:solidFill>
                <a:latin typeface="Inter"/>
              </a:rPr>
              <a:t>System architecture and agent routing fully planned and documented.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22725" y="4481810"/>
            <a:ext cx="3513720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4F46E5"/>
                </a:solidFill>
                <a:latin typeface="Poppins"/>
              </a:rPr>
              <a:t>Q10: Social Impact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22725" y="4758035"/>
            <a:ext cx="3346400" cy="35897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13"/>
              </a:lnSpc>
            </a:pPr>
            <a:r>
              <a:rPr sz="975" b="0" i="0" u="none">
                <a:solidFill>
                  <a:srgbClr val="475569"/>
                </a:solidFill>
                <a:latin typeface="Inter"/>
              </a:rPr>
              <a:t>Democratizes ISO compliance and reduces SME manual pre-sales cost.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16800" y="4481810"/>
            <a:ext cx="3513876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3730A3"/>
                </a:solidFill>
                <a:latin typeface="Poppins"/>
              </a:rPr>
              <a:t>Status Summary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16800" y="4758035"/>
            <a:ext cx="3346549" cy="17948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13"/>
              </a:lnSpc>
            </a:pPr>
            <a:r>
              <a:rPr sz="975" b="0" i="0" u="none">
                <a:solidFill>
                  <a:srgbClr val="1E1B4B"/>
                </a:solidFill>
                <a:latin typeface="Inter SemiBold"/>
              </a:rPr>
              <a:t>100% Review-I Criteria Fully Addressed &amp; Cleared.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41C9A43-0337-CC0A-ED42-B23FB1CF4F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>
            <a:extLst>
              <a:ext uri="{FF2B5EF4-FFF2-40B4-BE49-F238E27FC236}">
                <a16:creationId xmlns:a16="http://schemas.microsoft.com/office/drawing/2014/main" id="{FF13B692-1CF1-F200-0134-552B2BBC72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2" name="Picture 11" descr="image.png">
            <a:extLst>
              <a:ext uri="{FF2B5EF4-FFF2-40B4-BE49-F238E27FC236}">
                <a16:creationId xmlns:a16="http://schemas.microsoft.com/office/drawing/2014/main" id="{CC9E5177-6D52-F770-6451-D6A685A222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6429375"/>
            <a:ext cx="11239500" cy="257175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35D5BF67-8CB1-6DCC-BB7F-756E6CA42A56}"/>
              </a:ext>
            </a:extLst>
          </p:cNvPr>
          <p:cNvSpPr txBox="1"/>
          <p:nvPr/>
        </p:nvSpPr>
        <p:spPr>
          <a:xfrm>
            <a:off x="476250" y="381000"/>
            <a:ext cx="11715750" cy="36567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1" i="0" u="none" dirty="0">
                <a:solidFill>
                  <a:srgbClr val="1E1B4B"/>
                </a:solidFill>
                <a:latin typeface="Poppins"/>
              </a:rPr>
              <a:t>Conclusion</a:t>
            </a:r>
            <a:endParaRPr sz="2400" b="1" i="0" u="none" dirty="0">
              <a:solidFill>
                <a:srgbClr val="1E1B4B"/>
              </a:solidFill>
              <a:latin typeface="Poppins"/>
            </a:endParaRPr>
          </a:p>
        </p:txBody>
      </p:sp>
      <p:pic>
        <p:nvPicPr>
          <p:cNvPr id="14" name="Picture 13" descr="image.png">
            <a:extLst>
              <a:ext uri="{FF2B5EF4-FFF2-40B4-BE49-F238E27FC236}">
                <a16:creationId xmlns:a16="http://schemas.microsoft.com/office/drawing/2014/main" id="{07C0EC3C-AC72-1AF7-2E23-3EC7B76B90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10875" y="447675"/>
            <a:ext cx="904875" cy="23232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CF4A168E-E010-38EE-3DA4-16306B848B37}"/>
              </a:ext>
            </a:extLst>
          </p:cNvPr>
          <p:cNvSpPr txBox="1"/>
          <p:nvPr/>
        </p:nvSpPr>
        <p:spPr>
          <a:xfrm>
            <a:off x="476250" y="6534150"/>
            <a:ext cx="482917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975" b="0" i="0" u="none" dirty="0">
                <a:solidFill>
                  <a:srgbClr val="94A3B8"/>
                </a:solidFill>
                <a:latin typeface="Inter"/>
              </a:rPr>
              <a:t>Conclusion </a:t>
            </a:r>
            <a:endParaRPr sz="975" b="0" i="0" u="none" dirty="0">
              <a:solidFill>
                <a:srgbClr val="94A3B8"/>
              </a:solidFill>
              <a:latin typeface="Inter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385D22C-DAFF-870A-F835-DD1309CC828C}"/>
              </a:ext>
            </a:extLst>
          </p:cNvPr>
          <p:cNvSpPr txBox="1"/>
          <p:nvPr/>
        </p:nvSpPr>
        <p:spPr>
          <a:xfrm>
            <a:off x="10944225" y="6534150"/>
            <a:ext cx="77152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 dirty="0">
                <a:solidFill>
                  <a:srgbClr val="94A3B8"/>
                </a:solidFill>
                <a:latin typeface="Inter"/>
              </a:rPr>
              <a:t>Slide 1</a:t>
            </a:r>
            <a:r>
              <a:rPr lang="en-US" sz="975" dirty="0">
                <a:solidFill>
                  <a:srgbClr val="94A3B8"/>
                </a:solidFill>
                <a:latin typeface="Inter"/>
              </a:rPr>
              <a:t>5</a:t>
            </a:r>
            <a:r>
              <a:rPr sz="975" b="0" i="0" u="none" dirty="0">
                <a:solidFill>
                  <a:srgbClr val="94A3B8"/>
                </a:solidFill>
                <a:latin typeface="Inter"/>
              </a:rPr>
              <a:t> of 1</a:t>
            </a:r>
            <a:r>
              <a:rPr lang="en-US" sz="975" dirty="0">
                <a:solidFill>
                  <a:srgbClr val="94A3B8"/>
                </a:solidFill>
                <a:latin typeface="Inter"/>
              </a:rPr>
              <a:t>7</a:t>
            </a:r>
            <a:endParaRPr sz="975" b="0" i="0" u="none" dirty="0">
              <a:solidFill>
                <a:srgbClr val="94A3B8"/>
              </a:solidFill>
              <a:latin typeface="Inter"/>
            </a:endParaRPr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4C813EF8-1432-9CD9-FF89-12F4A9A6542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11598" y="381000"/>
            <a:ext cx="1103427" cy="370870"/>
          </a:xfrm>
          <a:prstGeom prst="rect">
            <a:avLst/>
          </a:prstGeom>
        </p:spPr>
      </p:pic>
      <p:sp>
        <p:nvSpPr>
          <p:cNvPr id="41" name="TextBox 40">
            <a:extLst>
              <a:ext uri="{FF2B5EF4-FFF2-40B4-BE49-F238E27FC236}">
                <a16:creationId xmlns:a16="http://schemas.microsoft.com/office/drawing/2014/main" id="{905D877F-8589-DB7B-13C7-69C66B0FD454}"/>
              </a:ext>
            </a:extLst>
          </p:cNvPr>
          <p:cNvSpPr txBox="1"/>
          <p:nvPr/>
        </p:nvSpPr>
        <p:spPr>
          <a:xfrm>
            <a:off x="384174" y="1278800"/>
            <a:ext cx="10747376" cy="3259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</a:pPr>
            <a:r>
              <a:rPr lang="en-IN" sz="1500" dirty="0">
                <a:latin typeface="Inter"/>
              </a:rPr>
              <a:t>The proposed </a:t>
            </a:r>
            <a:r>
              <a:rPr lang="en-IN" sz="1500" b="1" dirty="0">
                <a:latin typeface="Inter"/>
              </a:rPr>
              <a:t>Sales and Marketing Agent Development for Online Websites</a:t>
            </a:r>
            <a:r>
              <a:rPr lang="en-IN" sz="1500" dirty="0">
                <a:latin typeface="Inter"/>
              </a:rPr>
              <a:t> aims to make sales and marketing activities easier by using separate AI agents for different tasks. The </a:t>
            </a:r>
            <a:r>
              <a:rPr lang="en-IN" sz="1500" b="1" dirty="0">
                <a:latin typeface="Inter"/>
              </a:rPr>
              <a:t>Sales Agent, Marketing Agent, and Lead Generation Agent</a:t>
            </a:r>
            <a:r>
              <a:rPr lang="en-IN" sz="1500" dirty="0">
                <a:latin typeface="Inter"/>
              </a:rPr>
              <a:t> can handle their respective work and reduce repetitive manual effort.</a:t>
            </a:r>
          </a:p>
          <a:p>
            <a:pPr>
              <a:lnSpc>
                <a:spcPct val="200000"/>
              </a:lnSpc>
              <a:buNone/>
            </a:pPr>
            <a:r>
              <a:rPr lang="en-IN" sz="1500" dirty="0">
                <a:latin typeface="Inter"/>
              </a:rPr>
              <a:t>The system also uses </a:t>
            </a:r>
            <a:r>
              <a:rPr lang="en-IN" sz="1500" b="1" dirty="0">
                <a:latin typeface="Inter"/>
              </a:rPr>
              <a:t>RAG and company-specific knowledge</a:t>
            </a:r>
            <a:r>
              <a:rPr lang="en-IN" sz="1500" dirty="0">
                <a:latin typeface="Inter"/>
              </a:rPr>
              <a:t> to provide more relevant responses. With the website, chatbot, owner login, and agent dashboard, the project provides a single platform for managing customer interaction, marketing activities, and leads.</a:t>
            </a:r>
          </a:p>
          <a:p>
            <a:pPr>
              <a:lnSpc>
                <a:spcPct val="200000"/>
              </a:lnSpc>
              <a:buNone/>
            </a:pPr>
            <a:r>
              <a:rPr lang="en-IN" sz="1500" dirty="0">
                <a:latin typeface="Inter"/>
              </a:rPr>
              <a:t>Overall, the project can help make the </a:t>
            </a:r>
            <a:r>
              <a:rPr lang="en-IN" sz="1500" b="1" dirty="0">
                <a:latin typeface="Inter"/>
              </a:rPr>
              <a:t>sales and marketing process faster, more organized, and easier to manage</a:t>
            </a:r>
            <a:r>
              <a:rPr lang="en-IN" sz="1500" dirty="0">
                <a:latin typeface="Inter"/>
              </a:rPr>
              <a:t>, while also providing scope for future improvements such as CRM integration, analytics, and additional AI agents.</a:t>
            </a:r>
          </a:p>
        </p:txBody>
      </p:sp>
    </p:spTree>
    <p:extLst>
      <p:ext uri="{BB962C8B-B14F-4D97-AF65-F5344CB8AC3E}">
        <p14:creationId xmlns:p14="http://schemas.microsoft.com/office/powerpoint/2010/main" val="22316847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F806611-5037-08DA-8731-C17A6A5074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>
            <a:extLst>
              <a:ext uri="{FF2B5EF4-FFF2-40B4-BE49-F238E27FC236}">
                <a16:creationId xmlns:a16="http://schemas.microsoft.com/office/drawing/2014/main" id="{0FF9819E-2A9D-3359-8A4F-C0E5274A9E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502"/>
            <a:ext cx="12192000" cy="6858000"/>
          </a:xfrm>
          <a:prstGeom prst="rect">
            <a:avLst/>
          </a:prstGeom>
        </p:spPr>
      </p:pic>
      <p:pic>
        <p:nvPicPr>
          <p:cNvPr id="12" name="Picture 11" descr="image.png">
            <a:extLst>
              <a:ext uri="{FF2B5EF4-FFF2-40B4-BE49-F238E27FC236}">
                <a16:creationId xmlns:a16="http://schemas.microsoft.com/office/drawing/2014/main" id="{C53D1651-1026-841A-2302-E048502B49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6429375"/>
            <a:ext cx="11239500" cy="257175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C6FD2E51-CE28-A66E-885B-7E1961E6AF8B}"/>
              </a:ext>
            </a:extLst>
          </p:cNvPr>
          <p:cNvSpPr txBox="1"/>
          <p:nvPr/>
        </p:nvSpPr>
        <p:spPr>
          <a:xfrm>
            <a:off x="476250" y="381000"/>
            <a:ext cx="11715750" cy="36567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1" i="0" u="none" dirty="0">
                <a:solidFill>
                  <a:srgbClr val="1E1B4B"/>
                </a:solidFill>
                <a:latin typeface="Poppins"/>
              </a:rPr>
              <a:t>References</a:t>
            </a:r>
            <a:endParaRPr sz="2400" b="1" i="0" u="none" dirty="0">
              <a:solidFill>
                <a:srgbClr val="1E1B4B"/>
              </a:solidFill>
              <a:latin typeface="Poppins"/>
            </a:endParaRPr>
          </a:p>
        </p:txBody>
      </p:sp>
      <p:pic>
        <p:nvPicPr>
          <p:cNvPr id="14" name="Picture 13" descr="image.png">
            <a:extLst>
              <a:ext uri="{FF2B5EF4-FFF2-40B4-BE49-F238E27FC236}">
                <a16:creationId xmlns:a16="http://schemas.microsoft.com/office/drawing/2014/main" id="{261D3BF7-0719-31AF-83CA-E911BC9111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10875" y="447675"/>
            <a:ext cx="904875" cy="23232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A0B39446-6E0F-FF6A-3A3E-6CF0277025C2}"/>
              </a:ext>
            </a:extLst>
          </p:cNvPr>
          <p:cNvSpPr txBox="1"/>
          <p:nvPr/>
        </p:nvSpPr>
        <p:spPr>
          <a:xfrm>
            <a:off x="476250" y="6534150"/>
            <a:ext cx="482917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975" b="0" i="0" u="none" dirty="0">
                <a:solidFill>
                  <a:srgbClr val="94A3B8"/>
                </a:solidFill>
                <a:latin typeface="Inter"/>
              </a:rPr>
              <a:t>References </a:t>
            </a:r>
            <a:endParaRPr sz="975" b="0" i="0" u="none" dirty="0">
              <a:solidFill>
                <a:srgbClr val="94A3B8"/>
              </a:solidFill>
              <a:latin typeface="Inter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3AB6D21-1E8D-71B7-82BC-10958C6ED49B}"/>
              </a:ext>
            </a:extLst>
          </p:cNvPr>
          <p:cNvSpPr txBox="1"/>
          <p:nvPr/>
        </p:nvSpPr>
        <p:spPr>
          <a:xfrm>
            <a:off x="10944225" y="6534150"/>
            <a:ext cx="77152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 dirty="0">
                <a:solidFill>
                  <a:srgbClr val="94A3B8"/>
                </a:solidFill>
                <a:latin typeface="Inter"/>
              </a:rPr>
              <a:t>Slide 1</a:t>
            </a:r>
            <a:r>
              <a:rPr lang="en-US" sz="975" b="0" i="0" u="none" dirty="0">
                <a:solidFill>
                  <a:srgbClr val="94A3B8"/>
                </a:solidFill>
                <a:latin typeface="Inter"/>
              </a:rPr>
              <a:t>6</a:t>
            </a:r>
            <a:r>
              <a:rPr sz="975" b="0" i="0" u="none" dirty="0">
                <a:solidFill>
                  <a:srgbClr val="94A3B8"/>
                </a:solidFill>
                <a:latin typeface="Inter"/>
              </a:rPr>
              <a:t> of 1</a:t>
            </a:r>
            <a:r>
              <a:rPr lang="en-US" sz="975" dirty="0">
                <a:solidFill>
                  <a:srgbClr val="94A3B8"/>
                </a:solidFill>
                <a:latin typeface="Inter"/>
              </a:rPr>
              <a:t>7</a:t>
            </a:r>
            <a:endParaRPr sz="975" b="0" i="0" u="none" dirty="0">
              <a:solidFill>
                <a:srgbClr val="94A3B8"/>
              </a:solidFill>
              <a:latin typeface="Inter"/>
            </a:endParaRPr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8CE238FD-5D87-EA5F-2E73-692F64346B6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11598" y="381000"/>
            <a:ext cx="1103427" cy="370870"/>
          </a:xfrm>
          <a:prstGeom prst="rect">
            <a:avLst/>
          </a:prstGeom>
        </p:spPr>
      </p:pic>
      <p:sp>
        <p:nvSpPr>
          <p:cNvPr id="41" name="TextBox 40">
            <a:extLst>
              <a:ext uri="{FF2B5EF4-FFF2-40B4-BE49-F238E27FC236}">
                <a16:creationId xmlns:a16="http://schemas.microsoft.com/office/drawing/2014/main" id="{8F11DB20-D0CC-1C52-DE10-E557A6E2732C}"/>
              </a:ext>
            </a:extLst>
          </p:cNvPr>
          <p:cNvSpPr txBox="1"/>
          <p:nvPr/>
        </p:nvSpPr>
        <p:spPr>
          <a:xfrm>
            <a:off x="384174" y="1278800"/>
            <a:ext cx="10747376" cy="30087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</a:pPr>
            <a:r>
              <a:rPr lang="en-IN" sz="1600" dirty="0"/>
              <a:t>1)</a:t>
            </a:r>
            <a:r>
              <a:rPr lang="en-IN" sz="1600" b="1" dirty="0"/>
              <a:t> O. A. Arslan and M. Mete</a:t>
            </a:r>
            <a:r>
              <a:rPr lang="en-IN" sz="1600" dirty="0"/>
              <a:t>, </a:t>
            </a:r>
            <a:r>
              <a:rPr lang="en-IN" sz="1600" i="1" dirty="0"/>
              <a:t>“Application Level Multi-Agent Methodology for Chatbots,”</a:t>
            </a:r>
            <a:r>
              <a:rPr lang="en-IN" sz="1600" dirty="0"/>
              <a:t> Procedia Computer Science, vol. 280, pp. 807–815, 2026. </a:t>
            </a:r>
          </a:p>
          <a:p>
            <a:pPr lvl="0">
              <a:lnSpc>
                <a:spcPct val="150000"/>
              </a:lnSpc>
            </a:pPr>
            <a:r>
              <a:rPr lang="en-IN" sz="1600" dirty="0"/>
              <a:t>2) </a:t>
            </a:r>
            <a:r>
              <a:rPr lang="en-IN" sz="1600" b="1" dirty="0"/>
              <a:t>T. Guo et al.</a:t>
            </a:r>
            <a:r>
              <a:rPr lang="en-IN" sz="1600" dirty="0"/>
              <a:t>, </a:t>
            </a:r>
            <a:r>
              <a:rPr lang="en-IN" sz="1600" i="1" dirty="0"/>
              <a:t>“Large Language Model based Multi-Agents: A Survey of Progress and Challenges,”</a:t>
            </a:r>
            <a:r>
              <a:rPr lang="en-IN" sz="1600" dirty="0"/>
              <a:t> Proceedings of the Thirty-Third International Joint Conference on Artificial Intelligence (IJCAI-24), 2024. </a:t>
            </a:r>
          </a:p>
          <a:p>
            <a:pPr lvl="0">
              <a:lnSpc>
                <a:spcPct val="150000"/>
              </a:lnSpc>
            </a:pPr>
            <a:r>
              <a:rPr lang="en-IN" sz="1600" dirty="0"/>
              <a:t>3)</a:t>
            </a:r>
            <a:r>
              <a:rPr lang="en-IN" sz="1600" b="1" dirty="0"/>
              <a:t> R. Koshkin et al.</a:t>
            </a:r>
            <a:r>
              <a:rPr lang="en-IN" sz="1600" dirty="0"/>
              <a:t>, </a:t>
            </a:r>
            <a:r>
              <a:rPr lang="en-IN" sz="1600" i="1" dirty="0"/>
              <a:t>“</a:t>
            </a:r>
            <a:r>
              <a:rPr lang="en-IN" sz="1600" i="1" dirty="0" err="1"/>
              <a:t>MaRGen</a:t>
            </a:r>
            <a:r>
              <a:rPr lang="en-IN" sz="1600" i="1" dirty="0"/>
              <a:t>: Multi-Agent LLM Approach for Self-Directed Market Research and Analysis,”</a:t>
            </a:r>
            <a:r>
              <a:rPr lang="en-IN" sz="1600" dirty="0"/>
              <a:t> LLM4ECommerce Workshop at KDD ’25, 2025. </a:t>
            </a:r>
          </a:p>
          <a:p>
            <a:pPr lvl="0">
              <a:lnSpc>
                <a:spcPct val="150000"/>
              </a:lnSpc>
            </a:pPr>
            <a:r>
              <a:rPr lang="en-IN" sz="1600" dirty="0"/>
              <a:t>4)</a:t>
            </a:r>
            <a:r>
              <a:rPr lang="en-IN" sz="1600" b="1" dirty="0"/>
              <a:t> A. Panda, B. Das, and N. Singh</a:t>
            </a:r>
            <a:r>
              <a:rPr lang="en-IN" sz="1600" dirty="0"/>
              <a:t>, </a:t>
            </a:r>
            <a:r>
              <a:rPr lang="en-IN" sz="1600" i="1" dirty="0"/>
              <a:t>“AI-Powered Sales and Marketing Analytics Platform Using Multi-Agent AI,”</a:t>
            </a:r>
            <a:r>
              <a:rPr lang="en-IN" sz="1600" dirty="0"/>
              <a:t> International Journal of Data Science and IoT Management System (IJDIM), 2026.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3763067-2DEA-9551-AD9B-98FDAF416BE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60437" y="388116"/>
            <a:ext cx="1154588" cy="3881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78099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image.png">
            <a:extLst>
              <a:ext uri="{FF2B5EF4-FFF2-40B4-BE49-F238E27FC236}">
                <a16:creationId xmlns:a16="http://schemas.microsoft.com/office/drawing/2014/main" id="{3FFE1100-E837-42FF-BE34-75ADD8DA70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76612" y="4410521"/>
            <a:ext cx="5438775" cy="7810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250" y="6429375"/>
            <a:ext cx="11239500" cy="25717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76250" y="6534150"/>
            <a:ext cx="221932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94A3B8"/>
                </a:solidFill>
                <a:latin typeface="Inter"/>
              </a:rPr>
              <a:t>Final Slide — Academic Year 2026-27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44225" y="6534150"/>
            <a:ext cx="77152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 dirty="0">
                <a:solidFill>
                  <a:srgbClr val="94A3B8"/>
                </a:solidFill>
                <a:latin typeface="Inter"/>
              </a:rPr>
              <a:t>Slide 1</a:t>
            </a:r>
            <a:r>
              <a:rPr lang="en-US" sz="975" b="0" i="0" u="none" dirty="0">
                <a:solidFill>
                  <a:srgbClr val="94A3B8"/>
                </a:solidFill>
                <a:latin typeface="Inter"/>
              </a:rPr>
              <a:t>7</a:t>
            </a:r>
            <a:r>
              <a:rPr lang="en-US" sz="975" dirty="0">
                <a:solidFill>
                  <a:srgbClr val="94A3B8"/>
                </a:solidFill>
                <a:latin typeface="Inter"/>
              </a:rPr>
              <a:t> </a:t>
            </a:r>
            <a:r>
              <a:rPr sz="975" b="0" i="0" u="none" dirty="0">
                <a:solidFill>
                  <a:srgbClr val="94A3B8"/>
                </a:solidFill>
                <a:latin typeface="Inter"/>
              </a:rPr>
              <a:t>of 1</a:t>
            </a:r>
            <a:r>
              <a:rPr lang="en-US" sz="975" b="0" i="0" u="none" dirty="0">
                <a:solidFill>
                  <a:srgbClr val="94A3B8"/>
                </a:solidFill>
                <a:latin typeface="Inter"/>
              </a:rPr>
              <a:t>7</a:t>
            </a:r>
            <a:endParaRPr sz="975" b="0" i="0" u="none" dirty="0">
              <a:solidFill>
                <a:srgbClr val="94A3B8"/>
              </a:solidFill>
              <a:latin typeface="Inter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930604" y="2491322"/>
            <a:ext cx="6330791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600" b="1" i="0" u="none" dirty="0">
                <a:solidFill>
                  <a:srgbClr val="1E1B4B"/>
                </a:solidFill>
                <a:latin typeface="Poppins"/>
              </a:rPr>
              <a:t>Thank You!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81336" y="3304729"/>
            <a:ext cx="6029325" cy="24854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957"/>
              </a:lnSpc>
            </a:pPr>
            <a:r>
              <a:rPr sz="1350" b="0" i="0" u="none" dirty="0">
                <a:solidFill>
                  <a:srgbClr val="475569"/>
                </a:solidFill>
                <a:latin typeface="Inter"/>
              </a:rPr>
              <a:t>Sales and Marketing Agent Development for Online Websites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316</TotalTime>
  <Words>1864</Words>
  <Application>Microsoft Office PowerPoint</Application>
  <PresentationFormat>Widescreen</PresentationFormat>
  <Paragraphs>243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5" baseType="lpstr">
      <vt:lpstr>Aptos</vt:lpstr>
      <vt:lpstr>Arial</vt:lpstr>
      <vt:lpstr>Calibri</vt:lpstr>
      <vt:lpstr>Inter</vt:lpstr>
      <vt:lpstr>Inter Medium</vt:lpstr>
      <vt:lpstr>Inter SemiBold</vt:lpstr>
      <vt:lpstr>Poppins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KARTIK</dc:creator>
  <cp:keywords/>
  <dc:description>generated using python-pptx</dc:description>
  <cp:lastModifiedBy>Kartik Barade</cp:lastModifiedBy>
  <cp:revision>13</cp:revision>
  <dcterms:created xsi:type="dcterms:W3CDTF">2013-01-27T09:14:16Z</dcterms:created>
  <dcterms:modified xsi:type="dcterms:W3CDTF">2026-09-09T15:43:22Z</dcterms:modified>
  <cp:category/>
</cp:coreProperties>
</file>