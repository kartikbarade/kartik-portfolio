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748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sbm_logo.jpg"/>
          <p:cNvPicPr>
            <a:picLocks noChangeAspect="1"/>
          </p:cNvPicPr>
          <p:nvPr/>
        </p:nvPicPr>
        <p:blipFill>
          <a:blip r:embed="rId2"/>
          <a:stretch>
            <a:fillRect/>
          </a:stretch>
        </p:blipFill>
        <p:spPr>
          <a:xfrm>
            <a:off x="1389888" y="603504"/>
            <a:ext cx="621792" cy="667512"/>
          </a:xfrm>
          <a:prstGeom prst="rect">
            <a:avLst/>
          </a:prstGeom>
        </p:spPr>
      </p:pic>
      <p:sp>
        <p:nvSpPr>
          <p:cNvPr id="5" name="TextBox 4"/>
          <p:cNvSpPr txBox="1"/>
          <p:nvPr/>
        </p:nvSpPr>
        <p:spPr>
          <a:xfrm>
            <a:off x="2011680" y="658368"/>
            <a:ext cx="8046720" cy="411480"/>
          </a:xfrm>
          <a:prstGeom prst="rect">
            <a:avLst/>
          </a:prstGeom>
          <a:noFill/>
        </p:spPr>
        <p:txBody>
          <a:bodyPr wrap="square" anchor="t">
            <a:spAutoFit/>
          </a:bodyPr>
          <a:lstStyle/>
          <a:p>
            <a:pPr algn="l"/>
            <a:r>
              <a:rPr sz="2400" b="1">
                <a:solidFill>
                  <a:srgbClr val="232B3C"/>
                </a:solidFill>
                <a:latin typeface="Aptos"/>
              </a:rPr>
              <a:t>ISBM College of Engineering, Nande, Pune</a:t>
            </a:r>
          </a:p>
        </p:txBody>
      </p:sp>
      <p:sp>
        <p:nvSpPr>
          <p:cNvPr id="6" name="TextBox 5"/>
          <p:cNvSpPr txBox="1"/>
          <p:nvPr/>
        </p:nvSpPr>
        <p:spPr>
          <a:xfrm>
            <a:off x="713232" y="1691640"/>
            <a:ext cx="6583680" cy="274320"/>
          </a:xfrm>
          <a:prstGeom prst="rect">
            <a:avLst/>
          </a:prstGeom>
          <a:noFill/>
        </p:spPr>
        <p:txBody>
          <a:bodyPr wrap="square" anchor="t">
            <a:spAutoFit/>
          </a:bodyPr>
          <a:lstStyle/>
          <a:p>
            <a:pPr algn="l"/>
            <a:r>
              <a:rPr sz="1150" b="1">
                <a:solidFill>
                  <a:srgbClr val="4F46E5"/>
                </a:solidFill>
                <a:latin typeface="Aptos"/>
              </a:rPr>
              <a:t>ACADEMIC YEAR 2026–27  |  PROJECT REVIEW-II</a:t>
            </a:r>
          </a:p>
        </p:txBody>
      </p:sp>
      <p:sp>
        <p:nvSpPr>
          <p:cNvPr id="7" name="TextBox 6"/>
          <p:cNvSpPr txBox="1"/>
          <p:nvPr/>
        </p:nvSpPr>
        <p:spPr>
          <a:xfrm>
            <a:off x="713232" y="2029968"/>
            <a:ext cx="10332720" cy="1097280"/>
          </a:xfrm>
          <a:prstGeom prst="rect">
            <a:avLst/>
          </a:prstGeom>
          <a:noFill/>
        </p:spPr>
        <p:txBody>
          <a:bodyPr wrap="square" anchor="t">
            <a:spAutoFit/>
          </a:bodyPr>
          <a:lstStyle/>
          <a:p>
            <a:pPr algn="l"/>
            <a:r>
              <a:rPr sz="3100" b="1">
                <a:solidFill>
                  <a:srgbClr val="26225C"/>
                </a:solidFill>
                <a:latin typeface="Aptos"/>
              </a:rPr>
              <a:t>Sales and Marketing Agent
Development for Online Websites</a:t>
            </a:r>
          </a:p>
        </p:txBody>
      </p:sp>
      <p:sp>
        <p:nvSpPr>
          <p:cNvPr id="8" name="TextBox 7"/>
          <p:cNvSpPr txBox="1"/>
          <p:nvPr/>
        </p:nvSpPr>
        <p:spPr>
          <a:xfrm>
            <a:off x="713232" y="3182112"/>
            <a:ext cx="10058400" cy="411480"/>
          </a:xfrm>
          <a:prstGeom prst="rect">
            <a:avLst/>
          </a:prstGeom>
          <a:noFill/>
        </p:spPr>
        <p:txBody>
          <a:bodyPr wrap="square" anchor="t">
            <a:spAutoFit/>
          </a:bodyPr>
          <a:lstStyle/>
          <a:p>
            <a:pPr algn="l"/>
            <a:r>
              <a:rPr sz="1700" b="0">
                <a:solidFill>
                  <a:srgbClr val="4F46E5"/>
                </a:solidFill>
                <a:latin typeface="Aptos"/>
              </a:rPr>
              <a:t>An AI-powered multi-agent system for sales, marketing and lead qualification</a:t>
            </a:r>
          </a:p>
        </p:txBody>
      </p:sp>
      <p:sp>
        <p:nvSpPr>
          <p:cNvPr id="9" name="Rounded Rectangle 8"/>
          <p:cNvSpPr/>
          <p:nvPr/>
        </p:nvSpPr>
        <p:spPr>
          <a:xfrm>
            <a:off x="713232" y="3913632"/>
            <a:ext cx="10698480" cy="1234440"/>
          </a:xfrm>
          <a:prstGeom prst="roundRect">
            <a:avLst/>
          </a:prstGeom>
          <a:solidFill>
            <a:srgbClr val="F5F7FA"/>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4142232"/>
            <a:ext cx="1828800" cy="228600"/>
          </a:xfrm>
          <a:prstGeom prst="rect">
            <a:avLst/>
          </a:prstGeom>
          <a:noFill/>
        </p:spPr>
        <p:txBody>
          <a:bodyPr wrap="square" anchor="t">
            <a:spAutoFit/>
          </a:bodyPr>
          <a:lstStyle/>
          <a:p>
            <a:pPr algn="l"/>
            <a:r>
              <a:rPr sz="1100" b="1">
                <a:solidFill>
                  <a:srgbClr val="64748B"/>
                </a:solidFill>
                <a:latin typeface="Aptos"/>
              </a:rPr>
              <a:t>STUDENT TEAM</a:t>
            </a:r>
          </a:p>
        </p:txBody>
      </p:sp>
      <p:sp>
        <p:nvSpPr>
          <p:cNvPr id="11" name="TextBox 10"/>
          <p:cNvSpPr txBox="1"/>
          <p:nvPr/>
        </p:nvSpPr>
        <p:spPr>
          <a:xfrm>
            <a:off x="932688" y="4425696"/>
            <a:ext cx="4572000" cy="658368"/>
          </a:xfrm>
          <a:prstGeom prst="rect">
            <a:avLst/>
          </a:prstGeom>
          <a:noFill/>
        </p:spPr>
        <p:txBody>
          <a:bodyPr wrap="square" anchor="t">
            <a:spAutoFit/>
          </a:bodyPr>
          <a:lstStyle/>
          <a:p>
            <a:pPr algn="l"/>
            <a:r>
              <a:rPr sz="1320" b="0">
                <a:solidFill>
                  <a:srgbClr val="232B3C"/>
                </a:solidFill>
                <a:latin typeface="Aptos"/>
              </a:rPr>
              <a:t>1. Barade Kartik Yogiraj
2. Kaname Dnyaneshwari Dattatray
3. Bangar Sayali Hanumant</a:t>
            </a:r>
          </a:p>
        </p:txBody>
      </p:sp>
      <p:sp>
        <p:nvSpPr>
          <p:cNvPr id="12" name="TextBox 11"/>
          <p:cNvSpPr txBox="1"/>
          <p:nvPr/>
        </p:nvSpPr>
        <p:spPr>
          <a:xfrm>
            <a:off x="6172200" y="4142232"/>
            <a:ext cx="2194560" cy="228600"/>
          </a:xfrm>
          <a:prstGeom prst="rect">
            <a:avLst/>
          </a:prstGeom>
          <a:noFill/>
        </p:spPr>
        <p:txBody>
          <a:bodyPr wrap="square" anchor="t">
            <a:spAutoFit/>
          </a:bodyPr>
          <a:lstStyle/>
          <a:p>
            <a:pPr algn="l"/>
            <a:r>
              <a:rPr sz="1100" b="1">
                <a:solidFill>
                  <a:srgbClr val="64748B"/>
                </a:solidFill>
                <a:latin typeface="Aptos"/>
              </a:rPr>
              <a:t>PROJECT SUPERVISION</a:t>
            </a:r>
          </a:p>
        </p:txBody>
      </p:sp>
      <p:sp>
        <p:nvSpPr>
          <p:cNvPr id="13" name="TextBox 12"/>
          <p:cNvSpPr txBox="1"/>
          <p:nvPr/>
        </p:nvSpPr>
        <p:spPr>
          <a:xfrm>
            <a:off x="6172200" y="4425696"/>
            <a:ext cx="4480560" cy="658368"/>
          </a:xfrm>
          <a:prstGeom prst="rect">
            <a:avLst/>
          </a:prstGeom>
          <a:noFill/>
        </p:spPr>
        <p:txBody>
          <a:bodyPr wrap="square" anchor="t">
            <a:spAutoFit/>
          </a:bodyPr>
          <a:lstStyle/>
          <a:p>
            <a:pPr algn="l"/>
            <a:r>
              <a:rPr sz="1320" b="0">
                <a:solidFill>
                  <a:srgbClr val="232B3C"/>
                </a:solidFill>
                <a:latin typeface="Aptos"/>
              </a:rPr>
              <a:t>Guide: Prof. Sangeeta Alagi
Coordinator: Prof. Prajakta Puranik
HOD: Prof. Kirti Randhe</a:t>
            </a:r>
          </a:p>
        </p:txBody>
      </p:sp>
      <p:sp>
        <p:nvSpPr>
          <p:cNvPr id="14" name="Rectangle 13"/>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16" name="TextBox 15"/>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 of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E74618B-0812-C833-3DB9-E40694433A80}"/>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DB0E5A8C-E896-522D-1085-C0B091241146}"/>
              </a:ext>
            </a:extLst>
          </p:cNvPr>
          <p:cNvPicPr>
            <a:picLocks noChangeAspect="1"/>
          </p:cNvPicPr>
          <p:nvPr/>
        </p:nvPicPr>
        <p:blipFill>
          <a:blip r:embed="rId2"/>
          <a:stretch>
            <a:fillRect/>
          </a:stretch>
        </p:blipFill>
        <p:spPr>
          <a:xfrm>
            <a:off x="0" y="-11502"/>
            <a:ext cx="12192000" cy="6858000"/>
          </a:xfrm>
          <a:prstGeom prst="rect">
            <a:avLst/>
          </a:prstGeom>
        </p:spPr>
      </p:pic>
      <p:pic>
        <p:nvPicPr>
          <p:cNvPr id="7" name="Picture 6" descr="image.png">
            <a:extLst>
              <a:ext uri="{FF2B5EF4-FFF2-40B4-BE49-F238E27FC236}">
                <a16:creationId xmlns:a16="http://schemas.microsoft.com/office/drawing/2014/main" id="{CD1B1166-C71D-F654-4923-6DBAB7D845E0}"/>
              </a:ext>
            </a:extLst>
          </p:cNvPr>
          <p:cNvPicPr>
            <a:picLocks noChangeAspect="1"/>
          </p:cNvPicPr>
          <p:nvPr/>
        </p:nvPicPr>
        <p:blipFill>
          <a:blip r:embed="rId3"/>
          <a:stretch>
            <a:fillRect/>
          </a:stretch>
        </p:blipFill>
        <p:spPr>
          <a:xfrm>
            <a:off x="476250" y="6429375"/>
            <a:ext cx="11239500" cy="257175"/>
          </a:xfrm>
          <a:prstGeom prst="rect">
            <a:avLst/>
          </a:prstGeom>
        </p:spPr>
      </p:pic>
      <p:sp>
        <p:nvSpPr>
          <p:cNvPr id="8" name="TextBox 7">
            <a:extLst>
              <a:ext uri="{FF2B5EF4-FFF2-40B4-BE49-F238E27FC236}">
                <a16:creationId xmlns:a16="http://schemas.microsoft.com/office/drawing/2014/main" id="{EB8DF199-A416-B40B-7327-03F37E7AC832}"/>
              </a:ext>
            </a:extLst>
          </p:cNvPr>
          <p:cNvSpPr txBox="1"/>
          <p:nvPr/>
        </p:nvSpPr>
        <p:spPr>
          <a:xfrm>
            <a:off x="476250" y="381000"/>
            <a:ext cx="11715750" cy="365670"/>
          </a:xfrm>
          <a:prstGeom prst="rect">
            <a:avLst/>
          </a:prstGeom>
          <a:noFill/>
        </p:spPr>
        <p:txBody>
          <a:bodyPr wrap="square" lIns="0" tIns="0" rIns="0" bIns="0" anchor="ctr">
            <a:spAutoFit/>
          </a:bodyPr>
          <a:lstStyle/>
          <a:p>
            <a:pPr marL="0" marR="0" lvl="0" indent="0" algn="l" defTabSz="457200" rtl="0" eaLnBrk="1" fontAlgn="auto" latinLnBrk="0" hangingPunct="1">
              <a:lnSpc>
                <a:spcPts val="2879"/>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E1B4B"/>
                </a:solidFill>
                <a:effectLst/>
                <a:uLnTx/>
                <a:uFillTx/>
                <a:latin typeface="Poppins"/>
                <a:ea typeface="+mn-ea"/>
                <a:cs typeface="+mn-cs"/>
              </a:rPr>
              <a:t>Content</a:t>
            </a:r>
            <a:endParaRPr kumimoji="0" sz="2400" b="1" i="0" u="none" strike="noStrike" kern="1200" cap="none" spc="0" normalizeH="0" baseline="0" noProof="0" dirty="0">
              <a:ln>
                <a:noFill/>
              </a:ln>
              <a:solidFill>
                <a:srgbClr val="1E1B4B"/>
              </a:solidFill>
              <a:effectLst/>
              <a:uLnTx/>
              <a:uFillTx/>
              <a:latin typeface="Poppins"/>
              <a:ea typeface="+mn-ea"/>
              <a:cs typeface="+mn-cs"/>
            </a:endParaRPr>
          </a:p>
        </p:txBody>
      </p:sp>
      <p:graphicFrame>
        <p:nvGraphicFramePr>
          <p:cNvPr id="31" name="Table 30">
            <a:extLst>
              <a:ext uri="{FF2B5EF4-FFF2-40B4-BE49-F238E27FC236}">
                <a16:creationId xmlns:a16="http://schemas.microsoft.com/office/drawing/2014/main" id="{31FB7863-03F8-E944-830D-004B38A104D2}"/>
              </a:ext>
            </a:extLst>
          </p:cNvPr>
          <p:cNvGraphicFramePr>
            <a:graphicFrameLocks noGrp="1"/>
          </p:cNvGraphicFramePr>
          <p:nvPr>
            <p:extLst>
              <p:ext uri="{D42A27DB-BD31-4B8C-83A1-F6EECF244321}">
                <p14:modId xmlns:p14="http://schemas.microsoft.com/office/powerpoint/2010/main" val="3826165897"/>
              </p:ext>
            </p:extLst>
          </p:nvPr>
        </p:nvGraphicFramePr>
        <p:xfrm>
          <a:off x="476250" y="914400"/>
          <a:ext cx="8128000" cy="5450840"/>
        </p:xfrm>
        <a:graphic>
          <a:graphicData uri="http://schemas.openxmlformats.org/drawingml/2006/table">
            <a:tbl>
              <a:tblPr firstRow="1" bandRow="1">
                <a:tableStyleId>{5C22544A-7EE6-4342-B048-85BDC9FD1C3A}</a:tableStyleId>
              </a:tblPr>
              <a:tblGrid>
                <a:gridCol w="1378309">
                  <a:extLst>
                    <a:ext uri="{9D8B030D-6E8A-4147-A177-3AD203B41FA5}">
                      <a16:colId xmlns:a16="http://schemas.microsoft.com/office/drawing/2014/main" val="3521869411"/>
                    </a:ext>
                  </a:extLst>
                </a:gridCol>
                <a:gridCol w="6749691">
                  <a:extLst>
                    <a:ext uri="{9D8B030D-6E8A-4147-A177-3AD203B41FA5}">
                      <a16:colId xmlns:a16="http://schemas.microsoft.com/office/drawing/2014/main" val="2386883946"/>
                    </a:ext>
                  </a:extLst>
                </a:gridCol>
              </a:tblGrid>
              <a:tr h="370840">
                <a:tc>
                  <a:txBody>
                    <a:bodyPr/>
                    <a:lstStyle/>
                    <a:p>
                      <a:pPr algn="ctr"/>
                      <a:r>
                        <a:rPr lang="en-US" sz="1600" dirty="0">
                          <a:latin typeface="Inter Medium"/>
                        </a:rPr>
                        <a:t>Sr.no</a:t>
                      </a:r>
                      <a:endParaRPr lang="en-IN" sz="1600" dirty="0">
                        <a:latin typeface="Inter Medium"/>
                      </a:endParaRPr>
                    </a:p>
                  </a:txBody>
                  <a:tcPr/>
                </a:tc>
                <a:tc>
                  <a:txBody>
                    <a:bodyPr/>
                    <a:lstStyle/>
                    <a:p>
                      <a:pPr algn="ctr"/>
                      <a:r>
                        <a:rPr lang="en-US" sz="1600" dirty="0">
                          <a:latin typeface="Inter Medium"/>
                        </a:rPr>
                        <a:t>Index</a:t>
                      </a:r>
                      <a:endParaRPr lang="en-IN" sz="1600" dirty="0">
                        <a:latin typeface="Inter Medium"/>
                      </a:endParaRPr>
                    </a:p>
                  </a:txBody>
                  <a:tcPr/>
                </a:tc>
                <a:extLst>
                  <a:ext uri="{0D108BD9-81ED-4DB2-BD59-A6C34878D82A}">
                    <a16:rowId xmlns:a16="http://schemas.microsoft.com/office/drawing/2014/main" val="2944261948"/>
                  </a:ext>
                </a:extLst>
              </a:tr>
              <a:tr h="370840">
                <a:tc>
                  <a:txBody>
                    <a:bodyPr/>
                    <a:lstStyle/>
                    <a:p>
                      <a:pPr algn="ctr"/>
                      <a:r>
                        <a:rPr lang="en-US" sz="1100" dirty="0"/>
                        <a:t>1</a:t>
                      </a:r>
                      <a:endParaRPr lang="en-IN"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b="1" i="0" u="none" dirty="0">
                          <a:solidFill>
                            <a:schemeClr val="tx2">
                              <a:lumMod val="75000"/>
                            </a:schemeClr>
                          </a:solidFill>
                          <a:latin typeface="Inter"/>
                        </a:rPr>
                        <a:t>Project viewpoint and Business Need</a:t>
                      </a:r>
                    </a:p>
                    <a:p>
                      <a:endParaRPr lang="en-IN" sz="300" b="1" dirty="0">
                        <a:solidFill>
                          <a:schemeClr val="tx2">
                            <a:lumMod val="75000"/>
                          </a:schemeClr>
                        </a:solidFill>
                        <a:latin typeface="Inter"/>
                      </a:endParaRPr>
                    </a:p>
                  </a:txBody>
                  <a:tcPr/>
                </a:tc>
                <a:extLst>
                  <a:ext uri="{0D108BD9-81ED-4DB2-BD59-A6C34878D82A}">
                    <a16:rowId xmlns:a16="http://schemas.microsoft.com/office/drawing/2014/main" val="474973457"/>
                  </a:ext>
                </a:extLst>
              </a:tr>
              <a:tr h="121058">
                <a:tc>
                  <a:txBody>
                    <a:bodyPr/>
                    <a:lstStyle/>
                    <a:p>
                      <a:pPr algn="ctr"/>
                      <a:r>
                        <a:rPr lang="en-US" sz="1100" dirty="0"/>
                        <a:t>2</a:t>
                      </a:r>
                      <a:endParaRPr lang="en-IN"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b="1" i="0" u="none" dirty="0">
                          <a:solidFill>
                            <a:schemeClr val="tx2">
                              <a:lumMod val="75000"/>
                            </a:schemeClr>
                          </a:solidFill>
                          <a:latin typeface="Inter"/>
                        </a:rPr>
                        <a:t>Business Goal and Project Objectives</a:t>
                      </a:r>
                    </a:p>
                  </a:txBody>
                  <a:tcPr/>
                </a:tc>
                <a:extLst>
                  <a:ext uri="{0D108BD9-81ED-4DB2-BD59-A6C34878D82A}">
                    <a16:rowId xmlns:a16="http://schemas.microsoft.com/office/drawing/2014/main" val="1282680115"/>
                  </a:ext>
                </a:extLst>
              </a:tr>
              <a:tr h="370840">
                <a:tc>
                  <a:txBody>
                    <a:bodyPr/>
                    <a:lstStyle/>
                    <a:p>
                      <a:pPr algn="ctr"/>
                      <a:r>
                        <a:rPr lang="en-US" sz="1100" dirty="0"/>
                        <a:t>3</a:t>
                      </a:r>
                      <a:endParaRPr lang="en-IN"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b="1" dirty="0">
                          <a:solidFill>
                            <a:schemeClr val="tx2">
                              <a:lumMod val="75000"/>
                            </a:schemeClr>
                          </a:solidFill>
                          <a:latin typeface="Inter"/>
                        </a:rPr>
                        <a:t>End users and user interaction</a:t>
                      </a:r>
                      <a:endParaRPr lang="en-IN" sz="1100" b="1" i="0" u="none" dirty="0">
                        <a:solidFill>
                          <a:schemeClr val="tx2">
                            <a:lumMod val="75000"/>
                          </a:schemeClr>
                        </a:solidFill>
                        <a:latin typeface="Inter"/>
                      </a:endParaRPr>
                    </a:p>
                  </a:txBody>
                  <a:tcPr/>
                </a:tc>
                <a:extLst>
                  <a:ext uri="{0D108BD9-81ED-4DB2-BD59-A6C34878D82A}">
                    <a16:rowId xmlns:a16="http://schemas.microsoft.com/office/drawing/2014/main" val="3231353234"/>
                  </a:ext>
                </a:extLst>
              </a:tr>
              <a:tr h="370840">
                <a:tc>
                  <a:txBody>
                    <a:bodyPr/>
                    <a:lstStyle/>
                    <a:p>
                      <a:pPr algn="ctr"/>
                      <a:r>
                        <a:rPr lang="en-US" sz="1100" dirty="0"/>
                        <a:t>4</a:t>
                      </a:r>
                      <a:endParaRPr lang="en-IN"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b="1" i="0" u="none" dirty="0">
                          <a:solidFill>
                            <a:schemeClr val="tx2">
                              <a:lumMod val="75000"/>
                            </a:schemeClr>
                          </a:solidFill>
                          <a:latin typeface="Inter"/>
                        </a:rPr>
                        <a:t>Product Cost and Resources Model</a:t>
                      </a:r>
                    </a:p>
                  </a:txBody>
                  <a:tcPr/>
                </a:tc>
                <a:extLst>
                  <a:ext uri="{0D108BD9-81ED-4DB2-BD59-A6C34878D82A}">
                    <a16:rowId xmlns:a16="http://schemas.microsoft.com/office/drawing/2014/main" val="3844960846"/>
                  </a:ext>
                </a:extLst>
              </a:tr>
              <a:tr h="370840">
                <a:tc>
                  <a:txBody>
                    <a:bodyPr/>
                    <a:lstStyle/>
                    <a:p>
                      <a:pPr algn="ctr"/>
                      <a:r>
                        <a:rPr lang="en-US" sz="1100" dirty="0"/>
                        <a:t>5</a:t>
                      </a:r>
                      <a:endParaRPr lang="en-IN" sz="1100" dirty="0"/>
                    </a:p>
                  </a:txBody>
                  <a:tcPr/>
                </a:tc>
                <a:tc>
                  <a:txBody>
                    <a:bodyPr/>
                    <a:lstStyle/>
                    <a:p>
                      <a:r>
                        <a:rPr lang="en-US" sz="1100" b="1" dirty="0">
                          <a:solidFill>
                            <a:schemeClr val="tx2">
                              <a:lumMod val="75000"/>
                            </a:schemeClr>
                          </a:solidFill>
                          <a:latin typeface="Inter"/>
                        </a:rPr>
                        <a:t>Feasibility: Time, Cost and Technology</a:t>
                      </a:r>
                      <a:endParaRPr lang="en-IN" sz="1100" b="1" dirty="0">
                        <a:solidFill>
                          <a:schemeClr val="tx2">
                            <a:lumMod val="75000"/>
                          </a:schemeClr>
                        </a:solidFill>
                        <a:latin typeface="Inter"/>
                      </a:endParaRPr>
                    </a:p>
                  </a:txBody>
                  <a:tcPr/>
                </a:tc>
                <a:extLst>
                  <a:ext uri="{0D108BD9-81ED-4DB2-BD59-A6C34878D82A}">
                    <a16:rowId xmlns:a16="http://schemas.microsoft.com/office/drawing/2014/main" val="803440394"/>
                  </a:ext>
                </a:extLst>
              </a:tr>
              <a:tr h="370840">
                <a:tc>
                  <a:txBody>
                    <a:bodyPr/>
                    <a:lstStyle/>
                    <a:p>
                      <a:pPr algn="ctr"/>
                      <a:r>
                        <a:rPr lang="en-US" sz="1100" dirty="0"/>
                        <a:t>6</a:t>
                      </a:r>
                      <a:endParaRPr lang="en-IN" sz="1100" dirty="0"/>
                    </a:p>
                  </a:txBody>
                  <a:tcPr/>
                </a:tc>
                <a:tc>
                  <a:txBody>
                    <a:bodyPr/>
                    <a:lstStyle/>
                    <a:p>
                      <a:r>
                        <a:rPr lang="en-US" sz="1100" b="1" dirty="0">
                          <a:solidFill>
                            <a:schemeClr val="tx2">
                              <a:lumMod val="75000"/>
                            </a:schemeClr>
                          </a:solidFill>
                          <a:latin typeface="Inter"/>
                        </a:rPr>
                        <a:t>Requirements within the project Scope</a:t>
                      </a:r>
                      <a:endParaRPr lang="en-IN" sz="1100" b="1" dirty="0">
                        <a:solidFill>
                          <a:schemeClr val="tx2">
                            <a:lumMod val="75000"/>
                          </a:schemeClr>
                        </a:solidFill>
                        <a:latin typeface="Inter"/>
                      </a:endParaRPr>
                    </a:p>
                  </a:txBody>
                  <a:tcPr/>
                </a:tc>
                <a:extLst>
                  <a:ext uri="{0D108BD9-81ED-4DB2-BD59-A6C34878D82A}">
                    <a16:rowId xmlns:a16="http://schemas.microsoft.com/office/drawing/2014/main" val="2771131705"/>
                  </a:ext>
                </a:extLst>
              </a:tr>
              <a:tr h="370840">
                <a:tc>
                  <a:txBody>
                    <a:bodyPr/>
                    <a:lstStyle/>
                    <a:p>
                      <a:pPr algn="ctr"/>
                      <a:r>
                        <a:rPr lang="en-US" sz="1100" dirty="0"/>
                        <a:t>7</a:t>
                      </a:r>
                      <a:endParaRPr lang="en-IN" sz="1100" dirty="0"/>
                    </a:p>
                  </a:txBody>
                  <a:tcPr/>
                </a:tc>
                <a:tc>
                  <a:txBody>
                    <a:bodyPr/>
                    <a:lstStyle/>
                    <a:p>
                      <a:pPr algn="l"/>
                      <a:r>
                        <a:rPr lang="en-IN" sz="1100" b="1" dirty="0">
                          <a:solidFill>
                            <a:srgbClr val="26225C"/>
                          </a:solidFill>
                          <a:latin typeface="Aptos"/>
                        </a:rPr>
                        <a:t>Clearly Defined Project Scope</a:t>
                      </a:r>
                    </a:p>
                  </a:txBody>
                  <a:tcPr/>
                </a:tc>
                <a:extLst>
                  <a:ext uri="{0D108BD9-81ED-4DB2-BD59-A6C34878D82A}">
                    <a16:rowId xmlns:a16="http://schemas.microsoft.com/office/drawing/2014/main" val="3708985562"/>
                  </a:ext>
                </a:extLst>
              </a:tr>
              <a:tr h="370840">
                <a:tc>
                  <a:txBody>
                    <a:bodyPr/>
                    <a:lstStyle/>
                    <a:p>
                      <a:pPr algn="ctr"/>
                      <a:r>
                        <a:rPr lang="en-US" sz="1100" dirty="0"/>
                        <a:t>8</a:t>
                      </a:r>
                      <a:endParaRPr lang="en-IN"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b="1" i="0" u="none" dirty="0">
                          <a:solidFill>
                            <a:schemeClr val="tx2">
                              <a:lumMod val="75000"/>
                            </a:schemeClr>
                          </a:solidFill>
                          <a:latin typeface="Inter"/>
                        </a:rPr>
                        <a:t>Software and Hardware fit</a:t>
                      </a:r>
                    </a:p>
                  </a:txBody>
                  <a:tcPr/>
                </a:tc>
                <a:extLst>
                  <a:ext uri="{0D108BD9-81ED-4DB2-BD59-A6C34878D82A}">
                    <a16:rowId xmlns:a16="http://schemas.microsoft.com/office/drawing/2014/main" val="77396010"/>
                  </a:ext>
                </a:extLst>
              </a:tr>
              <a:tr h="370840">
                <a:tc>
                  <a:txBody>
                    <a:bodyPr/>
                    <a:lstStyle/>
                    <a:p>
                      <a:pPr algn="ctr"/>
                      <a:r>
                        <a:rPr lang="en-US" sz="1100" dirty="0"/>
                        <a:t>9</a:t>
                      </a:r>
                      <a:endParaRPr lang="en-IN" sz="1100" dirty="0"/>
                    </a:p>
                  </a:txBody>
                  <a:tcPr/>
                </a:tc>
                <a:tc>
                  <a:txBody>
                    <a:bodyPr/>
                    <a:lstStyle/>
                    <a:p>
                      <a:pPr algn="l"/>
                      <a:r>
                        <a:rPr lang="en-IN" sz="1100" b="1" dirty="0">
                          <a:solidFill>
                            <a:srgbClr val="26225C"/>
                          </a:solidFill>
                          <a:latin typeface="Aptos"/>
                        </a:rPr>
                        <a:t>Milestone Structure &amp; Project Timeline</a:t>
                      </a:r>
                    </a:p>
                  </a:txBody>
                  <a:tcPr/>
                </a:tc>
                <a:extLst>
                  <a:ext uri="{0D108BD9-81ED-4DB2-BD59-A6C34878D82A}">
                    <a16:rowId xmlns:a16="http://schemas.microsoft.com/office/drawing/2014/main" val="2721687739"/>
                  </a:ext>
                </a:extLst>
              </a:tr>
              <a:tr h="370840">
                <a:tc>
                  <a:txBody>
                    <a:bodyPr/>
                    <a:lstStyle/>
                    <a:p>
                      <a:pPr algn="ctr"/>
                      <a:r>
                        <a:rPr lang="en-US" sz="1100" dirty="0"/>
                        <a:t>10</a:t>
                      </a:r>
                      <a:endParaRPr lang="en-IN" sz="1100" dirty="0"/>
                    </a:p>
                  </a:txBody>
                  <a:tcPr/>
                </a:tc>
                <a:tc>
                  <a:txBody>
                    <a:bodyPr/>
                    <a:lstStyle/>
                    <a:p>
                      <a:pPr algn="l"/>
                      <a:r>
                        <a:rPr lang="en-IN" sz="1100" b="1" dirty="0">
                          <a:solidFill>
                            <a:srgbClr val="26225C"/>
                          </a:solidFill>
                          <a:latin typeface="Aptos"/>
                        </a:rPr>
                        <a:t>Project Risk Landscape</a:t>
                      </a:r>
                    </a:p>
                  </a:txBody>
                  <a:tcPr/>
                </a:tc>
                <a:extLst>
                  <a:ext uri="{0D108BD9-81ED-4DB2-BD59-A6C34878D82A}">
                    <a16:rowId xmlns:a16="http://schemas.microsoft.com/office/drawing/2014/main" val="3629950433"/>
                  </a:ext>
                </a:extLst>
              </a:tr>
              <a:tr h="370840">
                <a:tc>
                  <a:txBody>
                    <a:bodyPr/>
                    <a:lstStyle/>
                    <a:p>
                      <a:pPr algn="ctr"/>
                      <a:r>
                        <a:rPr lang="en-US" sz="1100" dirty="0"/>
                        <a:t>11</a:t>
                      </a:r>
                      <a:endParaRPr lang="en-IN" sz="1100" dirty="0"/>
                    </a:p>
                  </a:txBody>
                  <a:tcPr/>
                </a:tc>
                <a:tc>
                  <a:txBody>
                    <a:bodyPr/>
                    <a:lstStyle/>
                    <a:p>
                      <a:pPr algn="l"/>
                      <a:r>
                        <a:rPr lang="en-IN" sz="1100" b="1" dirty="0">
                          <a:solidFill>
                            <a:srgbClr val="26225C"/>
                          </a:solidFill>
                          <a:latin typeface="Aptos"/>
                        </a:rPr>
                        <a:t>Risk Prioritization &amp; Backup Controls</a:t>
                      </a:r>
                    </a:p>
                  </a:txBody>
                  <a:tcPr/>
                </a:tc>
                <a:extLst>
                  <a:ext uri="{0D108BD9-81ED-4DB2-BD59-A6C34878D82A}">
                    <a16:rowId xmlns:a16="http://schemas.microsoft.com/office/drawing/2014/main" val="1610205662"/>
                  </a:ext>
                </a:extLst>
              </a:tr>
              <a:tr h="370840">
                <a:tc>
                  <a:txBody>
                    <a:bodyPr/>
                    <a:lstStyle/>
                    <a:p>
                      <a:pPr algn="ctr"/>
                      <a:r>
                        <a:rPr lang="en-US" sz="1100" dirty="0"/>
                        <a:t>12</a:t>
                      </a:r>
                      <a:endParaRPr lang="en-IN" sz="1100" dirty="0"/>
                    </a:p>
                  </a:txBody>
                  <a:tcPr/>
                </a:tc>
                <a:tc>
                  <a:txBody>
                    <a:bodyPr/>
                    <a:lstStyle/>
                    <a:p>
                      <a:pPr algn="l"/>
                      <a:r>
                        <a:rPr lang="en-US" sz="1100" b="1" dirty="0">
                          <a:solidFill>
                            <a:srgbClr val="26225C"/>
                          </a:solidFill>
                          <a:latin typeface="Aptos"/>
                        </a:rPr>
                        <a:t>System Flow Supporting the Review</a:t>
                      </a:r>
                    </a:p>
                  </a:txBody>
                  <a:tcPr/>
                </a:tc>
                <a:extLst>
                  <a:ext uri="{0D108BD9-81ED-4DB2-BD59-A6C34878D82A}">
                    <a16:rowId xmlns:a16="http://schemas.microsoft.com/office/drawing/2014/main" val="3368420179"/>
                  </a:ext>
                </a:extLst>
              </a:tr>
              <a:tr h="370840">
                <a:tc>
                  <a:txBody>
                    <a:bodyPr/>
                    <a:lstStyle/>
                    <a:p>
                      <a:pPr algn="ctr"/>
                      <a:r>
                        <a:rPr lang="en-US" sz="1100" dirty="0"/>
                        <a:t>13</a:t>
                      </a:r>
                      <a:endParaRPr lang="en-IN"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b="1" dirty="0">
                          <a:solidFill>
                            <a:srgbClr val="26225C"/>
                          </a:solidFill>
                          <a:latin typeface="Aptos"/>
                        </a:rPr>
                        <a:t>Expected Deliverables &amp; Project Outcome</a:t>
                      </a:r>
                    </a:p>
                  </a:txBody>
                  <a:tcPr/>
                </a:tc>
                <a:extLst>
                  <a:ext uri="{0D108BD9-81ED-4DB2-BD59-A6C34878D82A}">
                    <a16:rowId xmlns:a16="http://schemas.microsoft.com/office/drawing/2014/main" val="4126168879"/>
                  </a:ext>
                </a:extLst>
              </a:tr>
              <a:tr h="370840">
                <a:tc>
                  <a:txBody>
                    <a:bodyPr/>
                    <a:lstStyle/>
                    <a:p>
                      <a:pPr algn="ctr"/>
                      <a:r>
                        <a:rPr lang="en-US" sz="1100" dirty="0"/>
                        <a:t>14</a:t>
                      </a:r>
                      <a:endParaRPr lang="en-IN" sz="1100" dirty="0"/>
                    </a:p>
                  </a:txBody>
                  <a:tcPr/>
                </a:tc>
                <a:tc>
                  <a:txBody>
                    <a:bodyPr/>
                    <a:lstStyle/>
                    <a:p>
                      <a:r>
                        <a:rPr lang="en-US" sz="1100" b="1" dirty="0">
                          <a:solidFill>
                            <a:schemeClr val="tx2">
                              <a:lumMod val="75000"/>
                            </a:schemeClr>
                          </a:solidFill>
                          <a:latin typeface="Inter"/>
                        </a:rPr>
                        <a:t>Conclusion</a:t>
                      </a:r>
                      <a:endParaRPr lang="en-IN" sz="1100" b="1" dirty="0">
                        <a:solidFill>
                          <a:schemeClr val="tx2">
                            <a:lumMod val="75000"/>
                          </a:schemeClr>
                        </a:solidFill>
                        <a:latin typeface="Inter"/>
                      </a:endParaRPr>
                    </a:p>
                  </a:txBody>
                  <a:tcPr/>
                </a:tc>
                <a:extLst>
                  <a:ext uri="{0D108BD9-81ED-4DB2-BD59-A6C34878D82A}">
                    <a16:rowId xmlns:a16="http://schemas.microsoft.com/office/drawing/2014/main" val="3249584356"/>
                  </a:ext>
                </a:extLst>
              </a:tr>
            </a:tbl>
          </a:graphicData>
        </a:graphic>
      </p:graphicFrame>
      <p:sp>
        <p:nvSpPr>
          <p:cNvPr id="4" name="Rectangle 3">
            <a:extLst>
              <a:ext uri="{FF2B5EF4-FFF2-40B4-BE49-F238E27FC236}">
                <a16:creationId xmlns:a16="http://schemas.microsoft.com/office/drawing/2014/main" id="{56609516-FCEA-41B6-43F0-F8AF07D77918}"/>
              </a:ext>
            </a:extLst>
          </p:cNvPr>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B8A9CC6-FCDE-B9E0-4B8D-8BFE212A5888}"/>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2 of 16</a:t>
            </a:r>
          </a:p>
        </p:txBody>
      </p:sp>
    </p:spTree>
    <p:extLst>
      <p:ext uri="{BB962C8B-B14F-4D97-AF65-F5344CB8AC3E}">
        <p14:creationId xmlns:p14="http://schemas.microsoft.com/office/powerpoint/2010/main" val="2668746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PROJECT CONTEXT</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a:solidFill>
                  <a:srgbClr val="26225C"/>
                </a:solidFill>
                <a:latin typeface="Aptos"/>
              </a:rPr>
              <a:t>Project Viewpoint &amp; Business Need</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a:solidFill>
                  <a:srgbClr val="64748B"/>
                </a:solidFill>
                <a:latin typeface="Aptos"/>
              </a:rPr>
              <a:t>The project is positioned as a business-automation solution for B2B QMS consultancy workflows.</a:t>
            </a:r>
          </a:p>
        </p:txBody>
      </p:sp>
      <p:sp>
        <p:nvSpPr>
          <p:cNvPr id="7" name="Rounded Rectangle 6"/>
          <p:cNvSpPr/>
          <p:nvPr/>
        </p:nvSpPr>
        <p:spPr>
          <a:xfrm>
            <a:off x="713232" y="1783080"/>
            <a:ext cx="3429000"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83080"/>
            <a:ext cx="50292" cy="36118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47672"/>
            <a:ext cx="3081528" cy="320040"/>
          </a:xfrm>
          <a:prstGeom prst="rect">
            <a:avLst/>
          </a:prstGeom>
          <a:noFill/>
        </p:spPr>
        <p:txBody>
          <a:bodyPr wrap="square" anchor="t">
            <a:spAutoFit/>
          </a:bodyPr>
          <a:lstStyle/>
          <a:p>
            <a:pPr algn="l"/>
            <a:r>
              <a:rPr sz="1600" b="1">
                <a:solidFill>
                  <a:srgbClr val="26225C"/>
                </a:solidFill>
                <a:latin typeface="Aptos"/>
              </a:rPr>
              <a:t>The Business Viewpoint</a:t>
            </a:r>
          </a:p>
        </p:txBody>
      </p:sp>
      <p:sp>
        <p:nvSpPr>
          <p:cNvPr id="10" name="TextBox 9"/>
          <p:cNvSpPr txBox="1"/>
          <p:nvPr/>
        </p:nvSpPr>
        <p:spPr>
          <a:xfrm>
            <a:off x="914400" y="2350008"/>
            <a:ext cx="3081528" cy="2898648"/>
          </a:xfrm>
          <a:prstGeom prst="rect">
            <a:avLst/>
          </a:prstGeom>
          <a:noFill/>
        </p:spPr>
        <p:txBody>
          <a:bodyPr wrap="square" anchor="t">
            <a:spAutoFit/>
          </a:bodyPr>
          <a:lstStyle/>
          <a:p>
            <a:pPr algn="l"/>
            <a:r>
              <a:rPr sz="1350" b="0">
                <a:solidFill>
                  <a:srgbClr val="232B3C"/>
                </a:solidFill>
                <a:latin typeface="Aptos"/>
              </a:rPr>
              <a:t>A web-based AI system designed around customer interaction, sales support, marketing automation and lead management.</a:t>
            </a:r>
          </a:p>
        </p:txBody>
      </p:sp>
      <p:sp>
        <p:nvSpPr>
          <p:cNvPr id="11" name="Rounded Rectangle 10"/>
          <p:cNvSpPr/>
          <p:nvPr/>
        </p:nvSpPr>
        <p:spPr>
          <a:xfrm>
            <a:off x="4370832" y="1783080"/>
            <a:ext cx="3429000"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783080"/>
            <a:ext cx="50292" cy="3611880"/>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947672"/>
            <a:ext cx="3081528" cy="320040"/>
          </a:xfrm>
          <a:prstGeom prst="rect">
            <a:avLst/>
          </a:prstGeom>
          <a:noFill/>
        </p:spPr>
        <p:txBody>
          <a:bodyPr wrap="square" anchor="t">
            <a:spAutoFit/>
          </a:bodyPr>
          <a:lstStyle/>
          <a:p>
            <a:pPr algn="l"/>
            <a:r>
              <a:rPr sz="1600" b="1">
                <a:solidFill>
                  <a:srgbClr val="26225C"/>
                </a:solidFill>
                <a:latin typeface="Aptos"/>
              </a:rPr>
              <a:t>The Current Challenge</a:t>
            </a:r>
          </a:p>
        </p:txBody>
      </p:sp>
      <p:sp>
        <p:nvSpPr>
          <p:cNvPr id="14" name="TextBox 13"/>
          <p:cNvSpPr txBox="1"/>
          <p:nvPr/>
        </p:nvSpPr>
        <p:spPr>
          <a:xfrm>
            <a:off x="4572000" y="2350008"/>
            <a:ext cx="3081528" cy="2898648"/>
          </a:xfrm>
          <a:prstGeom prst="rect">
            <a:avLst/>
          </a:prstGeom>
          <a:noFill/>
        </p:spPr>
        <p:txBody>
          <a:bodyPr wrap="square" anchor="t">
            <a:spAutoFit/>
          </a:bodyPr>
          <a:lstStyle/>
          <a:p>
            <a:pPr algn="l"/>
            <a:r>
              <a:rPr sz="1350" b="0">
                <a:solidFill>
                  <a:srgbClr val="232B3C"/>
                </a:solidFill>
                <a:latin typeface="Aptos"/>
              </a:rPr>
              <a:t>Manual technical inquiries, lead qualification and personalized campaign creation increase response time, workload and operational cost.</a:t>
            </a:r>
          </a:p>
        </p:txBody>
      </p:sp>
      <p:sp>
        <p:nvSpPr>
          <p:cNvPr id="15" name="Rounded Rectangle 14"/>
          <p:cNvSpPr/>
          <p:nvPr/>
        </p:nvSpPr>
        <p:spPr>
          <a:xfrm>
            <a:off x="8028431" y="1783080"/>
            <a:ext cx="3383280"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28431" y="1783080"/>
            <a:ext cx="50292" cy="3611880"/>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947672"/>
            <a:ext cx="3035808" cy="320040"/>
          </a:xfrm>
          <a:prstGeom prst="rect">
            <a:avLst/>
          </a:prstGeom>
          <a:noFill/>
        </p:spPr>
        <p:txBody>
          <a:bodyPr wrap="square" anchor="t">
            <a:spAutoFit/>
          </a:bodyPr>
          <a:lstStyle/>
          <a:p>
            <a:pPr algn="l"/>
            <a:r>
              <a:rPr sz="1600" b="1">
                <a:solidFill>
                  <a:srgbClr val="26225C"/>
                </a:solidFill>
                <a:latin typeface="Aptos"/>
              </a:rPr>
              <a:t>The Proposed Direction</a:t>
            </a:r>
          </a:p>
        </p:txBody>
      </p:sp>
      <p:sp>
        <p:nvSpPr>
          <p:cNvPr id="18" name="TextBox 17"/>
          <p:cNvSpPr txBox="1"/>
          <p:nvPr/>
        </p:nvSpPr>
        <p:spPr>
          <a:xfrm>
            <a:off x="8229600" y="2350008"/>
            <a:ext cx="3035808" cy="2898648"/>
          </a:xfrm>
          <a:prstGeom prst="rect">
            <a:avLst/>
          </a:prstGeom>
          <a:noFill/>
        </p:spPr>
        <p:txBody>
          <a:bodyPr wrap="square" anchor="t">
            <a:spAutoFit/>
          </a:bodyPr>
          <a:lstStyle/>
          <a:p>
            <a:pPr algn="l"/>
            <a:r>
              <a:rPr sz="1350" b="0">
                <a:solidFill>
                  <a:srgbClr val="232B3C"/>
                </a:solidFill>
                <a:latin typeface="Aptos"/>
              </a:rPr>
              <a:t>Specialized Sales, Marketing and Lead Qualification agents work with LLMs, RAG and agent orchestration to automate the workflow.</a:t>
            </a:r>
          </a:p>
        </p:txBody>
      </p:sp>
      <p:sp>
        <p:nvSpPr>
          <p:cNvPr id="19" name="TextBox 18"/>
          <p:cNvSpPr txBox="1"/>
          <p:nvPr/>
        </p:nvSpPr>
        <p:spPr>
          <a:xfrm>
            <a:off x="960120" y="5650992"/>
            <a:ext cx="10058400" cy="411480"/>
          </a:xfrm>
          <a:prstGeom prst="rect">
            <a:avLst/>
          </a:prstGeom>
          <a:noFill/>
        </p:spPr>
        <p:txBody>
          <a:bodyPr wrap="square" anchor="t">
            <a:spAutoFit/>
          </a:bodyPr>
          <a:lstStyle/>
          <a:p>
            <a:pPr algn="ctr"/>
            <a:r>
              <a:rPr sz="1400" b="1">
                <a:solidFill>
                  <a:srgbClr val="26225C"/>
                </a:solidFill>
                <a:latin typeface="Aptos"/>
              </a:rPr>
              <a:t>Business mission alignment: faster customer response • better lead handling • personalized outreach • reduced repetitive work</a:t>
            </a:r>
          </a:p>
        </p:txBody>
      </p:sp>
      <p:sp>
        <p:nvSpPr>
          <p:cNvPr id="20" name="Rectangle 19"/>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24" name="TextBox 23">
            <a:extLst>
              <a:ext uri="{FF2B5EF4-FFF2-40B4-BE49-F238E27FC236}">
                <a16:creationId xmlns:a16="http://schemas.microsoft.com/office/drawing/2014/main" id="{3F4BF00C-5DD9-6CD8-32C4-7F46E3BC3F16}"/>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3 of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GOAL ALIGNMENT</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a:solidFill>
                  <a:srgbClr val="26225C"/>
                </a:solidFill>
                <a:latin typeface="Aptos"/>
              </a:rPr>
              <a:t>Business Goal &amp; Project Objectives</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a:solidFill>
                  <a:srgbClr val="64748B"/>
                </a:solidFill>
                <a:latin typeface="Aptos"/>
              </a:rPr>
              <a:t>The goal is translated into measurable system capabilities and deliverables.</a:t>
            </a:r>
          </a:p>
        </p:txBody>
      </p:sp>
      <p:sp>
        <p:nvSpPr>
          <p:cNvPr id="7" name="Rounded Rectangle 6"/>
          <p:cNvSpPr/>
          <p:nvPr/>
        </p:nvSpPr>
        <p:spPr>
          <a:xfrm>
            <a:off x="713232" y="1755648"/>
            <a:ext cx="3246120" cy="157276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55648"/>
            <a:ext cx="5029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2898648" cy="320040"/>
          </a:xfrm>
          <a:prstGeom prst="rect">
            <a:avLst/>
          </a:prstGeom>
          <a:noFill/>
        </p:spPr>
        <p:txBody>
          <a:bodyPr wrap="square" anchor="t">
            <a:spAutoFit/>
          </a:bodyPr>
          <a:lstStyle/>
          <a:p>
            <a:pPr algn="l"/>
            <a:r>
              <a:rPr sz="1500" b="1">
                <a:solidFill>
                  <a:srgbClr val="26225C"/>
                </a:solidFill>
                <a:latin typeface="Aptos"/>
              </a:rPr>
              <a:t>24/7 Pre-Sales</a:t>
            </a:r>
          </a:p>
        </p:txBody>
      </p:sp>
      <p:sp>
        <p:nvSpPr>
          <p:cNvPr id="10" name="TextBox 9"/>
          <p:cNvSpPr txBox="1"/>
          <p:nvPr/>
        </p:nvSpPr>
        <p:spPr>
          <a:xfrm>
            <a:off x="914400" y="2322576"/>
            <a:ext cx="2898648" cy="859536"/>
          </a:xfrm>
          <a:prstGeom prst="rect">
            <a:avLst/>
          </a:prstGeom>
          <a:noFill/>
        </p:spPr>
        <p:txBody>
          <a:bodyPr wrap="square" anchor="t">
            <a:spAutoFit/>
          </a:bodyPr>
          <a:lstStyle/>
          <a:p>
            <a:pPr algn="l"/>
            <a:r>
              <a:rPr sz="1250" b="0">
                <a:solidFill>
                  <a:srgbClr val="232B3C"/>
                </a:solidFill>
                <a:latin typeface="Aptos"/>
              </a:rPr>
              <a:t>Automate routine customer interaction and consultation.</a:t>
            </a:r>
          </a:p>
        </p:txBody>
      </p:sp>
      <p:sp>
        <p:nvSpPr>
          <p:cNvPr id="11" name="Rounded Rectangle 10"/>
          <p:cNvSpPr/>
          <p:nvPr/>
        </p:nvSpPr>
        <p:spPr>
          <a:xfrm>
            <a:off x="4233672" y="1755648"/>
            <a:ext cx="3246120" cy="157276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33672" y="1755648"/>
            <a:ext cx="50292" cy="157276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920240"/>
            <a:ext cx="2898648" cy="320040"/>
          </a:xfrm>
          <a:prstGeom prst="rect">
            <a:avLst/>
          </a:prstGeom>
          <a:noFill/>
        </p:spPr>
        <p:txBody>
          <a:bodyPr wrap="square" anchor="t">
            <a:spAutoFit/>
          </a:bodyPr>
          <a:lstStyle/>
          <a:p>
            <a:pPr algn="l"/>
            <a:r>
              <a:rPr sz="1500" b="1">
                <a:solidFill>
                  <a:srgbClr val="26225C"/>
                </a:solidFill>
                <a:latin typeface="Aptos"/>
              </a:rPr>
              <a:t>Lead Qualification</a:t>
            </a:r>
          </a:p>
        </p:txBody>
      </p:sp>
      <p:sp>
        <p:nvSpPr>
          <p:cNvPr id="14" name="TextBox 13"/>
          <p:cNvSpPr txBox="1"/>
          <p:nvPr/>
        </p:nvSpPr>
        <p:spPr>
          <a:xfrm>
            <a:off x="4434840" y="2322576"/>
            <a:ext cx="2898648" cy="859536"/>
          </a:xfrm>
          <a:prstGeom prst="rect">
            <a:avLst/>
          </a:prstGeom>
          <a:noFill/>
        </p:spPr>
        <p:txBody>
          <a:bodyPr wrap="square" anchor="t">
            <a:spAutoFit/>
          </a:bodyPr>
          <a:lstStyle/>
          <a:p>
            <a:pPr algn="l"/>
            <a:r>
              <a:rPr sz="1250" b="0">
                <a:solidFill>
                  <a:srgbClr val="232B3C"/>
                </a:solidFill>
                <a:latin typeface="Aptos"/>
              </a:rPr>
              <a:t>Extract budget, timeline and requirements and score prospects.</a:t>
            </a:r>
          </a:p>
        </p:txBody>
      </p:sp>
      <p:sp>
        <p:nvSpPr>
          <p:cNvPr id="15" name="Rounded Rectangle 14"/>
          <p:cNvSpPr/>
          <p:nvPr/>
        </p:nvSpPr>
        <p:spPr>
          <a:xfrm>
            <a:off x="7754112" y="1755648"/>
            <a:ext cx="3246120" cy="157276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54112" y="1755648"/>
            <a:ext cx="5029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0" y="1920240"/>
            <a:ext cx="2898648" cy="320040"/>
          </a:xfrm>
          <a:prstGeom prst="rect">
            <a:avLst/>
          </a:prstGeom>
          <a:noFill/>
        </p:spPr>
        <p:txBody>
          <a:bodyPr wrap="square" anchor="t">
            <a:spAutoFit/>
          </a:bodyPr>
          <a:lstStyle/>
          <a:p>
            <a:pPr algn="l"/>
            <a:r>
              <a:rPr sz="1500" b="1">
                <a:solidFill>
                  <a:srgbClr val="26225C"/>
                </a:solidFill>
                <a:latin typeface="Aptos"/>
              </a:rPr>
              <a:t>Marketing Automation</a:t>
            </a:r>
          </a:p>
        </p:txBody>
      </p:sp>
      <p:sp>
        <p:nvSpPr>
          <p:cNvPr id="18" name="TextBox 17"/>
          <p:cNvSpPr txBox="1"/>
          <p:nvPr/>
        </p:nvSpPr>
        <p:spPr>
          <a:xfrm>
            <a:off x="7955280" y="2322576"/>
            <a:ext cx="2898648" cy="859536"/>
          </a:xfrm>
          <a:prstGeom prst="rect">
            <a:avLst/>
          </a:prstGeom>
          <a:noFill/>
        </p:spPr>
        <p:txBody>
          <a:bodyPr wrap="square" anchor="t">
            <a:spAutoFit/>
          </a:bodyPr>
          <a:lstStyle/>
          <a:p>
            <a:pPr algn="l"/>
            <a:r>
              <a:rPr sz="1250" b="0">
                <a:solidFill>
                  <a:srgbClr val="232B3C"/>
                </a:solidFill>
                <a:latin typeface="Aptos"/>
              </a:rPr>
              <a:t>Generate tailored promotional copy, follow-ups and campaigns.</a:t>
            </a:r>
          </a:p>
        </p:txBody>
      </p:sp>
      <p:sp>
        <p:nvSpPr>
          <p:cNvPr id="19" name="Rounded Rectangle 18"/>
          <p:cNvSpPr/>
          <p:nvPr/>
        </p:nvSpPr>
        <p:spPr>
          <a:xfrm>
            <a:off x="713232" y="3703320"/>
            <a:ext cx="3246120" cy="157276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13232" y="3703320"/>
            <a:ext cx="50292" cy="1572768"/>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3867911"/>
            <a:ext cx="2898648" cy="320040"/>
          </a:xfrm>
          <a:prstGeom prst="rect">
            <a:avLst/>
          </a:prstGeom>
          <a:noFill/>
        </p:spPr>
        <p:txBody>
          <a:bodyPr wrap="square" anchor="t">
            <a:spAutoFit/>
          </a:bodyPr>
          <a:lstStyle/>
          <a:p>
            <a:pPr algn="l"/>
            <a:r>
              <a:rPr sz="1500" b="1">
                <a:solidFill>
                  <a:srgbClr val="26225C"/>
                </a:solidFill>
                <a:latin typeface="Aptos"/>
              </a:rPr>
              <a:t>RAG Grounding</a:t>
            </a:r>
          </a:p>
        </p:txBody>
      </p:sp>
      <p:sp>
        <p:nvSpPr>
          <p:cNvPr id="22" name="TextBox 21"/>
          <p:cNvSpPr txBox="1"/>
          <p:nvPr/>
        </p:nvSpPr>
        <p:spPr>
          <a:xfrm>
            <a:off x="914400" y="4270248"/>
            <a:ext cx="2898648" cy="859536"/>
          </a:xfrm>
          <a:prstGeom prst="rect">
            <a:avLst/>
          </a:prstGeom>
          <a:noFill/>
        </p:spPr>
        <p:txBody>
          <a:bodyPr wrap="square" anchor="t">
            <a:spAutoFit/>
          </a:bodyPr>
          <a:lstStyle/>
          <a:p>
            <a:pPr algn="l"/>
            <a:r>
              <a:rPr sz="1250" b="0">
                <a:solidFill>
                  <a:srgbClr val="232B3C"/>
                </a:solidFill>
                <a:latin typeface="Aptos"/>
              </a:rPr>
              <a:t>Use company knowledge to keep responses context-aware.</a:t>
            </a:r>
          </a:p>
        </p:txBody>
      </p:sp>
      <p:sp>
        <p:nvSpPr>
          <p:cNvPr id="23" name="Rounded Rectangle 22"/>
          <p:cNvSpPr/>
          <p:nvPr/>
        </p:nvSpPr>
        <p:spPr>
          <a:xfrm>
            <a:off x="4233672" y="3703320"/>
            <a:ext cx="3246120" cy="157276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33672" y="3703320"/>
            <a:ext cx="50292" cy="157276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3867911"/>
            <a:ext cx="2898648" cy="320040"/>
          </a:xfrm>
          <a:prstGeom prst="rect">
            <a:avLst/>
          </a:prstGeom>
          <a:noFill/>
        </p:spPr>
        <p:txBody>
          <a:bodyPr wrap="square" anchor="t">
            <a:spAutoFit/>
          </a:bodyPr>
          <a:lstStyle/>
          <a:p>
            <a:pPr algn="l"/>
            <a:r>
              <a:rPr sz="1500" b="1">
                <a:solidFill>
                  <a:srgbClr val="26225C"/>
                </a:solidFill>
                <a:latin typeface="Aptos"/>
              </a:rPr>
              <a:t>CRM Management</a:t>
            </a:r>
          </a:p>
        </p:txBody>
      </p:sp>
      <p:sp>
        <p:nvSpPr>
          <p:cNvPr id="26" name="TextBox 25"/>
          <p:cNvSpPr txBox="1"/>
          <p:nvPr/>
        </p:nvSpPr>
        <p:spPr>
          <a:xfrm>
            <a:off x="4434840" y="4270248"/>
            <a:ext cx="2898648" cy="859536"/>
          </a:xfrm>
          <a:prstGeom prst="rect">
            <a:avLst/>
          </a:prstGeom>
          <a:noFill/>
        </p:spPr>
        <p:txBody>
          <a:bodyPr wrap="square" anchor="t">
            <a:spAutoFit/>
          </a:bodyPr>
          <a:lstStyle/>
          <a:p>
            <a:pPr algn="l"/>
            <a:r>
              <a:rPr sz="1250" b="0">
                <a:solidFill>
                  <a:srgbClr val="232B3C"/>
                </a:solidFill>
                <a:latin typeface="Aptos"/>
              </a:rPr>
              <a:t>Store lead profiles, interaction history and analytics.</a:t>
            </a:r>
          </a:p>
        </p:txBody>
      </p:sp>
      <p:sp>
        <p:nvSpPr>
          <p:cNvPr id="27" name="Rounded Rectangle 26"/>
          <p:cNvSpPr/>
          <p:nvPr/>
        </p:nvSpPr>
        <p:spPr>
          <a:xfrm>
            <a:off x="7754112" y="3703320"/>
            <a:ext cx="3246120" cy="157276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54112" y="3703320"/>
            <a:ext cx="5029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55280" y="3867911"/>
            <a:ext cx="2898648" cy="320040"/>
          </a:xfrm>
          <a:prstGeom prst="rect">
            <a:avLst/>
          </a:prstGeom>
          <a:noFill/>
        </p:spPr>
        <p:txBody>
          <a:bodyPr wrap="square" anchor="t">
            <a:spAutoFit/>
          </a:bodyPr>
          <a:lstStyle/>
          <a:p>
            <a:pPr algn="l"/>
            <a:r>
              <a:rPr sz="1500" b="1">
                <a:solidFill>
                  <a:srgbClr val="26225C"/>
                </a:solidFill>
                <a:latin typeface="Aptos"/>
              </a:rPr>
              <a:t>Operational Efficiency</a:t>
            </a:r>
          </a:p>
        </p:txBody>
      </p:sp>
      <p:sp>
        <p:nvSpPr>
          <p:cNvPr id="30" name="TextBox 29"/>
          <p:cNvSpPr txBox="1"/>
          <p:nvPr/>
        </p:nvSpPr>
        <p:spPr>
          <a:xfrm>
            <a:off x="7955280" y="4270248"/>
            <a:ext cx="2898648" cy="859536"/>
          </a:xfrm>
          <a:prstGeom prst="rect">
            <a:avLst/>
          </a:prstGeom>
          <a:noFill/>
        </p:spPr>
        <p:txBody>
          <a:bodyPr wrap="square" anchor="t">
            <a:spAutoFit/>
          </a:bodyPr>
          <a:lstStyle/>
          <a:p>
            <a:pPr algn="l"/>
            <a:r>
              <a:rPr sz="1250" b="0">
                <a:solidFill>
                  <a:srgbClr val="232B3C"/>
                </a:solidFill>
                <a:latin typeface="Aptos"/>
              </a:rPr>
              <a:t>Reduce repetitive manual pre-sales and marketing effort.</a:t>
            </a:r>
          </a:p>
        </p:txBody>
      </p:sp>
      <p:sp>
        <p:nvSpPr>
          <p:cNvPr id="31" name="Rectangle 30"/>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35" name="TextBox 34">
            <a:extLst>
              <a:ext uri="{FF2B5EF4-FFF2-40B4-BE49-F238E27FC236}">
                <a16:creationId xmlns:a16="http://schemas.microsoft.com/office/drawing/2014/main" id="{5F1B37F5-C887-700B-37F1-DA09BAF2EFA5}"/>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4 of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USERS</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End Users &amp; User Interaction</a:t>
            </a:r>
          </a:p>
        </p:txBody>
      </p:sp>
      <p:sp>
        <p:nvSpPr>
          <p:cNvPr id="6" name="TextBox 5"/>
          <p:cNvSpPr txBox="1"/>
          <p:nvPr/>
        </p:nvSpPr>
        <p:spPr>
          <a:xfrm>
            <a:off x="713232" y="1188720"/>
            <a:ext cx="10698480" cy="300082"/>
          </a:xfrm>
          <a:prstGeom prst="rect">
            <a:avLst/>
          </a:prstGeom>
          <a:noFill/>
        </p:spPr>
        <p:txBody>
          <a:bodyPr wrap="square" anchor="t">
            <a:spAutoFit/>
          </a:bodyPr>
          <a:lstStyle/>
          <a:p>
            <a:pPr algn="l"/>
            <a:r>
              <a:rPr lang="en-US" sz="1350" b="0" dirty="0">
                <a:solidFill>
                  <a:srgbClr val="64748B"/>
                </a:solidFill>
                <a:latin typeface="Aptos"/>
              </a:rPr>
              <a:t>It </a:t>
            </a:r>
            <a:r>
              <a:rPr sz="1350" b="0" dirty="0">
                <a:solidFill>
                  <a:srgbClr val="64748B"/>
                </a:solidFill>
                <a:latin typeface="Aptos"/>
              </a:rPr>
              <a:t>define multiple user types with role-appropriate access and interactions.</a:t>
            </a:r>
          </a:p>
        </p:txBody>
      </p:sp>
      <p:sp>
        <p:nvSpPr>
          <p:cNvPr id="7" name="Rounded Rectangle 6"/>
          <p:cNvSpPr/>
          <p:nvPr/>
        </p:nvSpPr>
        <p:spPr>
          <a:xfrm>
            <a:off x="713232" y="178308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83080"/>
            <a:ext cx="50292" cy="1783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47672"/>
            <a:ext cx="4727448" cy="320040"/>
          </a:xfrm>
          <a:prstGeom prst="rect">
            <a:avLst/>
          </a:prstGeom>
          <a:noFill/>
        </p:spPr>
        <p:txBody>
          <a:bodyPr wrap="square" anchor="t">
            <a:spAutoFit/>
          </a:bodyPr>
          <a:lstStyle/>
          <a:p>
            <a:pPr algn="l"/>
            <a:r>
              <a:rPr sz="1600" b="1">
                <a:solidFill>
                  <a:srgbClr val="26225C"/>
                </a:solidFill>
                <a:latin typeface="Aptos"/>
              </a:rPr>
              <a:t>Customers</a:t>
            </a:r>
          </a:p>
        </p:txBody>
      </p:sp>
      <p:sp>
        <p:nvSpPr>
          <p:cNvPr id="10" name="TextBox 9"/>
          <p:cNvSpPr txBox="1"/>
          <p:nvPr/>
        </p:nvSpPr>
        <p:spPr>
          <a:xfrm>
            <a:off x="914400" y="2350008"/>
            <a:ext cx="4727448" cy="1069848"/>
          </a:xfrm>
          <a:prstGeom prst="rect">
            <a:avLst/>
          </a:prstGeom>
          <a:noFill/>
        </p:spPr>
        <p:txBody>
          <a:bodyPr wrap="square" anchor="t">
            <a:spAutoFit/>
          </a:bodyPr>
          <a:lstStyle/>
          <a:p>
            <a:pPr algn="l"/>
            <a:r>
              <a:rPr sz="1300" b="0">
                <a:solidFill>
                  <a:srgbClr val="232B3C"/>
                </a:solidFill>
                <a:latin typeface="Aptos"/>
              </a:rPr>
              <a:t>Chat with AI agents, submit inquiries, receive recommendations and generate leads.</a:t>
            </a:r>
          </a:p>
        </p:txBody>
      </p:sp>
      <p:sp>
        <p:nvSpPr>
          <p:cNvPr id="11" name="Rounded Rectangle 10"/>
          <p:cNvSpPr/>
          <p:nvPr/>
        </p:nvSpPr>
        <p:spPr>
          <a:xfrm>
            <a:off x="6199632" y="178308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99632" y="1783080"/>
            <a:ext cx="50292" cy="1783080"/>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947672"/>
            <a:ext cx="4727448" cy="320040"/>
          </a:xfrm>
          <a:prstGeom prst="rect">
            <a:avLst/>
          </a:prstGeom>
          <a:noFill/>
        </p:spPr>
        <p:txBody>
          <a:bodyPr wrap="square" anchor="t">
            <a:spAutoFit/>
          </a:bodyPr>
          <a:lstStyle/>
          <a:p>
            <a:pPr algn="l"/>
            <a:r>
              <a:rPr sz="1600" b="1">
                <a:solidFill>
                  <a:srgbClr val="26225C"/>
                </a:solidFill>
                <a:latin typeface="Aptos"/>
              </a:rPr>
              <a:t>Sales Executives</a:t>
            </a:r>
          </a:p>
        </p:txBody>
      </p:sp>
      <p:sp>
        <p:nvSpPr>
          <p:cNvPr id="14" name="TextBox 13"/>
          <p:cNvSpPr txBox="1"/>
          <p:nvPr/>
        </p:nvSpPr>
        <p:spPr>
          <a:xfrm>
            <a:off x="6400800" y="2350008"/>
            <a:ext cx="4727448" cy="1069848"/>
          </a:xfrm>
          <a:prstGeom prst="rect">
            <a:avLst/>
          </a:prstGeom>
          <a:noFill/>
        </p:spPr>
        <p:txBody>
          <a:bodyPr wrap="square" anchor="t">
            <a:spAutoFit/>
          </a:bodyPr>
          <a:lstStyle/>
          <a:p>
            <a:pPr algn="l"/>
            <a:r>
              <a:rPr sz="1300" b="0">
                <a:solidFill>
                  <a:srgbClr val="232B3C"/>
                </a:solidFill>
                <a:latin typeface="Aptos"/>
              </a:rPr>
              <a:t>Use qualified lead information, customer requirements and sales insights.</a:t>
            </a:r>
          </a:p>
        </p:txBody>
      </p:sp>
      <p:sp>
        <p:nvSpPr>
          <p:cNvPr id="15" name="Rounded Rectangle 14"/>
          <p:cNvSpPr/>
          <p:nvPr/>
        </p:nvSpPr>
        <p:spPr>
          <a:xfrm>
            <a:off x="713232" y="393192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13232" y="3931920"/>
            <a:ext cx="50292" cy="1783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096511"/>
            <a:ext cx="4727448" cy="320040"/>
          </a:xfrm>
          <a:prstGeom prst="rect">
            <a:avLst/>
          </a:prstGeom>
          <a:noFill/>
        </p:spPr>
        <p:txBody>
          <a:bodyPr wrap="square" anchor="t">
            <a:spAutoFit/>
          </a:bodyPr>
          <a:lstStyle/>
          <a:p>
            <a:pPr algn="l"/>
            <a:r>
              <a:rPr sz="1600" b="1">
                <a:solidFill>
                  <a:srgbClr val="26225C"/>
                </a:solidFill>
                <a:latin typeface="Aptos"/>
              </a:rPr>
              <a:t>Marketing Managers</a:t>
            </a:r>
          </a:p>
        </p:txBody>
      </p:sp>
      <p:sp>
        <p:nvSpPr>
          <p:cNvPr id="18" name="TextBox 17"/>
          <p:cNvSpPr txBox="1"/>
          <p:nvPr/>
        </p:nvSpPr>
        <p:spPr>
          <a:xfrm>
            <a:off x="914400" y="4498848"/>
            <a:ext cx="4727448" cy="1069848"/>
          </a:xfrm>
          <a:prstGeom prst="rect">
            <a:avLst/>
          </a:prstGeom>
          <a:noFill/>
        </p:spPr>
        <p:txBody>
          <a:bodyPr wrap="square" anchor="t">
            <a:spAutoFit/>
          </a:bodyPr>
          <a:lstStyle/>
          <a:p>
            <a:pPr algn="l"/>
            <a:r>
              <a:rPr sz="1300" b="0">
                <a:solidFill>
                  <a:srgbClr val="232B3C"/>
                </a:solidFill>
                <a:latin typeface="Aptos"/>
              </a:rPr>
              <a:t>Generate campaign content, follow-ups and promotional messaging.</a:t>
            </a:r>
          </a:p>
        </p:txBody>
      </p:sp>
      <p:sp>
        <p:nvSpPr>
          <p:cNvPr id="19" name="Rounded Rectangle 18"/>
          <p:cNvSpPr/>
          <p:nvPr/>
        </p:nvSpPr>
        <p:spPr>
          <a:xfrm>
            <a:off x="6199632" y="393192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99632" y="3931920"/>
            <a:ext cx="50292" cy="1783080"/>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4096511"/>
            <a:ext cx="4727448" cy="320040"/>
          </a:xfrm>
          <a:prstGeom prst="rect">
            <a:avLst/>
          </a:prstGeom>
          <a:noFill/>
        </p:spPr>
        <p:txBody>
          <a:bodyPr wrap="square" anchor="t">
            <a:spAutoFit/>
          </a:bodyPr>
          <a:lstStyle/>
          <a:p>
            <a:pPr algn="l"/>
            <a:r>
              <a:rPr sz="1600" b="1">
                <a:solidFill>
                  <a:srgbClr val="26225C"/>
                </a:solidFill>
                <a:latin typeface="Aptos"/>
              </a:rPr>
              <a:t>Business Owners / Admins</a:t>
            </a:r>
          </a:p>
        </p:txBody>
      </p:sp>
      <p:sp>
        <p:nvSpPr>
          <p:cNvPr id="22" name="TextBox 21"/>
          <p:cNvSpPr txBox="1"/>
          <p:nvPr/>
        </p:nvSpPr>
        <p:spPr>
          <a:xfrm>
            <a:off x="6400800" y="4498848"/>
            <a:ext cx="4727448" cy="1069848"/>
          </a:xfrm>
          <a:prstGeom prst="rect">
            <a:avLst/>
          </a:prstGeom>
          <a:noFill/>
        </p:spPr>
        <p:txBody>
          <a:bodyPr wrap="square" anchor="t">
            <a:spAutoFit/>
          </a:bodyPr>
          <a:lstStyle/>
          <a:p>
            <a:pPr algn="l"/>
            <a:r>
              <a:rPr sz="1300" b="0">
                <a:solidFill>
                  <a:srgbClr val="232B3C"/>
                </a:solidFill>
                <a:latin typeface="Aptos"/>
              </a:rPr>
              <a:t>Access owner controls, lead records, analytics and agent activity.</a:t>
            </a:r>
          </a:p>
        </p:txBody>
      </p:sp>
      <p:sp>
        <p:nvSpPr>
          <p:cNvPr id="23" name="TextBox 22"/>
          <p:cNvSpPr txBox="1"/>
          <p:nvPr/>
        </p:nvSpPr>
        <p:spPr>
          <a:xfrm>
            <a:off x="914400" y="5989320"/>
            <a:ext cx="10241280" cy="292608"/>
          </a:xfrm>
          <a:prstGeom prst="rect">
            <a:avLst/>
          </a:prstGeom>
          <a:noFill/>
        </p:spPr>
        <p:txBody>
          <a:bodyPr wrap="square" anchor="t">
            <a:spAutoFit/>
          </a:bodyPr>
          <a:lstStyle/>
          <a:p>
            <a:pPr algn="ctr"/>
            <a:r>
              <a:rPr sz="1350" b="0">
                <a:solidFill>
                  <a:srgbClr val="64748B"/>
                </a:solidFill>
                <a:latin typeface="Aptos"/>
              </a:rPr>
              <a:t>Interaction model: responsive website + chat-based AI agents + authenticated owner environment</a:t>
            </a:r>
          </a:p>
        </p:txBody>
      </p:sp>
      <p:sp>
        <p:nvSpPr>
          <p:cNvPr id="24" name="Rectangle 23"/>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28" name="TextBox 27">
            <a:extLst>
              <a:ext uri="{FF2B5EF4-FFF2-40B4-BE49-F238E27FC236}">
                <a16:creationId xmlns:a16="http://schemas.microsoft.com/office/drawing/2014/main" id="{4E69E0A4-443D-A2A5-9FBD-013976F003D1}"/>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5 of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COST PLANNING</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a:solidFill>
                  <a:srgbClr val="26225C"/>
                </a:solidFill>
                <a:latin typeface="Aptos"/>
              </a:rPr>
              <a:t>Product Cost &amp; Resource Model</a:t>
            </a:r>
          </a:p>
        </p:txBody>
      </p:sp>
      <p:sp>
        <p:nvSpPr>
          <p:cNvPr id="6" name="TextBox 5"/>
          <p:cNvSpPr txBox="1"/>
          <p:nvPr/>
        </p:nvSpPr>
        <p:spPr>
          <a:xfrm>
            <a:off x="713232" y="1188720"/>
            <a:ext cx="10698480" cy="300082"/>
          </a:xfrm>
          <a:prstGeom prst="rect">
            <a:avLst/>
          </a:prstGeom>
          <a:noFill/>
        </p:spPr>
        <p:txBody>
          <a:bodyPr wrap="square" anchor="t">
            <a:spAutoFit/>
          </a:bodyPr>
          <a:lstStyle/>
          <a:p>
            <a:pPr algn="l"/>
            <a:r>
              <a:rPr sz="1350" b="0" dirty="0">
                <a:solidFill>
                  <a:srgbClr val="64748B"/>
                </a:solidFill>
                <a:latin typeface="Aptos"/>
              </a:rPr>
              <a:t>The </a:t>
            </a:r>
            <a:r>
              <a:rPr lang="en-US" sz="1350" b="0" dirty="0">
                <a:solidFill>
                  <a:srgbClr val="64748B"/>
                </a:solidFill>
                <a:latin typeface="Aptos"/>
              </a:rPr>
              <a:t>project </a:t>
            </a:r>
            <a:r>
              <a:rPr sz="1350" b="0" dirty="0">
                <a:solidFill>
                  <a:srgbClr val="64748B"/>
                </a:solidFill>
                <a:latin typeface="Aptos"/>
              </a:rPr>
              <a:t>specify technical resources but do not provide a fixed rupee budget.</a:t>
            </a:r>
          </a:p>
        </p:txBody>
      </p:sp>
      <p:sp>
        <p:nvSpPr>
          <p:cNvPr id="7" name="Rounded Rectangle 6"/>
          <p:cNvSpPr/>
          <p:nvPr/>
        </p:nvSpPr>
        <p:spPr>
          <a:xfrm>
            <a:off x="713232" y="1755648"/>
            <a:ext cx="3657600" cy="3611880"/>
          </a:xfrm>
          <a:prstGeom prst="roundRect">
            <a:avLst/>
          </a:prstGeom>
          <a:solidFill>
            <a:srgbClr val="F5F7FA"/>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011680"/>
            <a:ext cx="2103120" cy="320040"/>
          </a:xfrm>
          <a:prstGeom prst="rect">
            <a:avLst/>
          </a:prstGeom>
          <a:noFill/>
        </p:spPr>
        <p:txBody>
          <a:bodyPr wrap="square" anchor="t">
            <a:spAutoFit/>
          </a:bodyPr>
          <a:lstStyle/>
          <a:p>
            <a:pPr algn="l"/>
            <a:r>
              <a:rPr sz="1800" b="1">
                <a:solidFill>
                  <a:srgbClr val="26225C"/>
                </a:solidFill>
                <a:latin typeface="Aptos"/>
              </a:rPr>
              <a:t>Budget status</a:t>
            </a:r>
          </a:p>
        </p:txBody>
      </p:sp>
      <p:sp>
        <p:nvSpPr>
          <p:cNvPr id="9" name="TextBox 8"/>
          <p:cNvSpPr txBox="1"/>
          <p:nvPr/>
        </p:nvSpPr>
        <p:spPr>
          <a:xfrm>
            <a:off x="1010412" y="2384914"/>
            <a:ext cx="3063240" cy="923330"/>
          </a:xfrm>
          <a:prstGeom prst="rect">
            <a:avLst/>
          </a:prstGeom>
          <a:noFill/>
        </p:spPr>
        <p:txBody>
          <a:bodyPr wrap="square" anchor="t">
            <a:spAutoFit/>
          </a:bodyPr>
          <a:lstStyle/>
          <a:p>
            <a:r>
              <a:rPr lang="en-IN" dirty="0">
                <a:latin typeface="Aptos" panose="020B0004020202020204" pitchFamily="34" charset="0"/>
              </a:rPr>
              <a:t>No exact production cost or project budget has been defined at this stage</a:t>
            </a:r>
            <a:r>
              <a:rPr lang="en-IN" sz="1600" dirty="0"/>
              <a:t>.</a:t>
            </a:r>
            <a:endParaRPr sz="1700" b="0" dirty="0">
              <a:solidFill>
                <a:srgbClr val="232B3C"/>
              </a:solidFill>
              <a:latin typeface="Aptos"/>
            </a:endParaRPr>
          </a:p>
        </p:txBody>
      </p:sp>
      <p:sp>
        <p:nvSpPr>
          <p:cNvPr id="10" name="TextBox 9"/>
          <p:cNvSpPr txBox="1"/>
          <p:nvPr/>
        </p:nvSpPr>
        <p:spPr>
          <a:xfrm>
            <a:off x="987552" y="3703320"/>
            <a:ext cx="3063240" cy="1005840"/>
          </a:xfrm>
          <a:prstGeom prst="rect">
            <a:avLst/>
          </a:prstGeom>
          <a:noFill/>
        </p:spPr>
        <p:txBody>
          <a:bodyPr wrap="square" anchor="t">
            <a:spAutoFit/>
          </a:bodyPr>
          <a:lstStyle/>
          <a:p>
            <a:pPr algn="l"/>
            <a:r>
              <a:rPr sz="1400" b="0" dirty="0">
                <a:solidFill>
                  <a:srgbClr val="64748B"/>
                </a:solidFill>
                <a:latin typeface="Aptos"/>
              </a:rPr>
              <a:t>Therefore, a fixed ₹ amount should not be claimed without an approved deployment budget.</a:t>
            </a:r>
          </a:p>
        </p:txBody>
      </p:sp>
      <p:sp>
        <p:nvSpPr>
          <p:cNvPr id="11" name="Rounded Rectangle 10"/>
          <p:cNvSpPr/>
          <p:nvPr/>
        </p:nvSpPr>
        <p:spPr>
          <a:xfrm>
            <a:off x="4663440" y="1755648"/>
            <a:ext cx="3154680" cy="16002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755648"/>
            <a:ext cx="50292" cy="1600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64607" y="1920240"/>
            <a:ext cx="2807208" cy="320040"/>
          </a:xfrm>
          <a:prstGeom prst="rect">
            <a:avLst/>
          </a:prstGeom>
          <a:noFill/>
        </p:spPr>
        <p:txBody>
          <a:bodyPr wrap="square" anchor="t">
            <a:spAutoFit/>
          </a:bodyPr>
          <a:lstStyle/>
          <a:p>
            <a:pPr algn="l"/>
            <a:r>
              <a:rPr sz="1500" b="1">
                <a:solidFill>
                  <a:srgbClr val="26225C"/>
                </a:solidFill>
                <a:latin typeface="Aptos"/>
              </a:rPr>
              <a:t>Development Resources</a:t>
            </a:r>
          </a:p>
        </p:txBody>
      </p:sp>
      <p:sp>
        <p:nvSpPr>
          <p:cNvPr id="14" name="TextBox 13"/>
          <p:cNvSpPr txBox="1"/>
          <p:nvPr/>
        </p:nvSpPr>
        <p:spPr>
          <a:xfrm>
            <a:off x="4864607" y="2322576"/>
            <a:ext cx="2807208" cy="886968"/>
          </a:xfrm>
          <a:prstGeom prst="rect">
            <a:avLst/>
          </a:prstGeom>
          <a:noFill/>
        </p:spPr>
        <p:txBody>
          <a:bodyPr wrap="square" anchor="t">
            <a:spAutoFit/>
          </a:bodyPr>
          <a:lstStyle/>
          <a:p>
            <a:pPr algn="l"/>
            <a:r>
              <a:rPr sz="1250" b="0">
                <a:solidFill>
                  <a:srgbClr val="232B3C"/>
                </a:solidFill>
                <a:latin typeface="Aptos"/>
              </a:rPr>
              <a:t>Developer workstation, VS Code/PyCharm, Git/GitHub, Postman and internet access.</a:t>
            </a:r>
          </a:p>
        </p:txBody>
      </p:sp>
      <p:sp>
        <p:nvSpPr>
          <p:cNvPr id="15" name="Rounded Rectangle 14"/>
          <p:cNvSpPr/>
          <p:nvPr/>
        </p:nvSpPr>
        <p:spPr>
          <a:xfrm>
            <a:off x="8046720" y="1755648"/>
            <a:ext cx="3337560" cy="16002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755648"/>
            <a:ext cx="50292" cy="1600200"/>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920240"/>
            <a:ext cx="2990088" cy="320040"/>
          </a:xfrm>
          <a:prstGeom prst="rect">
            <a:avLst/>
          </a:prstGeom>
          <a:noFill/>
        </p:spPr>
        <p:txBody>
          <a:bodyPr wrap="square" anchor="t">
            <a:spAutoFit/>
          </a:bodyPr>
          <a:lstStyle/>
          <a:p>
            <a:pPr algn="l"/>
            <a:r>
              <a:rPr sz="1500" b="1">
                <a:solidFill>
                  <a:srgbClr val="26225C"/>
                </a:solidFill>
                <a:latin typeface="Aptos"/>
              </a:rPr>
              <a:t>AI / API Resources</a:t>
            </a:r>
          </a:p>
        </p:txBody>
      </p:sp>
      <p:sp>
        <p:nvSpPr>
          <p:cNvPr id="18" name="TextBox 17"/>
          <p:cNvSpPr txBox="1"/>
          <p:nvPr/>
        </p:nvSpPr>
        <p:spPr>
          <a:xfrm>
            <a:off x="8247888" y="2322576"/>
            <a:ext cx="2990088" cy="886968"/>
          </a:xfrm>
          <a:prstGeom prst="rect">
            <a:avLst/>
          </a:prstGeom>
          <a:noFill/>
        </p:spPr>
        <p:txBody>
          <a:bodyPr wrap="square" anchor="t">
            <a:spAutoFit/>
          </a:bodyPr>
          <a:lstStyle/>
          <a:p>
            <a:pPr algn="l"/>
            <a:r>
              <a:rPr sz="1250" b="0">
                <a:solidFill>
                  <a:srgbClr val="232B3C"/>
                </a:solidFill>
                <a:latin typeface="Aptos"/>
              </a:rPr>
              <a:t>LLM/API usage such as OpenAI, Gemini or other supported providers.</a:t>
            </a:r>
          </a:p>
        </p:txBody>
      </p:sp>
      <p:sp>
        <p:nvSpPr>
          <p:cNvPr id="19" name="Rounded Rectangle 18"/>
          <p:cNvSpPr/>
          <p:nvPr/>
        </p:nvSpPr>
        <p:spPr>
          <a:xfrm>
            <a:off x="4663440" y="3639312"/>
            <a:ext cx="3154680" cy="1728216"/>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63440" y="3639312"/>
            <a:ext cx="50292" cy="1728216"/>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64607" y="3803904"/>
            <a:ext cx="2807208" cy="320040"/>
          </a:xfrm>
          <a:prstGeom prst="rect">
            <a:avLst/>
          </a:prstGeom>
          <a:noFill/>
        </p:spPr>
        <p:txBody>
          <a:bodyPr wrap="square" anchor="t">
            <a:spAutoFit/>
          </a:bodyPr>
          <a:lstStyle/>
          <a:p>
            <a:pPr algn="l"/>
            <a:r>
              <a:rPr sz="1500" b="1">
                <a:solidFill>
                  <a:srgbClr val="26225C"/>
                </a:solidFill>
                <a:latin typeface="Aptos"/>
              </a:rPr>
              <a:t>Data &amp; Hosting</a:t>
            </a:r>
          </a:p>
        </p:txBody>
      </p:sp>
      <p:sp>
        <p:nvSpPr>
          <p:cNvPr id="22" name="TextBox 21"/>
          <p:cNvSpPr txBox="1"/>
          <p:nvPr/>
        </p:nvSpPr>
        <p:spPr>
          <a:xfrm>
            <a:off x="4864607" y="4206240"/>
            <a:ext cx="2807208" cy="1014983"/>
          </a:xfrm>
          <a:prstGeom prst="rect">
            <a:avLst/>
          </a:prstGeom>
          <a:noFill/>
        </p:spPr>
        <p:txBody>
          <a:bodyPr wrap="square" anchor="t">
            <a:spAutoFit/>
          </a:bodyPr>
          <a:lstStyle/>
          <a:p>
            <a:pPr algn="l"/>
            <a:r>
              <a:rPr sz="1250" b="0">
                <a:solidFill>
                  <a:srgbClr val="232B3C"/>
                </a:solidFill>
                <a:latin typeface="Aptos"/>
              </a:rPr>
              <a:t>Database, vector database, deployment environment and cloud integration where required.</a:t>
            </a:r>
          </a:p>
        </p:txBody>
      </p:sp>
      <p:sp>
        <p:nvSpPr>
          <p:cNvPr id="23" name="Rounded Rectangle 22"/>
          <p:cNvSpPr/>
          <p:nvPr/>
        </p:nvSpPr>
        <p:spPr>
          <a:xfrm>
            <a:off x="8046720" y="3639312"/>
            <a:ext cx="3337560" cy="1728216"/>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46720" y="3639312"/>
            <a:ext cx="50292" cy="172821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47888" y="3803904"/>
            <a:ext cx="2990088" cy="320040"/>
          </a:xfrm>
          <a:prstGeom prst="rect">
            <a:avLst/>
          </a:prstGeom>
          <a:noFill/>
        </p:spPr>
        <p:txBody>
          <a:bodyPr wrap="square" anchor="t">
            <a:spAutoFit/>
          </a:bodyPr>
          <a:lstStyle/>
          <a:p>
            <a:pPr algn="l"/>
            <a:r>
              <a:rPr sz="1500" b="1">
                <a:solidFill>
                  <a:srgbClr val="26225C"/>
                </a:solidFill>
                <a:latin typeface="Aptos"/>
              </a:rPr>
              <a:t>Cost Control</a:t>
            </a:r>
          </a:p>
        </p:txBody>
      </p:sp>
      <p:sp>
        <p:nvSpPr>
          <p:cNvPr id="26" name="TextBox 25"/>
          <p:cNvSpPr txBox="1"/>
          <p:nvPr/>
        </p:nvSpPr>
        <p:spPr>
          <a:xfrm>
            <a:off x="8247888" y="4206240"/>
            <a:ext cx="2990088" cy="1014983"/>
          </a:xfrm>
          <a:prstGeom prst="rect">
            <a:avLst/>
          </a:prstGeom>
          <a:noFill/>
        </p:spPr>
        <p:txBody>
          <a:bodyPr wrap="square" anchor="t">
            <a:spAutoFit/>
          </a:bodyPr>
          <a:lstStyle/>
          <a:p>
            <a:pPr algn="l"/>
            <a:r>
              <a:rPr sz="1250" b="0">
                <a:solidFill>
                  <a:srgbClr val="232B3C"/>
                </a:solidFill>
                <a:latin typeface="Aptos"/>
              </a:rPr>
              <a:t>Modular architecture allows staged implementation and controlled use of external AI services.</a:t>
            </a:r>
          </a:p>
        </p:txBody>
      </p:sp>
      <p:sp>
        <p:nvSpPr>
          <p:cNvPr id="27" name="Rectangle 26"/>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31" name="TextBox 30">
            <a:extLst>
              <a:ext uri="{FF2B5EF4-FFF2-40B4-BE49-F238E27FC236}">
                <a16:creationId xmlns:a16="http://schemas.microsoft.com/office/drawing/2014/main" id="{85D932E2-3024-83F4-BD1E-2B051445BD18}"/>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6 of 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FEASIBILITY</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a:solidFill>
                  <a:srgbClr val="26225C"/>
                </a:solidFill>
                <a:latin typeface="Aptos"/>
              </a:rPr>
              <a:t>Feasibility: Time, Cost &amp; Technology</a:t>
            </a:r>
          </a:p>
        </p:txBody>
      </p:sp>
      <p:sp>
        <p:nvSpPr>
          <p:cNvPr id="6" name="TextBox 5"/>
          <p:cNvSpPr txBox="1"/>
          <p:nvPr/>
        </p:nvSpPr>
        <p:spPr>
          <a:xfrm>
            <a:off x="713232" y="1188720"/>
            <a:ext cx="10698480" cy="307777"/>
          </a:xfrm>
          <a:prstGeom prst="rect">
            <a:avLst/>
          </a:prstGeom>
          <a:noFill/>
        </p:spPr>
        <p:txBody>
          <a:bodyPr wrap="square" anchor="t">
            <a:spAutoFit/>
          </a:bodyPr>
          <a:lstStyle/>
          <a:p>
            <a:r>
              <a:rPr lang="en-IN" sz="1350" dirty="0">
                <a:solidFill>
                  <a:schemeClr val="bg1">
                    <a:lumMod val="50000"/>
                  </a:schemeClr>
                </a:solidFill>
                <a:latin typeface="Aptos" panose="020B0004020202020204" pitchFamily="34" charset="0"/>
              </a:rPr>
              <a:t>The system is technically possible to build, </a:t>
            </a:r>
            <a:r>
              <a:rPr lang="en-IN" sz="1350" dirty="0">
                <a:solidFill>
                  <a:srgbClr val="64748B"/>
                </a:solidFill>
                <a:latin typeface="Aptos" panose="020B0004020202020204" pitchFamily="34" charset="0"/>
              </a:rPr>
              <a:t>while</a:t>
            </a:r>
            <a:r>
              <a:rPr lang="en-IN" sz="1350" dirty="0">
                <a:solidFill>
                  <a:schemeClr val="bg1">
                    <a:lumMod val="50000"/>
                  </a:schemeClr>
                </a:solidFill>
                <a:latin typeface="Aptos" panose="020B0004020202020204" pitchFamily="34" charset="0"/>
              </a:rPr>
              <a:t> the final development time and cost may vary based on implementation needs.</a:t>
            </a:r>
            <a:endParaRPr sz="1350" b="0" dirty="0">
              <a:solidFill>
                <a:schemeClr val="bg1">
                  <a:lumMod val="50000"/>
                </a:schemeClr>
              </a:solidFill>
              <a:latin typeface="Aptos" panose="020B0004020202020204" pitchFamily="34" charset="0"/>
            </a:endParaRPr>
          </a:p>
        </p:txBody>
      </p:sp>
      <p:sp>
        <p:nvSpPr>
          <p:cNvPr id="7" name="Oval 6"/>
          <p:cNvSpPr/>
          <p:nvPr/>
        </p:nvSpPr>
        <p:spPr>
          <a:xfrm>
            <a:off x="960120" y="1920240"/>
            <a:ext cx="640080" cy="64008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29384"/>
            <a:ext cx="640080" cy="621792"/>
          </a:xfrm>
          <a:prstGeom prst="rect">
            <a:avLst/>
          </a:prstGeom>
          <a:noFill/>
        </p:spPr>
        <p:txBody>
          <a:bodyPr wrap="square" anchor="ctr">
            <a:spAutoFit/>
          </a:bodyPr>
          <a:lstStyle/>
          <a:p>
            <a:pPr algn="ctr"/>
            <a:r>
              <a:rPr sz="1900" b="1">
                <a:solidFill>
                  <a:srgbClr val="FFFFFF"/>
                </a:solidFill>
                <a:latin typeface="Aptos"/>
              </a:rPr>
              <a:t>T</a:t>
            </a:r>
          </a:p>
        </p:txBody>
      </p:sp>
      <p:sp>
        <p:nvSpPr>
          <p:cNvPr id="9" name="TextBox 8"/>
          <p:cNvSpPr txBox="1"/>
          <p:nvPr/>
        </p:nvSpPr>
        <p:spPr>
          <a:xfrm>
            <a:off x="1783080" y="1847088"/>
            <a:ext cx="2834640" cy="320040"/>
          </a:xfrm>
          <a:prstGeom prst="rect">
            <a:avLst/>
          </a:prstGeom>
          <a:noFill/>
        </p:spPr>
        <p:txBody>
          <a:bodyPr wrap="square" anchor="t">
            <a:spAutoFit/>
          </a:bodyPr>
          <a:lstStyle/>
          <a:p>
            <a:pPr algn="l"/>
            <a:r>
              <a:rPr sz="1800" b="1">
                <a:solidFill>
                  <a:srgbClr val="26225C"/>
                </a:solidFill>
                <a:latin typeface="Aptos"/>
              </a:rPr>
              <a:t>Technical feasibility</a:t>
            </a:r>
          </a:p>
        </p:txBody>
      </p:sp>
      <p:sp>
        <p:nvSpPr>
          <p:cNvPr id="10" name="TextBox 9"/>
          <p:cNvSpPr txBox="1"/>
          <p:nvPr/>
        </p:nvSpPr>
        <p:spPr>
          <a:xfrm>
            <a:off x="1600200" y="2436876"/>
            <a:ext cx="3474720" cy="1051560"/>
          </a:xfrm>
          <a:prstGeom prst="rect">
            <a:avLst/>
          </a:prstGeom>
          <a:noFill/>
        </p:spPr>
        <p:txBody>
          <a:bodyPr wrap="square" anchor="t">
            <a:spAutoFit/>
          </a:bodyPr>
          <a:lstStyle/>
          <a:p>
            <a:pPr algn="l"/>
            <a:r>
              <a:rPr sz="1350" b="0" dirty="0">
                <a:solidFill>
                  <a:srgbClr val="232B3C"/>
                </a:solidFill>
                <a:latin typeface="Aptos"/>
              </a:rPr>
              <a:t>React + </a:t>
            </a:r>
            <a:r>
              <a:rPr sz="1350" b="0" dirty="0" err="1">
                <a:solidFill>
                  <a:srgbClr val="232B3C"/>
                </a:solidFill>
                <a:latin typeface="Aptos"/>
              </a:rPr>
              <a:t>FastAPI</a:t>
            </a:r>
            <a:r>
              <a:rPr sz="1350" b="0" dirty="0">
                <a:solidFill>
                  <a:srgbClr val="232B3C"/>
                </a:solidFill>
                <a:latin typeface="Aptos"/>
              </a:rPr>
              <a:t> + Python + LLM + RAG + database technologies are explicitly supported by the project documents.</a:t>
            </a:r>
          </a:p>
        </p:txBody>
      </p:sp>
      <p:sp>
        <p:nvSpPr>
          <p:cNvPr id="11" name="Oval 10"/>
          <p:cNvSpPr/>
          <p:nvPr/>
        </p:nvSpPr>
        <p:spPr>
          <a:xfrm>
            <a:off x="4663440" y="1920240"/>
            <a:ext cx="640080" cy="640080"/>
          </a:xfrm>
          <a:prstGeom prst="ellipse">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929384"/>
            <a:ext cx="640080" cy="621792"/>
          </a:xfrm>
          <a:prstGeom prst="rect">
            <a:avLst/>
          </a:prstGeom>
          <a:noFill/>
        </p:spPr>
        <p:txBody>
          <a:bodyPr wrap="square" anchor="ctr">
            <a:spAutoFit/>
          </a:bodyPr>
          <a:lstStyle/>
          <a:p>
            <a:pPr algn="ctr"/>
            <a:r>
              <a:rPr sz="1900" b="1">
                <a:solidFill>
                  <a:srgbClr val="FFFFFF"/>
                </a:solidFill>
                <a:latin typeface="Aptos"/>
              </a:rPr>
              <a:t>C</a:t>
            </a:r>
          </a:p>
        </p:txBody>
      </p:sp>
      <p:sp>
        <p:nvSpPr>
          <p:cNvPr id="13" name="TextBox 12"/>
          <p:cNvSpPr txBox="1"/>
          <p:nvPr/>
        </p:nvSpPr>
        <p:spPr>
          <a:xfrm>
            <a:off x="5486400" y="1847088"/>
            <a:ext cx="2834640" cy="320040"/>
          </a:xfrm>
          <a:prstGeom prst="rect">
            <a:avLst/>
          </a:prstGeom>
          <a:noFill/>
        </p:spPr>
        <p:txBody>
          <a:bodyPr wrap="square" anchor="t">
            <a:spAutoFit/>
          </a:bodyPr>
          <a:lstStyle/>
          <a:p>
            <a:pPr algn="l"/>
            <a:r>
              <a:rPr sz="1800" b="1" dirty="0">
                <a:solidFill>
                  <a:srgbClr val="26225C"/>
                </a:solidFill>
                <a:latin typeface="Aptos"/>
              </a:rPr>
              <a:t>Cost feasibility</a:t>
            </a:r>
          </a:p>
        </p:txBody>
      </p:sp>
      <p:sp>
        <p:nvSpPr>
          <p:cNvPr id="14" name="TextBox 13"/>
          <p:cNvSpPr txBox="1"/>
          <p:nvPr/>
        </p:nvSpPr>
        <p:spPr>
          <a:xfrm>
            <a:off x="5349240" y="2414016"/>
            <a:ext cx="3474720" cy="1051560"/>
          </a:xfrm>
          <a:prstGeom prst="rect">
            <a:avLst/>
          </a:prstGeom>
          <a:noFill/>
        </p:spPr>
        <p:txBody>
          <a:bodyPr wrap="square" anchor="t">
            <a:spAutoFit/>
          </a:bodyPr>
          <a:lstStyle/>
          <a:p>
            <a:pPr algn="l"/>
            <a:r>
              <a:rPr sz="1350" b="0" dirty="0">
                <a:solidFill>
                  <a:srgbClr val="232B3C"/>
                </a:solidFill>
                <a:latin typeface="Aptos"/>
              </a:rPr>
              <a:t>The stack supports open-source and API-based alternatives; an exact budget is not specified and must be finalized for deployment.</a:t>
            </a:r>
          </a:p>
        </p:txBody>
      </p:sp>
      <p:sp>
        <p:nvSpPr>
          <p:cNvPr id="15" name="Oval 14"/>
          <p:cNvSpPr/>
          <p:nvPr/>
        </p:nvSpPr>
        <p:spPr>
          <a:xfrm>
            <a:off x="8366760" y="1851660"/>
            <a:ext cx="640080" cy="640080"/>
          </a:xfrm>
          <a:prstGeom prst="ellipse">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860804"/>
            <a:ext cx="640080" cy="621792"/>
          </a:xfrm>
          <a:prstGeom prst="rect">
            <a:avLst/>
          </a:prstGeom>
          <a:noFill/>
        </p:spPr>
        <p:txBody>
          <a:bodyPr wrap="square" anchor="ctr">
            <a:spAutoFit/>
          </a:bodyPr>
          <a:lstStyle/>
          <a:p>
            <a:pPr algn="ctr"/>
            <a:r>
              <a:rPr sz="1900" b="1">
                <a:solidFill>
                  <a:srgbClr val="FFFFFF"/>
                </a:solidFill>
                <a:latin typeface="Aptos"/>
              </a:rPr>
              <a:t>S</a:t>
            </a:r>
          </a:p>
        </p:txBody>
      </p:sp>
      <p:sp>
        <p:nvSpPr>
          <p:cNvPr id="17" name="TextBox 16"/>
          <p:cNvSpPr txBox="1"/>
          <p:nvPr/>
        </p:nvSpPr>
        <p:spPr>
          <a:xfrm>
            <a:off x="9189720" y="1847088"/>
            <a:ext cx="2194560" cy="320040"/>
          </a:xfrm>
          <a:prstGeom prst="rect">
            <a:avLst/>
          </a:prstGeom>
          <a:noFill/>
        </p:spPr>
        <p:txBody>
          <a:bodyPr wrap="square" anchor="t">
            <a:spAutoFit/>
          </a:bodyPr>
          <a:lstStyle/>
          <a:p>
            <a:pPr algn="l"/>
            <a:r>
              <a:rPr sz="1800" b="1">
                <a:solidFill>
                  <a:srgbClr val="26225C"/>
                </a:solidFill>
                <a:latin typeface="Aptos"/>
              </a:rPr>
              <a:t>Schedule feasibility</a:t>
            </a:r>
          </a:p>
        </p:txBody>
      </p:sp>
      <p:sp>
        <p:nvSpPr>
          <p:cNvPr id="18" name="TextBox 17"/>
          <p:cNvSpPr txBox="1"/>
          <p:nvPr/>
        </p:nvSpPr>
        <p:spPr>
          <a:xfrm>
            <a:off x="9189720" y="2436876"/>
            <a:ext cx="2599714" cy="1169551"/>
          </a:xfrm>
          <a:prstGeom prst="rect">
            <a:avLst/>
          </a:prstGeom>
          <a:noFill/>
        </p:spPr>
        <p:txBody>
          <a:bodyPr wrap="square" anchor="t">
            <a:spAutoFit/>
          </a:bodyPr>
          <a:lstStyle/>
          <a:p>
            <a:r>
              <a:rPr lang="en-IN" sz="1400" dirty="0">
                <a:latin typeface="Aptos" panose="020B0004020202020204" pitchFamily="34" charset="0"/>
              </a:rPr>
              <a:t>The project is planned for phased implementation, with an aim to complete the development within 3–4 months.</a:t>
            </a:r>
            <a:endParaRPr sz="1350" b="0" dirty="0">
              <a:solidFill>
                <a:srgbClr val="232B3C"/>
              </a:solidFill>
              <a:latin typeface="Aptos" panose="020B0004020202020204" pitchFamily="34" charset="0"/>
            </a:endParaRPr>
          </a:p>
        </p:txBody>
      </p:sp>
      <p:sp>
        <p:nvSpPr>
          <p:cNvPr id="19" name="Rounded Rectangle 18"/>
          <p:cNvSpPr/>
          <p:nvPr/>
        </p:nvSpPr>
        <p:spPr>
          <a:xfrm>
            <a:off x="713232" y="3931920"/>
            <a:ext cx="10698480" cy="1280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 y="4187952"/>
            <a:ext cx="2194560" cy="274320"/>
          </a:xfrm>
          <a:prstGeom prst="rect">
            <a:avLst/>
          </a:prstGeom>
          <a:noFill/>
        </p:spPr>
        <p:txBody>
          <a:bodyPr wrap="square" anchor="t">
            <a:spAutoFit/>
          </a:bodyPr>
          <a:lstStyle/>
          <a:p>
            <a:pPr algn="l"/>
            <a:r>
              <a:rPr sz="1500" b="1" dirty="0">
                <a:solidFill>
                  <a:srgbClr val="4F46E5"/>
                </a:solidFill>
                <a:latin typeface="Aptos"/>
              </a:rPr>
              <a:t>Feasibility conclusion</a:t>
            </a:r>
          </a:p>
        </p:txBody>
      </p:sp>
      <p:sp>
        <p:nvSpPr>
          <p:cNvPr id="21" name="TextBox 20"/>
          <p:cNvSpPr txBox="1"/>
          <p:nvPr/>
        </p:nvSpPr>
        <p:spPr>
          <a:xfrm>
            <a:off x="3040380" y="4178613"/>
            <a:ext cx="8092440" cy="492443"/>
          </a:xfrm>
          <a:prstGeom prst="rect">
            <a:avLst/>
          </a:prstGeom>
          <a:noFill/>
        </p:spPr>
        <p:txBody>
          <a:bodyPr wrap="square" anchor="t">
            <a:spAutoFit/>
          </a:bodyPr>
          <a:lstStyle/>
          <a:p>
            <a:r>
              <a:rPr lang="en-IN" sz="1300" b="1" dirty="0">
                <a:latin typeface="Aptos" panose="020B0004020202020204" pitchFamily="34" charset="0"/>
              </a:rPr>
              <a:t>A step-by-step development approach is feasible, while cost and completion time may vary according to the project needs</a:t>
            </a:r>
            <a:r>
              <a:rPr sz="1300" b="1" dirty="0">
                <a:solidFill>
                  <a:srgbClr val="26225C"/>
                </a:solidFill>
                <a:latin typeface="Aptos" panose="020B0004020202020204" pitchFamily="34" charset="0"/>
              </a:rPr>
              <a:t>.</a:t>
            </a:r>
          </a:p>
        </p:txBody>
      </p:sp>
      <p:sp>
        <p:nvSpPr>
          <p:cNvPr id="22" name="Rectangle 21"/>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26" name="TextBox 25">
            <a:extLst>
              <a:ext uri="{FF2B5EF4-FFF2-40B4-BE49-F238E27FC236}">
                <a16:creationId xmlns:a16="http://schemas.microsoft.com/office/drawing/2014/main" id="{61EDCD2F-6DC9-3D01-F4F2-498C8612DA6D}"/>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7 of 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REQUIREMENTS</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a:solidFill>
                  <a:srgbClr val="26225C"/>
                </a:solidFill>
                <a:latin typeface="Aptos"/>
              </a:rPr>
              <a:t>Requirements Within the Project Scope</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dirty="0">
                <a:solidFill>
                  <a:srgbClr val="64748B"/>
                </a:solidFill>
                <a:latin typeface="Aptos"/>
              </a:rPr>
              <a:t>The functional requirements directly support the defined business problem and system purpose.</a:t>
            </a:r>
          </a:p>
        </p:txBody>
      </p:sp>
      <p:sp>
        <p:nvSpPr>
          <p:cNvPr id="7" name="Rounded Rectangle 6"/>
          <p:cNvSpPr/>
          <p:nvPr/>
        </p:nvSpPr>
        <p:spPr>
          <a:xfrm>
            <a:off x="713232" y="17373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37360"/>
            <a:ext cx="50292" cy="171907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01952"/>
            <a:ext cx="2139696" cy="320040"/>
          </a:xfrm>
          <a:prstGeom prst="rect">
            <a:avLst/>
          </a:prstGeom>
          <a:noFill/>
        </p:spPr>
        <p:txBody>
          <a:bodyPr wrap="square" anchor="t">
            <a:spAutoFit/>
          </a:bodyPr>
          <a:lstStyle/>
          <a:p>
            <a:pPr algn="l"/>
            <a:r>
              <a:rPr sz="1400" b="1">
                <a:solidFill>
                  <a:srgbClr val="26225C"/>
                </a:solidFill>
                <a:latin typeface="Aptos"/>
              </a:rPr>
              <a:t>Customer Interaction</a:t>
            </a:r>
          </a:p>
        </p:txBody>
      </p:sp>
      <p:sp>
        <p:nvSpPr>
          <p:cNvPr id="10" name="TextBox 9"/>
          <p:cNvSpPr txBox="1"/>
          <p:nvPr/>
        </p:nvSpPr>
        <p:spPr>
          <a:xfrm>
            <a:off x="914400" y="2304288"/>
            <a:ext cx="2139696" cy="1005839"/>
          </a:xfrm>
          <a:prstGeom prst="rect">
            <a:avLst/>
          </a:prstGeom>
          <a:noFill/>
        </p:spPr>
        <p:txBody>
          <a:bodyPr wrap="square" anchor="t">
            <a:spAutoFit/>
          </a:bodyPr>
          <a:lstStyle/>
          <a:p>
            <a:pPr algn="l"/>
            <a:r>
              <a:rPr sz="1180" b="0">
                <a:solidFill>
                  <a:srgbClr val="232B3C"/>
                </a:solidFill>
                <a:latin typeface="Aptos"/>
              </a:rPr>
              <a:t>AI-powered conversational interaction with website visitors.</a:t>
            </a:r>
          </a:p>
        </p:txBody>
      </p:sp>
      <p:sp>
        <p:nvSpPr>
          <p:cNvPr id="11" name="Rounded Rectangle 10"/>
          <p:cNvSpPr/>
          <p:nvPr/>
        </p:nvSpPr>
        <p:spPr>
          <a:xfrm>
            <a:off x="3456432" y="17373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56432" y="1737360"/>
            <a:ext cx="50292" cy="1719072"/>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0" y="1901952"/>
            <a:ext cx="2139696" cy="320040"/>
          </a:xfrm>
          <a:prstGeom prst="rect">
            <a:avLst/>
          </a:prstGeom>
          <a:noFill/>
        </p:spPr>
        <p:txBody>
          <a:bodyPr wrap="square" anchor="t">
            <a:spAutoFit/>
          </a:bodyPr>
          <a:lstStyle/>
          <a:p>
            <a:pPr algn="l"/>
            <a:r>
              <a:rPr sz="1400" b="1">
                <a:solidFill>
                  <a:srgbClr val="26225C"/>
                </a:solidFill>
                <a:latin typeface="Aptos"/>
              </a:rPr>
              <a:t>Sales Agent</a:t>
            </a:r>
          </a:p>
        </p:txBody>
      </p:sp>
      <p:sp>
        <p:nvSpPr>
          <p:cNvPr id="14" name="TextBox 13"/>
          <p:cNvSpPr txBox="1"/>
          <p:nvPr/>
        </p:nvSpPr>
        <p:spPr>
          <a:xfrm>
            <a:off x="3657600" y="2304288"/>
            <a:ext cx="2139696" cy="1005839"/>
          </a:xfrm>
          <a:prstGeom prst="rect">
            <a:avLst/>
          </a:prstGeom>
          <a:noFill/>
        </p:spPr>
        <p:txBody>
          <a:bodyPr wrap="square" anchor="t">
            <a:spAutoFit/>
          </a:bodyPr>
          <a:lstStyle/>
          <a:p>
            <a:pPr algn="l"/>
            <a:r>
              <a:rPr sz="1180" b="0">
                <a:solidFill>
                  <a:srgbClr val="232B3C"/>
                </a:solidFill>
                <a:latin typeface="Aptos"/>
              </a:rPr>
              <a:t>Answers product/service questions and assists potential customers.</a:t>
            </a:r>
          </a:p>
        </p:txBody>
      </p:sp>
      <p:sp>
        <p:nvSpPr>
          <p:cNvPr id="15" name="Rounded Rectangle 14"/>
          <p:cNvSpPr/>
          <p:nvPr/>
        </p:nvSpPr>
        <p:spPr>
          <a:xfrm>
            <a:off x="6199632" y="17373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99632" y="1737360"/>
            <a:ext cx="50292" cy="171907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901952"/>
            <a:ext cx="2139696" cy="320040"/>
          </a:xfrm>
          <a:prstGeom prst="rect">
            <a:avLst/>
          </a:prstGeom>
          <a:noFill/>
        </p:spPr>
        <p:txBody>
          <a:bodyPr wrap="square" anchor="t">
            <a:spAutoFit/>
          </a:bodyPr>
          <a:lstStyle/>
          <a:p>
            <a:pPr algn="l"/>
            <a:r>
              <a:rPr sz="1400" b="1">
                <a:solidFill>
                  <a:srgbClr val="26225C"/>
                </a:solidFill>
                <a:latin typeface="Aptos"/>
              </a:rPr>
              <a:t>Marketing Agent</a:t>
            </a:r>
          </a:p>
        </p:txBody>
      </p:sp>
      <p:sp>
        <p:nvSpPr>
          <p:cNvPr id="18" name="TextBox 17"/>
          <p:cNvSpPr txBox="1"/>
          <p:nvPr/>
        </p:nvSpPr>
        <p:spPr>
          <a:xfrm>
            <a:off x="6400800" y="2304288"/>
            <a:ext cx="2139696" cy="1005839"/>
          </a:xfrm>
          <a:prstGeom prst="rect">
            <a:avLst/>
          </a:prstGeom>
          <a:noFill/>
        </p:spPr>
        <p:txBody>
          <a:bodyPr wrap="square" anchor="t">
            <a:spAutoFit/>
          </a:bodyPr>
          <a:lstStyle/>
          <a:p>
            <a:pPr algn="l"/>
            <a:r>
              <a:rPr sz="1180" b="0">
                <a:solidFill>
                  <a:srgbClr val="232B3C"/>
                </a:solidFill>
                <a:latin typeface="Aptos"/>
              </a:rPr>
              <a:t>Creates personalized campaigns and marketing content.</a:t>
            </a:r>
          </a:p>
        </p:txBody>
      </p:sp>
      <p:sp>
        <p:nvSpPr>
          <p:cNvPr id="19" name="Rounded Rectangle 18"/>
          <p:cNvSpPr/>
          <p:nvPr/>
        </p:nvSpPr>
        <p:spPr>
          <a:xfrm>
            <a:off x="8942832" y="17373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42832" y="1737360"/>
            <a:ext cx="50292" cy="1719072"/>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0" y="1901952"/>
            <a:ext cx="2139696" cy="320040"/>
          </a:xfrm>
          <a:prstGeom prst="rect">
            <a:avLst/>
          </a:prstGeom>
          <a:noFill/>
        </p:spPr>
        <p:txBody>
          <a:bodyPr wrap="square" anchor="t">
            <a:spAutoFit/>
          </a:bodyPr>
          <a:lstStyle/>
          <a:p>
            <a:pPr algn="l"/>
            <a:r>
              <a:rPr sz="1400" b="1">
                <a:solidFill>
                  <a:srgbClr val="26225C"/>
                </a:solidFill>
                <a:latin typeface="Aptos"/>
              </a:rPr>
              <a:t>Lead Qualification</a:t>
            </a:r>
          </a:p>
        </p:txBody>
      </p:sp>
      <p:sp>
        <p:nvSpPr>
          <p:cNvPr id="22" name="TextBox 21"/>
          <p:cNvSpPr txBox="1"/>
          <p:nvPr/>
        </p:nvSpPr>
        <p:spPr>
          <a:xfrm>
            <a:off x="9144000" y="2304288"/>
            <a:ext cx="2139696" cy="1005839"/>
          </a:xfrm>
          <a:prstGeom prst="rect">
            <a:avLst/>
          </a:prstGeom>
          <a:noFill/>
        </p:spPr>
        <p:txBody>
          <a:bodyPr wrap="square" anchor="t">
            <a:spAutoFit/>
          </a:bodyPr>
          <a:lstStyle/>
          <a:p>
            <a:pPr algn="l"/>
            <a:r>
              <a:rPr sz="1180" b="0">
                <a:solidFill>
                  <a:srgbClr val="232B3C"/>
                </a:solidFill>
                <a:latin typeface="Aptos"/>
              </a:rPr>
              <a:t>Analyzes customer information and automatically scores leads.</a:t>
            </a:r>
          </a:p>
        </p:txBody>
      </p:sp>
      <p:sp>
        <p:nvSpPr>
          <p:cNvPr id="23" name="Rounded Rectangle 22"/>
          <p:cNvSpPr/>
          <p:nvPr/>
        </p:nvSpPr>
        <p:spPr>
          <a:xfrm>
            <a:off x="713232" y="37947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13232" y="3794760"/>
            <a:ext cx="50292" cy="1719072"/>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959352"/>
            <a:ext cx="2139696" cy="320040"/>
          </a:xfrm>
          <a:prstGeom prst="rect">
            <a:avLst/>
          </a:prstGeom>
          <a:noFill/>
        </p:spPr>
        <p:txBody>
          <a:bodyPr wrap="square" anchor="t">
            <a:spAutoFit/>
          </a:bodyPr>
          <a:lstStyle/>
          <a:p>
            <a:pPr algn="l"/>
            <a:r>
              <a:rPr sz="1400" b="1">
                <a:solidFill>
                  <a:srgbClr val="26225C"/>
                </a:solidFill>
                <a:latin typeface="Aptos"/>
              </a:rPr>
              <a:t>RAG &amp; Knowledge Base</a:t>
            </a:r>
          </a:p>
        </p:txBody>
      </p:sp>
      <p:sp>
        <p:nvSpPr>
          <p:cNvPr id="26" name="TextBox 25"/>
          <p:cNvSpPr txBox="1"/>
          <p:nvPr/>
        </p:nvSpPr>
        <p:spPr>
          <a:xfrm>
            <a:off x="914400" y="4361688"/>
            <a:ext cx="2139696" cy="1005839"/>
          </a:xfrm>
          <a:prstGeom prst="rect">
            <a:avLst/>
          </a:prstGeom>
          <a:noFill/>
        </p:spPr>
        <p:txBody>
          <a:bodyPr wrap="square" anchor="t">
            <a:spAutoFit/>
          </a:bodyPr>
          <a:lstStyle/>
          <a:p>
            <a:pPr algn="l"/>
            <a:r>
              <a:rPr sz="1180" b="0">
                <a:solidFill>
                  <a:srgbClr val="232B3C"/>
                </a:solidFill>
                <a:latin typeface="Aptos"/>
              </a:rPr>
              <a:t>Retrieves relevant information from company documents and FAQs.</a:t>
            </a:r>
          </a:p>
        </p:txBody>
      </p:sp>
      <p:sp>
        <p:nvSpPr>
          <p:cNvPr id="27" name="Rounded Rectangle 26"/>
          <p:cNvSpPr/>
          <p:nvPr/>
        </p:nvSpPr>
        <p:spPr>
          <a:xfrm>
            <a:off x="3456432" y="37947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6432" y="3794760"/>
            <a:ext cx="50292" cy="171907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0" y="3959352"/>
            <a:ext cx="2139696" cy="320040"/>
          </a:xfrm>
          <a:prstGeom prst="rect">
            <a:avLst/>
          </a:prstGeom>
          <a:noFill/>
        </p:spPr>
        <p:txBody>
          <a:bodyPr wrap="square" anchor="t">
            <a:spAutoFit/>
          </a:bodyPr>
          <a:lstStyle/>
          <a:p>
            <a:pPr algn="l"/>
            <a:r>
              <a:rPr sz="1400" b="1">
                <a:solidFill>
                  <a:srgbClr val="26225C"/>
                </a:solidFill>
                <a:latin typeface="Aptos"/>
              </a:rPr>
              <a:t>Lead / CRM Management</a:t>
            </a:r>
          </a:p>
        </p:txBody>
      </p:sp>
      <p:sp>
        <p:nvSpPr>
          <p:cNvPr id="30" name="TextBox 29"/>
          <p:cNvSpPr txBox="1"/>
          <p:nvPr/>
        </p:nvSpPr>
        <p:spPr>
          <a:xfrm>
            <a:off x="3657600" y="4361688"/>
            <a:ext cx="2139696" cy="1005839"/>
          </a:xfrm>
          <a:prstGeom prst="rect">
            <a:avLst/>
          </a:prstGeom>
          <a:noFill/>
        </p:spPr>
        <p:txBody>
          <a:bodyPr wrap="square" anchor="t">
            <a:spAutoFit/>
          </a:bodyPr>
          <a:lstStyle/>
          <a:p>
            <a:pPr algn="l"/>
            <a:r>
              <a:rPr sz="1180" b="0">
                <a:solidFill>
                  <a:srgbClr val="232B3C"/>
                </a:solidFill>
                <a:latin typeface="Aptos"/>
              </a:rPr>
              <a:t>Stores and manages customer and lead information.</a:t>
            </a:r>
          </a:p>
        </p:txBody>
      </p:sp>
      <p:sp>
        <p:nvSpPr>
          <p:cNvPr id="31" name="Rounded Rectangle 30"/>
          <p:cNvSpPr/>
          <p:nvPr/>
        </p:nvSpPr>
        <p:spPr>
          <a:xfrm>
            <a:off x="6199632" y="37947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99632" y="3794760"/>
            <a:ext cx="50292" cy="1719072"/>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3959352"/>
            <a:ext cx="2139696" cy="320040"/>
          </a:xfrm>
          <a:prstGeom prst="rect">
            <a:avLst/>
          </a:prstGeom>
          <a:noFill/>
        </p:spPr>
        <p:txBody>
          <a:bodyPr wrap="square" anchor="t">
            <a:spAutoFit/>
          </a:bodyPr>
          <a:lstStyle/>
          <a:p>
            <a:pPr algn="l"/>
            <a:r>
              <a:rPr sz="1400" b="1">
                <a:solidFill>
                  <a:srgbClr val="26225C"/>
                </a:solidFill>
                <a:latin typeface="Aptos"/>
              </a:rPr>
              <a:t>Personalization</a:t>
            </a:r>
          </a:p>
        </p:txBody>
      </p:sp>
      <p:sp>
        <p:nvSpPr>
          <p:cNvPr id="34" name="TextBox 33"/>
          <p:cNvSpPr txBox="1"/>
          <p:nvPr/>
        </p:nvSpPr>
        <p:spPr>
          <a:xfrm>
            <a:off x="6400800" y="4361688"/>
            <a:ext cx="2139696" cy="1005839"/>
          </a:xfrm>
          <a:prstGeom prst="rect">
            <a:avLst/>
          </a:prstGeom>
          <a:noFill/>
        </p:spPr>
        <p:txBody>
          <a:bodyPr wrap="square" anchor="t">
            <a:spAutoFit/>
          </a:bodyPr>
          <a:lstStyle/>
          <a:p>
            <a:pPr algn="l"/>
            <a:r>
              <a:rPr sz="1180" b="0">
                <a:solidFill>
                  <a:srgbClr val="232B3C"/>
                </a:solidFill>
                <a:latin typeface="Aptos"/>
              </a:rPr>
              <a:t>Uses industry, requirements, budget and timeline for tailored responses.</a:t>
            </a:r>
          </a:p>
        </p:txBody>
      </p:sp>
      <p:sp>
        <p:nvSpPr>
          <p:cNvPr id="35" name="Rounded Rectangle 34"/>
          <p:cNvSpPr/>
          <p:nvPr/>
        </p:nvSpPr>
        <p:spPr>
          <a:xfrm>
            <a:off x="8942832" y="3794760"/>
            <a:ext cx="24871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942832" y="3794760"/>
            <a:ext cx="50292" cy="1719072"/>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959352"/>
            <a:ext cx="2139696" cy="320040"/>
          </a:xfrm>
          <a:prstGeom prst="rect">
            <a:avLst/>
          </a:prstGeom>
          <a:noFill/>
        </p:spPr>
        <p:txBody>
          <a:bodyPr wrap="square" anchor="t">
            <a:spAutoFit/>
          </a:bodyPr>
          <a:lstStyle/>
          <a:p>
            <a:pPr algn="l"/>
            <a:r>
              <a:rPr sz="1400" b="1">
                <a:solidFill>
                  <a:srgbClr val="26225C"/>
                </a:solidFill>
                <a:latin typeface="Aptos"/>
              </a:rPr>
              <a:t>Analytics &amp; Follow-up</a:t>
            </a:r>
          </a:p>
        </p:txBody>
      </p:sp>
      <p:sp>
        <p:nvSpPr>
          <p:cNvPr id="38" name="TextBox 37"/>
          <p:cNvSpPr txBox="1"/>
          <p:nvPr/>
        </p:nvSpPr>
        <p:spPr>
          <a:xfrm>
            <a:off x="9144000" y="4361688"/>
            <a:ext cx="2139696" cy="1005839"/>
          </a:xfrm>
          <a:prstGeom prst="rect">
            <a:avLst/>
          </a:prstGeom>
          <a:noFill/>
        </p:spPr>
        <p:txBody>
          <a:bodyPr wrap="square" anchor="t">
            <a:spAutoFit/>
          </a:bodyPr>
          <a:lstStyle/>
          <a:p>
            <a:pPr algn="l"/>
            <a:r>
              <a:rPr sz="1180" b="0">
                <a:solidFill>
                  <a:srgbClr val="232B3C"/>
                </a:solidFill>
                <a:latin typeface="Aptos"/>
              </a:rPr>
              <a:t>Provides insights and generates follow-up messages.</a:t>
            </a:r>
          </a:p>
        </p:txBody>
      </p:sp>
      <p:sp>
        <p:nvSpPr>
          <p:cNvPr id="39" name="Rectangle 38"/>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43" name="TextBox 42">
            <a:extLst>
              <a:ext uri="{FF2B5EF4-FFF2-40B4-BE49-F238E27FC236}">
                <a16:creationId xmlns:a16="http://schemas.microsoft.com/office/drawing/2014/main" id="{070774E5-ED4D-7B95-76AE-B31D5BB13759}"/>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8 of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SCOPE</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Clearly Defined Project Scope</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a:solidFill>
                  <a:srgbClr val="64748B"/>
                </a:solidFill>
                <a:latin typeface="Aptos"/>
              </a:rPr>
              <a:t>The scope is bounded around a web chatbot, specialized agents, knowledge grounding and lead management.</a:t>
            </a:r>
          </a:p>
        </p:txBody>
      </p:sp>
      <p:sp>
        <p:nvSpPr>
          <p:cNvPr id="7" name="Rounded Rectangle 6"/>
          <p:cNvSpPr/>
          <p:nvPr/>
        </p:nvSpPr>
        <p:spPr>
          <a:xfrm>
            <a:off x="713232" y="1755648"/>
            <a:ext cx="6537960" cy="41605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993392"/>
            <a:ext cx="1828800" cy="274320"/>
          </a:xfrm>
          <a:prstGeom prst="rect">
            <a:avLst/>
          </a:prstGeom>
          <a:noFill/>
        </p:spPr>
        <p:txBody>
          <a:bodyPr wrap="square" anchor="t">
            <a:spAutoFit/>
          </a:bodyPr>
          <a:lstStyle/>
          <a:p>
            <a:pPr algn="l"/>
            <a:r>
              <a:rPr sz="1200" b="1">
                <a:solidFill>
                  <a:srgbClr val="4F46E5"/>
                </a:solidFill>
                <a:latin typeface="Aptos"/>
              </a:rPr>
              <a:t>IN SCOPE</a:t>
            </a:r>
          </a:p>
        </p:txBody>
      </p:sp>
      <p:sp>
        <p:nvSpPr>
          <p:cNvPr id="9" name="TextBox 8"/>
          <p:cNvSpPr txBox="1"/>
          <p:nvPr/>
        </p:nvSpPr>
        <p:spPr>
          <a:xfrm>
            <a:off x="987552" y="2468880"/>
            <a:ext cx="5806440" cy="2971800"/>
          </a:xfrm>
          <a:prstGeom prst="rect">
            <a:avLst/>
          </a:prstGeom>
          <a:noFill/>
        </p:spPr>
        <p:txBody>
          <a:bodyPr wrap="square" anchor="t">
            <a:spAutoFit/>
          </a:bodyPr>
          <a:lstStyle/>
          <a:p>
            <a:pPr algn="l"/>
            <a:r>
              <a:rPr sz="1500" b="0">
                <a:solidFill>
                  <a:srgbClr val="232B3C"/>
                </a:solidFill>
                <a:latin typeface="Aptos"/>
              </a:rPr>
              <a:t>• Automate customer interaction using an AI-powered sales and marketing chatbot.
• Qualify potential leads from customer queries and business requirements.
• Generate personalized email and campaign content.
• Use LLM + RAG for knowledge-grounded responses.
• Integrate CRM storage for customer and lead information.
• Provide a scalable web-based multi-agent system for business automation.</a:t>
            </a:r>
          </a:p>
        </p:txBody>
      </p:sp>
      <p:sp>
        <p:nvSpPr>
          <p:cNvPr id="10" name="Rounded Rectangle 9"/>
          <p:cNvSpPr/>
          <p:nvPr/>
        </p:nvSpPr>
        <p:spPr>
          <a:xfrm>
            <a:off x="7543800" y="1755648"/>
            <a:ext cx="3867912" cy="4160520"/>
          </a:xfrm>
          <a:prstGeom prst="roundRect">
            <a:avLst/>
          </a:prstGeom>
          <a:solidFill>
            <a:srgbClr val="F5F7FA"/>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993392"/>
            <a:ext cx="2286000" cy="320040"/>
          </a:xfrm>
          <a:prstGeom prst="rect">
            <a:avLst/>
          </a:prstGeom>
          <a:noFill/>
        </p:spPr>
        <p:txBody>
          <a:bodyPr wrap="square" anchor="t">
            <a:spAutoFit/>
          </a:bodyPr>
          <a:lstStyle/>
          <a:p>
            <a:pPr algn="l"/>
            <a:r>
              <a:rPr sz="1800" b="1">
                <a:solidFill>
                  <a:srgbClr val="26225C"/>
                </a:solidFill>
                <a:latin typeface="Aptos"/>
              </a:rPr>
              <a:t>Scope boundary</a:t>
            </a:r>
          </a:p>
        </p:txBody>
      </p:sp>
      <p:sp>
        <p:nvSpPr>
          <p:cNvPr id="12" name="TextBox 11"/>
          <p:cNvSpPr txBox="1"/>
          <p:nvPr/>
        </p:nvSpPr>
        <p:spPr>
          <a:xfrm>
            <a:off x="7818120" y="2542032"/>
            <a:ext cx="3246120" cy="1325880"/>
          </a:xfrm>
          <a:prstGeom prst="rect">
            <a:avLst/>
          </a:prstGeom>
          <a:noFill/>
        </p:spPr>
        <p:txBody>
          <a:bodyPr wrap="square" anchor="t">
            <a:spAutoFit/>
          </a:bodyPr>
          <a:lstStyle/>
          <a:p>
            <a:pPr algn="l"/>
            <a:r>
              <a:rPr sz="1500" b="0">
                <a:solidFill>
                  <a:srgbClr val="232B3C"/>
                </a:solidFill>
                <a:latin typeface="Aptos"/>
              </a:rPr>
              <a:t>The submitted scope centers on sales, marketing, lead qualification, RAG, CRM and web interaction.</a:t>
            </a:r>
          </a:p>
        </p:txBody>
      </p:sp>
      <p:sp>
        <p:nvSpPr>
          <p:cNvPr id="13" name="TextBox 12"/>
          <p:cNvSpPr txBox="1"/>
          <p:nvPr/>
        </p:nvSpPr>
        <p:spPr>
          <a:xfrm>
            <a:off x="7818120" y="4096512"/>
            <a:ext cx="3246120" cy="1143000"/>
          </a:xfrm>
          <a:prstGeom prst="rect">
            <a:avLst/>
          </a:prstGeom>
          <a:noFill/>
        </p:spPr>
        <p:txBody>
          <a:bodyPr wrap="square" anchor="t">
            <a:spAutoFit/>
          </a:bodyPr>
          <a:lstStyle/>
          <a:p>
            <a:pPr algn="l"/>
            <a:r>
              <a:rPr sz="1400" b="0">
                <a:solidFill>
                  <a:srgbClr val="64748B"/>
                </a:solidFill>
                <a:latin typeface="Aptos"/>
              </a:rPr>
              <a:t>Future extensions can be added through the modular architecture rather than expanding the core scope immediately.</a:t>
            </a:r>
          </a:p>
        </p:txBody>
      </p:sp>
      <p:sp>
        <p:nvSpPr>
          <p:cNvPr id="14" name="Rectangle 13"/>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18" name="TextBox 17">
            <a:extLst>
              <a:ext uri="{FF2B5EF4-FFF2-40B4-BE49-F238E27FC236}">
                <a16:creationId xmlns:a16="http://schemas.microsoft.com/office/drawing/2014/main" id="{ACA8FC0F-CBB3-C400-D9EC-4430556BEF20}"/>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9 of 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TECHNICAL FIT</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a:solidFill>
                  <a:srgbClr val="26225C"/>
                </a:solidFill>
                <a:latin typeface="Aptos"/>
              </a:rPr>
              <a:t>Software &amp; Hardware Fit</a:t>
            </a:r>
          </a:p>
        </p:txBody>
      </p:sp>
      <p:sp>
        <p:nvSpPr>
          <p:cNvPr id="6" name="TextBox 5"/>
          <p:cNvSpPr txBox="1"/>
          <p:nvPr/>
        </p:nvSpPr>
        <p:spPr>
          <a:xfrm>
            <a:off x="713232" y="1188720"/>
            <a:ext cx="10698480" cy="307777"/>
          </a:xfrm>
          <a:prstGeom prst="rect">
            <a:avLst/>
          </a:prstGeom>
          <a:noFill/>
        </p:spPr>
        <p:txBody>
          <a:bodyPr wrap="square" anchor="t">
            <a:spAutoFit/>
          </a:bodyPr>
          <a:lstStyle/>
          <a:p>
            <a:r>
              <a:rPr lang="en-IN" sz="1350" dirty="0">
                <a:solidFill>
                  <a:srgbClr val="64748B"/>
                </a:solidFill>
                <a:latin typeface="Aptos" panose="020B0004020202020204" pitchFamily="34" charset="0"/>
              </a:rPr>
              <a:t>The project can be developed and tested with the available software and hardware setup</a:t>
            </a:r>
            <a:r>
              <a:rPr sz="1350" b="0" dirty="0">
                <a:solidFill>
                  <a:srgbClr val="64748B"/>
                </a:solidFill>
                <a:latin typeface="Aptos"/>
              </a:rPr>
              <a:t>.</a:t>
            </a:r>
          </a:p>
        </p:txBody>
      </p:sp>
      <p:sp>
        <p:nvSpPr>
          <p:cNvPr id="7" name="Rounded Rectangle 6"/>
          <p:cNvSpPr/>
          <p:nvPr/>
        </p:nvSpPr>
        <p:spPr>
          <a:xfrm>
            <a:off x="713232" y="1737360"/>
            <a:ext cx="3401568" cy="41148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37360"/>
            <a:ext cx="50292" cy="41148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01952"/>
            <a:ext cx="3054096" cy="320040"/>
          </a:xfrm>
          <a:prstGeom prst="rect">
            <a:avLst/>
          </a:prstGeom>
          <a:noFill/>
        </p:spPr>
        <p:txBody>
          <a:bodyPr wrap="square" anchor="t">
            <a:spAutoFit/>
          </a:bodyPr>
          <a:lstStyle/>
          <a:p>
            <a:pPr algn="l"/>
            <a:r>
              <a:rPr sz="1700" b="1">
                <a:solidFill>
                  <a:srgbClr val="26225C"/>
                </a:solidFill>
                <a:latin typeface="Aptos"/>
              </a:rPr>
              <a:t>Software Stack</a:t>
            </a:r>
          </a:p>
        </p:txBody>
      </p:sp>
      <p:sp>
        <p:nvSpPr>
          <p:cNvPr id="10" name="TextBox 9"/>
          <p:cNvSpPr txBox="1"/>
          <p:nvPr/>
        </p:nvSpPr>
        <p:spPr>
          <a:xfrm>
            <a:off x="914400" y="2304288"/>
            <a:ext cx="3054096" cy="3401568"/>
          </a:xfrm>
          <a:prstGeom prst="rect">
            <a:avLst/>
          </a:prstGeom>
          <a:noFill/>
        </p:spPr>
        <p:txBody>
          <a:bodyPr wrap="square" anchor="t">
            <a:spAutoFit/>
          </a:bodyPr>
          <a:lstStyle/>
          <a:p>
            <a:pPr algn="l"/>
            <a:r>
              <a:rPr sz="1300" b="0">
                <a:solidFill>
                  <a:srgbClr val="232B3C"/>
                </a:solidFill>
                <a:latin typeface="Aptos"/>
              </a:rPr>
              <a:t>• Windows 10/11 or Ubuntu
• React.js, HTML5, CSS3, Tailwind CSS
• FastAPI + Python 3.11+
• LangChain / LangGraph / CrewAI
• OpenAI GPT / Gemini / Llama
• ChromaDB / Pinecone
• PostgreSQL / MongoDB
• Git, GitHub, Postman</a:t>
            </a:r>
          </a:p>
        </p:txBody>
      </p:sp>
      <p:sp>
        <p:nvSpPr>
          <p:cNvPr id="11" name="Rounded Rectangle 10"/>
          <p:cNvSpPr/>
          <p:nvPr/>
        </p:nvSpPr>
        <p:spPr>
          <a:xfrm>
            <a:off x="4407408" y="1737360"/>
            <a:ext cx="3401568" cy="41148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07408" y="1737360"/>
            <a:ext cx="50292" cy="4114800"/>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1901952"/>
            <a:ext cx="3054096" cy="320040"/>
          </a:xfrm>
          <a:prstGeom prst="rect">
            <a:avLst/>
          </a:prstGeom>
          <a:noFill/>
        </p:spPr>
        <p:txBody>
          <a:bodyPr wrap="square" anchor="t">
            <a:spAutoFit/>
          </a:bodyPr>
          <a:lstStyle/>
          <a:p>
            <a:pPr algn="l"/>
            <a:r>
              <a:rPr sz="1700" b="1">
                <a:solidFill>
                  <a:srgbClr val="26225C"/>
                </a:solidFill>
                <a:latin typeface="Aptos"/>
              </a:rPr>
              <a:t>Minimum Hardware</a:t>
            </a:r>
          </a:p>
        </p:txBody>
      </p:sp>
      <p:sp>
        <p:nvSpPr>
          <p:cNvPr id="14" name="TextBox 13"/>
          <p:cNvSpPr txBox="1"/>
          <p:nvPr/>
        </p:nvSpPr>
        <p:spPr>
          <a:xfrm>
            <a:off x="4608576" y="2304288"/>
            <a:ext cx="3054096" cy="3401568"/>
          </a:xfrm>
          <a:prstGeom prst="rect">
            <a:avLst/>
          </a:prstGeom>
          <a:noFill/>
        </p:spPr>
        <p:txBody>
          <a:bodyPr wrap="square" anchor="t">
            <a:spAutoFit/>
          </a:bodyPr>
          <a:lstStyle/>
          <a:p>
            <a:pPr algn="l"/>
            <a:r>
              <a:rPr sz="1300" b="0">
                <a:solidFill>
                  <a:srgbClr val="232B3C"/>
                </a:solidFill>
                <a:latin typeface="Aptos"/>
              </a:rPr>
              <a:t>• Intel Core i5 / Ryzen 5 or above
• 8 GB RAM minimum
• 256 GB SSD
• Integrated graphics acceptable
• Stable broadband internet
• 1366 × 768 display or higher</a:t>
            </a:r>
          </a:p>
        </p:txBody>
      </p:sp>
      <p:sp>
        <p:nvSpPr>
          <p:cNvPr id="15" name="Rounded Rectangle 14"/>
          <p:cNvSpPr/>
          <p:nvPr/>
        </p:nvSpPr>
        <p:spPr>
          <a:xfrm>
            <a:off x="8101583" y="1737360"/>
            <a:ext cx="3310128" cy="41148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1583" y="1737360"/>
            <a:ext cx="50292" cy="4114800"/>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901952"/>
            <a:ext cx="2962656" cy="320040"/>
          </a:xfrm>
          <a:prstGeom prst="rect">
            <a:avLst/>
          </a:prstGeom>
          <a:noFill/>
        </p:spPr>
        <p:txBody>
          <a:bodyPr wrap="square" anchor="t">
            <a:spAutoFit/>
          </a:bodyPr>
          <a:lstStyle/>
          <a:p>
            <a:pPr algn="l"/>
            <a:r>
              <a:rPr sz="1700" b="1">
                <a:solidFill>
                  <a:srgbClr val="26225C"/>
                </a:solidFill>
                <a:latin typeface="Aptos"/>
              </a:rPr>
              <a:t>Compatibility &amp; Security</a:t>
            </a:r>
          </a:p>
        </p:txBody>
      </p:sp>
      <p:sp>
        <p:nvSpPr>
          <p:cNvPr id="18" name="TextBox 17"/>
          <p:cNvSpPr txBox="1"/>
          <p:nvPr/>
        </p:nvSpPr>
        <p:spPr>
          <a:xfrm>
            <a:off x="8302752" y="2304288"/>
            <a:ext cx="2962656" cy="3401568"/>
          </a:xfrm>
          <a:prstGeom prst="rect">
            <a:avLst/>
          </a:prstGeom>
          <a:noFill/>
        </p:spPr>
        <p:txBody>
          <a:bodyPr wrap="square" anchor="t">
            <a:spAutoFit/>
          </a:bodyPr>
          <a:lstStyle/>
          <a:p>
            <a:pPr algn="l"/>
            <a:r>
              <a:rPr sz="1300" b="0">
                <a:solidFill>
                  <a:srgbClr val="232B3C"/>
                </a:solidFill>
                <a:latin typeface="Aptos"/>
              </a:rPr>
              <a:t>• Chrome, Firefox, Edge, Safari
• Responsive web interface
• JWT authentication
• Password encryption
• HTTPS
• Modular and scalable architecture
• RAG to reduce unsupported responses</a:t>
            </a:r>
          </a:p>
        </p:txBody>
      </p:sp>
      <p:sp>
        <p:nvSpPr>
          <p:cNvPr id="19" name="Rectangle 18"/>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23" name="TextBox 22">
            <a:extLst>
              <a:ext uri="{FF2B5EF4-FFF2-40B4-BE49-F238E27FC236}">
                <a16:creationId xmlns:a16="http://schemas.microsoft.com/office/drawing/2014/main" id="{83928E6B-9142-11F2-105C-0846FD722372}"/>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10 of 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EXECUTION PLAN</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Milestone Structure &amp; Project Timeline</a:t>
            </a:r>
          </a:p>
        </p:txBody>
      </p:sp>
      <p:sp>
        <p:nvSpPr>
          <p:cNvPr id="6" name="TextBox 5"/>
          <p:cNvSpPr txBox="1"/>
          <p:nvPr/>
        </p:nvSpPr>
        <p:spPr>
          <a:xfrm>
            <a:off x="713232" y="1188720"/>
            <a:ext cx="10698480" cy="307777"/>
          </a:xfrm>
          <a:prstGeom prst="rect">
            <a:avLst/>
          </a:prstGeom>
          <a:noFill/>
        </p:spPr>
        <p:txBody>
          <a:bodyPr wrap="square" anchor="t">
            <a:spAutoFit/>
          </a:bodyPr>
          <a:lstStyle/>
          <a:p>
            <a:r>
              <a:rPr lang="en-IN" sz="1350" dirty="0">
                <a:solidFill>
                  <a:srgbClr val="64748B"/>
                </a:solidFill>
                <a:latin typeface="Aptos" panose="020B0004020202020204" pitchFamily="34" charset="0"/>
              </a:rPr>
              <a:t>The project will be developed phase by phase, with clear milestones for each stage</a:t>
            </a:r>
            <a:r>
              <a:rPr sz="1350" b="0" dirty="0">
                <a:solidFill>
                  <a:srgbClr val="64748B"/>
                </a:solidFill>
                <a:latin typeface="Aptos"/>
              </a:rPr>
              <a:t>.</a:t>
            </a:r>
          </a:p>
        </p:txBody>
      </p:sp>
      <p:sp>
        <p:nvSpPr>
          <p:cNvPr id="7" name="Rounded Rectangle 6"/>
          <p:cNvSpPr/>
          <p:nvPr/>
        </p:nvSpPr>
        <p:spPr>
          <a:xfrm>
            <a:off x="713232" y="1783080"/>
            <a:ext cx="34015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83080"/>
            <a:ext cx="50292" cy="171907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8304" y="1871841"/>
            <a:ext cx="2464307" cy="553998"/>
          </a:xfrm>
          <a:prstGeom prst="rect">
            <a:avLst/>
          </a:prstGeom>
          <a:noFill/>
        </p:spPr>
        <p:txBody>
          <a:bodyPr wrap="square" anchor="t">
            <a:spAutoFit/>
          </a:bodyPr>
          <a:lstStyle/>
          <a:p>
            <a:pPr algn="l"/>
            <a:r>
              <a:rPr sz="1500" b="1" dirty="0">
                <a:solidFill>
                  <a:srgbClr val="26225C"/>
                </a:solidFill>
                <a:latin typeface="Aptos"/>
              </a:rPr>
              <a:t>Requirements &amp; Knowledge Base</a:t>
            </a:r>
          </a:p>
        </p:txBody>
      </p:sp>
      <p:sp>
        <p:nvSpPr>
          <p:cNvPr id="10" name="TextBox 9"/>
          <p:cNvSpPr txBox="1"/>
          <p:nvPr/>
        </p:nvSpPr>
        <p:spPr>
          <a:xfrm>
            <a:off x="914400" y="2350008"/>
            <a:ext cx="3054096" cy="1005839"/>
          </a:xfrm>
          <a:prstGeom prst="rect">
            <a:avLst/>
          </a:prstGeom>
          <a:noFill/>
        </p:spPr>
        <p:txBody>
          <a:bodyPr wrap="square" anchor="t">
            <a:spAutoFit/>
          </a:bodyPr>
          <a:lstStyle/>
          <a:p>
            <a:pPr algn="l"/>
            <a:r>
              <a:rPr sz="1200" b="0" dirty="0">
                <a:solidFill>
                  <a:srgbClr val="232B3C"/>
                </a:solidFill>
                <a:latin typeface="Aptos"/>
              </a:rPr>
              <a:t>Finalize users, business requirements, FAQs and company documents.</a:t>
            </a:r>
          </a:p>
        </p:txBody>
      </p:sp>
      <p:sp>
        <p:nvSpPr>
          <p:cNvPr id="11" name="Oval 10"/>
          <p:cNvSpPr/>
          <p:nvPr/>
        </p:nvSpPr>
        <p:spPr>
          <a:xfrm>
            <a:off x="3529584" y="1920240"/>
            <a:ext cx="411480" cy="41148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9584" y="1929384"/>
            <a:ext cx="411480" cy="393192"/>
          </a:xfrm>
          <a:prstGeom prst="rect">
            <a:avLst/>
          </a:prstGeom>
          <a:noFill/>
        </p:spPr>
        <p:txBody>
          <a:bodyPr wrap="square" anchor="ctr">
            <a:spAutoFit/>
          </a:bodyPr>
          <a:lstStyle/>
          <a:p>
            <a:pPr algn="ctr"/>
            <a:r>
              <a:rPr sz="1000" b="1">
                <a:solidFill>
                  <a:srgbClr val="FFFFFF"/>
                </a:solidFill>
                <a:latin typeface="Aptos"/>
              </a:rPr>
              <a:t>01</a:t>
            </a:r>
          </a:p>
        </p:txBody>
      </p:sp>
      <p:sp>
        <p:nvSpPr>
          <p:cNvPr id="13" name="Rounded Rectangle 12"/>
          <p:cNvSpPr/>
          <p:nvPr/>
        </p:nvSpPr>
        <p:spPr>
          <a:xfrm>
            <a:off x="4370832" y="1783080"/>
            <a:ext cx="34015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70832" y="1783080"/>
            <a:ext cx="50292" cy="1719072"/>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947672"/>
            <a:ext cx="3054096" cy="320040"/>
          </a:xfrm>
          <a:prstGeom prst="rect">
            <a:avLst/>
          </a:prstGeom>
          <a:noFill/>
        </p:spPr>
        <p:txBody>
          <a:bodyPr wrap="square" anchor="t">
            <a:spAutoFit/>
          </a:bodyPr>
          <a:lstStyle/>
          <a:p>
            <a:pPr algn="l"/>
            <a:r>
              <a:rPr sz="1500" b="1">
                <a:solidFill>
                  <a:srgbClr val="26225C"/>
                </a:solidFill>
                <a:latin typeface="Aptos"/>
              </a:rPr>
              <a:t>Multi-Agent Backend</a:t>
            </a:r>
          </a:p>
        </p:txBody>
      </p:sp>
      <p:sp>
        <p:nvSpPr>
          <p:cNvPr id="16" name="TextBox 15"/>
          <p:cNvSpPr txBox="1"/>
          <p:nvPr/>
        </p:nvSpPr>
        <p:spPr>
          <a:xfrm>
            <a:off x="4572000" y="2350008"/>
            <a:ext cx="3054096" cy="1005839"/>
          </a:xfrm>
          <a:prstGeom prst="rect">
            <a:avLst/>
          </a:prstGeom>
          <a:noFill/>
        </p:spPr>
        <p:txBody>
          <a:bodyPr wrap="square" anchor="t">
            <a:spAutoFit/>
          </a:bodyPr>
          <a:lstStyle/>
          <a:p>
            <a:pPr algn="l"/>
            <a:r>
              <a:rPr sz="1200" b="0">
                <a:solidFill>
                  <a:srgbClr val="232B3C"/>
                </a:solidFill>
                <a:latin typeface="Aptos"/>
              </a:rPr>
              <a:t>Implement Sales, Marketing and Lead Qualification agents with routing.</a:t>
            </a:r>
          </a:p>
        </p:txBody>
      </p:sp>
      <p:sp>
        <p:nvSpPr>
          <p:cNvPr id="17" name="Oval 16"/>
          <p:cNvSpPr/>
          <p:nvPr/>
        </p:nvSpPr>
        <p:spPr>
          <a:xfrm>
            <a:off x="7187184" y="1920240"/>
            <a:ext cx="411480" cy="411480"/>
          </a:xfrm>
          <a:prstGeom prst="ellipse">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87184" y="1929384"/>
            <a:ext cx="411480" cy="393192"/>
          </a:xfrm>
          <a:prstGeom prst="rect">
            <a:avLst/>
          </a:prstGeom>
          <a:noFill/>
        </p:spPr>
        <p:txBody>
          <a:bodyPr wrap="square" anchor="ctr">
            <a:spAutoFit/>
          </a:bodyPr>
          <a:lstStyle/>
          <a:p>
            <a:pPr algn="ctr"/>
            <a:r>
              <a:rPr sz="1000" b="1">
                <a:solidFill>
                  <a:srgbClr val="FFFFFF"/>
                </a:solidFill>
                <a:latin typeface="Aptos"/>
              </a:rPr>
              <a:t>02</a:t>
            </a:r>
          </a:p>
        </p:txBody>
      </p:sp>
      <p:sp>
        <p:nvSpPr>
          <p:cNvPr id="19" name="Rounded Rectangle 18"/>
          <p:cNvSpPr/>
          <p:nvPr/>
        </p:nvSpPr>
        <p:spPr>
          <a:xfrm>
            <a:off x="8028431" y="1783080"/>
            <a:ext cx="34015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28431" y="1783080"/>
            <a:ext cx="50292" cy="1719072"/>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0" y="1947672"/>
            <a:ext cx="3054096" cy="320040"/>
          </a:xfrm>
          <a:prstGeom prst="rect">
            <a:avLst/>
          </a:prstGeom>
          <a:noFill/>
        </p:spPr>
        <p:txBody>
          <a:bodyPr wrap="square" anchor="t">
            <a:spAutoFit/>
          </a:bodyPr>
          <a:lstStyle/>
          <a:p>
            <a:pPr algn="l"/>
            <a:r>
              <a:rPr sz="1500" b="1">
                <a:solidFill>
                  <a:srgbClr val="26225C"/>
                </a:solidFill>
                <a:latin typeface="Aptos"/>
              </a:rPr>
              <a:t>RAG &amp; Data Layer</a:t>
            </a:r>
          </a:p>
        </p:txBody>
      </p:sp>
      <p:sp>
        <p:nvSpPr>
          <p:cNvPr id="22" name="TextBox 21"/>
          <p:cNvSpPr txBox="1"/>
          <p:nvPr/>
        </p:nvSpPr>
        <p:spPr>
          <a:xfrm>
            <a:off x="8229600" y="2350008"/>
            <a:ext cx="3054096" cy="1005839"/>
          </a:xfrm>
          <a:prstGeom prst="rect">
            <a:avLst/>
          </a:prstGeom>
          <a:noFill/>
        </p:spPr>
        <p:txBody>
          <a:bodyPr wrap="square" anchor="t">
            <a:spAutoFit/>
          </a:bodyPr>
          <a:lstStyle/>
          <a:p>
            <a:pPr algn="l"/>
            <a:r>
              <a:rPr sz="1200" b="0">
                <a:solidFill>
                  <a:srgbClr val="232B3C"/>
                </a:solidFill>
                <a:latin typeface="Aptos"/>
              </a:rPr>
              <a:t>Connect ChromaDB/vector retrieval and PostgreSQL/MongoDB storage.</a:t>
            </a:r>
          </a:p>
        </p:txBody>
      </p:sp>
      <p:sp>
        <p:nvSpPr>
          <p:cNvPr id="23" name="Oval 22"/>
          <p:cNvSpPr/>
          <p:nvPr/>
        </p:nvSpPr>
        <p:spPr>
          <a:xfrm>
            <a:off x="10844784" y="1920240"/>
            <a:ext cx="411480" cy="411480"/>
          </a:xfrm>
          <a:prstGeom prst="ellipse">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844784" y="1929384"/>
            <a:ext cx="411480" cy="393192"/>
          </a:xfrm>
          <a:prstGeom prst="rect">
            <a:avLst/>
          </a:prstGeom>
          <a:noFill/>
        </p:spPr>
        <p:txBody>
          <a:bodyPr wrap="square" anchor="ctr">
            <a:spAutoFit/>
          </a:bodyPr>
          <a:lstStyle/>
          <a:p>
            <a:pPr algn="ctr"/>
            <a:r>
              <a:rPr sz="1000" b="1">
                <a:solidFill>
                  <a:srgbClr val="FFFFFF"/>
                </a:solidFill>
                <a:latin typeface="Aptos"/>
              </a:rPr>
              <a:t>03</a:t>
            </a:r>
          </a:p>
        </p:txBody>
      </p:sp>
      <p:sp>
        <p:nvSpPr>
          <p:cNvPr id="25" name="Rounded Rectangle 24"/>
          <p:cNvSpPr/>
          <p:nvPr/>
        </p:nvSpPr>
        <p:spPr>
          <a:xfrm>
            <a:off x="713232" y="3840480"/>
            <a:ext cx="34015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13232" y="3840480"/>
            <a:ext cx="50292" cy="171907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4005072"/>
            <a:ext cx="3054096" cy="320040"/>
          </a:xfrm>
          <a:prstGeom prst="rect">
            <a:avLst/>
          </a:prstGeom>
          <a:noFill/>
        </p:spPr>
        <p:txBody>
          <a:bodyPr wrap="square" anchor="t">
            <a:spAutoFit/>
          </a:bodyPr>
          <a:lstStyle/>
          <a:p>
            <a:pPr algn="l"/>
            <a:r>
              <a:rPr sz="1500" b="1">
                <a:solidFill>
                  <a:srgbClr val="26225C"/>
                </a:solidFill>
                <a:latin typeface="Aptos"/>
              </a:rPr>
              <a:t>Web UI &amp; Authentication</a:t>
            </a:r>
          </a:p>
        </p:txBody>
      </p:sp>
      <p:sp>
        <p:nvSpPr>
          <p:cNvPr id="28" name="TextBox 27"/>
          <p:cNvSpPr txBox="1"/>
          <p:nvPr/>
        </p:nvSpPr>
        <p:spPr>
          <a:xfrm>
            <a:off x="914400" y="4407408"/>
            <a:ext cx="3054096" cy="1005839"/>
          </a:xfrm>
          <a:prstGeom prst="rect">
            <a:avLst/>
          </a:prstGeom>
          <a:noFill/>
        </p:spPr>
        <p:txBody>
          <a:bodyPr wrap="square" anchor="t">
            <a:spAutoFit/>
          </a:bodyPr>
          <a:lstStyle/>
          <a:p>
            <a:pPr algn="l"/>
            <a:r>
              <a:rPr sz="1200" b="0">
                <a:solidFill>
                  <a:srgbClr val="232B3C"/>
                </a:solidFill>
                <a:latin typeface="Aptos"/>
              </a:rPr>
              <a:t>Build customer chat, owner login and management interface.</a:t>
            </a:r>
          </a:p>
        </p:txBody>
      </p:sp>
      <p:sp>
        <p:nvSpPr>
          <p:cNvPr id="29" name="Oval 28"/>
          <p:cNvSpPr/>
          <p:nvPr/>
        </p:nvSpPr>
        <p:spPr>
          <a:xfrm>
            <a:off x="3529584" y="3977640"/>
            <a:ext cx="411480" cy="41148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29584" y="3986784"/>
            <a:ext cx="411480" cy="393192"/>
          </a:xfrm>
          <a:prstGeom prst="rect">
            <a:avLst/>
          </a:prstGeom>
          <a:noFill/>
        </p:spPr>
        <p:txBody>
          <a:bodyPr wrap="square" anchor="ctr">
            <a:spAutoFit/>
          </a:bodyPr>
          <a:lstStyle/>
          <a:p>
            <a:pPr algn="ctr"/>
            <a:r>
              <a:rPr sz="1000" b="1">
                <a:solidFill>
                  <a:srgbClr val="FFFFFF"/>
                </a:solidFill>
                <a:latin typeface="Aptos"/>
              </a:rPr>
              <a:t>04</a:t>
            </a:r>
          </a:p>
        </p:txBody>
      </p:sp>
      <p:sp>
        <p:nvSpPr>
          <p:cNvPr id="31" name="Rounded Rectangle 30"/>
          <p:cNvSpPr/>
          <p:nvPr/>
        </p:nvSpPr>
        <p:spPr>
          <a:xfrm>
            <a:off x="4370832" y="3840480"/>
            <a:ext cx="34015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70832" y="3840480"/>
            <a:ext cx="50292" cy="1719072"/>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0" y="4005072"/>
            <a:ext cx="3054096" cy="320040"/>
          </a:xfrm>
          <a:prstGeom prst="rect">
            <a:avLst/>
          </a:prstGeom>
          <a:noFill/>
        </p:spPr>
        <p:txBody>
          <a:bodyPr wrap="square" anchor="t">
            <a:spAutoFit/>
          </a:bodyPr>
          <a:lstStyle/>
          <a:p>
            <a:pPr algn="l"/>
            <a:r>
              <a:rPr sz="1500" b="1">
                <a:solidFill>
                  <a:srgbClr val="26225C"/>
                </a:solidFill>
                <a:latin typeface="Aptos"/>
              </a:rPr>
              <a:t>Testing &amp; Validation</a:t>
            </a:r>
          </a:p>
        </p:txBody>
      </p:sp>
      <p:sp>
        <p:nvSpPr>
          <p:cNvPr id="34" name="TextBox 33"/>
          <p:cNvSpPr txBox="1"/>
          <p:nvPr/>
        </p:nvSpPr>
        <p:spPr>
          <a:xfrm>
            <a:off x="4572000" y="4407408"/>
            <a:ext cx="3054096" cy="1005839"/>
          </a:xfrm>
          <a:prstGeom prst="rect">
            <a:avLst/>
          </a:prstGeom>
          <a:noFill/>
        </p:spPr>
        <p:txBody>
          <a:bodyPr wrap="square" anchor="t">
            <a:spAutoFit/>
          </a:bodyPr>
          <a:lstStyle/>
          <a:p>
            <a:pPr algn="l"/>
            <a:r>
              <a:rPr sz="1200" b="0">
                <a:solidFill>
                  <a:srgbClr val="232B3C"/>
                </a:solidFill>
                <a:latin typeface="Aptos"/>
              </a:rPr>
              <a:t>Test response quality, lead scoring, security and system flow.</a:t>
            </a:r>
          </a:p>
        </p:txBody>
      </p:sp>
      <p:sp>
        <p:nvSpPr>
          <p:cNvPr id="35" name="Oval 34"/>
          <p:cNvSpPr/>
          <p:nvPr/>
        </p:nvSpPr>
        <p:spPr>
          <a:xfrm>
            <a:off x="7187184" y="3977640"/>
            <a:ext cx="411480" cy="411480"/>
          </a:xfrm>
          <a:prstGeom prst="ellipse">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87184" y="3986784"/>
            <a:ext cx="411480" cy="393192"/>
          </a:xfrm>
          <a:prstGeom prst="rect">
            <a:avLst/>
          </a:prstGeom>
          <a:noFill/>
        </p:spPr>
        <p:txBody>
          <a:bodyPr wrap="square" anchor="ctr">
            <a:spAutoFit/>
          </a:bodyPr>
          <a:lstStyle/>
          <a:p>
            <a:pPr algn="ctr"/>
            <a:r>
              <a:rPr sz="1000" b="1">
                <a:solidFill>
                  <a:srgbClr val="FFFFFF"/>
                </a:solidFill>
                <a:latin typeface="Aptos"/>
              </a:rPr>
              <a:t>05</a:t>
            </a:r>
          </a:p>
        </p:txBody>
      </p:sp>
      <p:sp>
        <p:nvSpPr>
          <p:cNvPr id="37" name="Rounded Rectangle 36"/>
          <p:cNvSpPr/>
          <p:nvPr/>
        </p:nvSpPr>
        <p:spPr>
          <a:xfrm>
            <a:off x="8028431" y="3840480"/>
            <a:ext cx="3401568" cy="171907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028431" y="3840480"/>
            <a:ext cx="50292" cy="1719072"/>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0" y="4005072"/>
            <a:ext cx="2677122" cy="553998"/>
          </a:xfrm>
          <a:prstGeom prst="rect">
            <a:avLst/>
          </a:prstGeom>
          <a:noFill/>
        </p:spPr>
        <p:txBody>
          <a:bodyPr wrap="square" anchor="t">
            <a:spAutoFit/>
          </a:bodyPr>
          <a:lstStyle/>
          <a:p>
            <a:pPr algn="l"/>
            <a:r>
              <a:rPr sz="1500" b="1">
                <a:solidFill>
                  <a:srgbClr val="26225C"/>
                </a:solidFill>
                <a:latin typeface="Aptos"/>
              </a:rPr>
              <a:t>Deployment &amp; Demonstration</a:t>
            </a:r>
          </a:p>
        </p:txBody>
      </p:sp>
      <p:sp>
        <p:nvSpPr>
          <p:cNvPr id="40" name="TextBox 39"/>
          <p:cNvSpPr txBox="1"/>
          <p:nvPr/>
        </p:nvSpPr>
        <p:spPr>
          <a:xfrm>
            <a:off x="8231886" y="4633766"/>
            <a:ext cx="3054096" cy="1005839"/>
          </a:xfrm>
          <a:prstGeom prst="rect">
            <a:avLst/>
          </a:prstGeom>
          <a:noFill/>
        </p:spPr>
        <p:txBody>
          <a:bodyPr wrap="square" anchor="t">
            <a:spAutoFit/>
          </a:bodyPr>
          <a:lstStyle/>
          <a:p>
            <a:pPr algn="l"/>
            <a:r>
              <a:rPr sz="1200" b="0">
                <a:solidFill>
                  <a:srgbClr val="232B3C"/>
                </a:solidFill>
                <a:latin typeface="Aptos"/>
              </a:rPr>
              <a:t>Package the application, validate end-to-end workflow and present prototype.</a:t>
            </a:r>
          </a:p>
        </p:txBody>
      </p:sp>
      <p:sp>
        <p:nvSpPr>
          <p:cNvPr id="41" name="Oval 40"/>
          <p:cNvSpPr/>
          <p:nvPr/>
        </p:nvSpPr>
        <p:spPr>
          <a:xfrm>
            <a:off x="10844784" y="3977640"/>
            <a:ext cx="411480" cy="411480"/>
          </a:xfrm>
          <a:prstGeom prst="ellipse">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844784" y="3986784"/>
            <a:ext cx="411480" cy="393192"/>
          </a:xfrm>
          <a:prstGeom prst="rect">
            <a:avLst/>
          </a:prstGeom>
          <a:noFill/>
        </p:spPr>
        <p:txBody>
          <a:bodyPr wrap="square" anchor="ctr">
            <a:spAutoFit/>
          </a:bodyPr>
          <a:lstStyle/>
          <a:p>
            <a:pPr algn="ctr"/>
            <a:r>
              <a:rPr sz="1000" b="1">
                <a:solidFill>
                  <a:srgbClr val="FFFFFF"/>
                </a:solidFill>
                <a:latin typeface="Aptos"/>
              </a:rPr>
              <a:t>06</a:t>
            </a:r>
          </a:p>
        </p:txBody>
      </p:sp>
      <p:sp>
        <p:nvSpPr>
          <p:cNvPr id="45" name="Rectangle 44"/>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44" name="TextBox 43">
            <a:extLst>
              <a:ext uri="{FF2B5EF4-FFF2-40B4-BE49-F238E27FC236}">
                <a16:creationId xmlns:a16="http://schemas.microsoft.com/office/drawing/2014/main" id="{8DA7C246-3022-2A91-5602-6FFAE4A9B06A}"/>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11 of 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RISK MANAGEMENT</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Project Risk Landscape</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a:solidFill>
                  <a:srgbClr val="64748B"/>
                </a:solidFill>
                <a:latin typeface="Aptos"/>
              </a:rPr>
              <a:t>A project-specific risk register can be organized across technical, operational, schedule and business dimensions.</a:t>
            </a:r>
          </a:p>
        </p:txBody>
      </p:sp>
      <p:sp>
        <p:nvSpPr>
          <p:cNvPr id="7" name="Rounded Rectangle 6"/>
          <p:cNvSpPr/>
          <p:nvPr/>
        </p:nvSpPr>
        <p:spPr>
          <a:xfrm>
            <a:off x="713232" y="178308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83080"/>
            <a:ext cx="50292" cy="17830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47672"/>
            <a:ext cx="4727448" cy="320040"/>
          </a:xfrm>
          <a:prstGeom prst="rect">
            <a:avLst/>
          </a:prstGeom>
          <a:noFill/>
        </p:spPr>
        <p:txBody>
          <a:bodyPr wrap="square" anchor="t">
            <a:spAutoFit/>
          </a:bodyPr>
          <a:lstStyle/>
          <a:p>
            <a:pPr algn="l"/>
            <a:r>
              <a:rPr sz="1700" b="1">
                <a:solidFill>
                  <a:srgbClr val="26225C"/>
                </a:solidFill>
                <a:latin typeface="Aptos"/>
              </a:rPr>
              <a:t>Technical</a:t>
            </a:r>
          </a:p>
        </p:txBody>
      </p:sp>
      <p:sp>
        <p:nvSpPr>
          <p:cNvPr id="10" name="TextBox 9"/>
          <p:cNvSpPr txBox="1"/>
          <p:nvPr/>
        </p:nvSpPr>
        <p:spPr>
          <a:xfrm>
            <a:off x="914400" y="2350008"/>
            <a:ext cx="4727448" cy="1069848"/>
          </a:xfrm>
          <a:prstGeom prst="rect">
            <a:avLst/>
          </a:prstGeom>
          <a:noFill/>
        </p:spPr>
        <p:txBody>
          <a:bodyPr wrap="square" anchor="t">
            <a:spAutoFit/>
          </a:bodyPr>
          <a:lstStyle/>
          <a:p>
            <a:pPr algn="l"/>
            <a:r>
              <a:rPr sz="1300" b="0">
                <a:solidFill>
                  <a:srgbClr val="232B3C"/>
                </a:solidFill>
                <a:latin typeface="Aptos"/>
              </a:rPr>
              <a:t>LLM/API dependency; inaccurate or unsupported responses; agent integration complexity.</a:t>
            </a:r>
          </a:p>
        </p:txBody>
      </p:sp>
      <p:sp>
        <p:nvSpPr>
          <p:cNvPr id="11" name="Rounded Rectangle 10"/>
          <p:cNvSpPr/>
          <p:nvPr/>
        </p:nvSpPr>
        <p:spPr>
          <a:xfrm>
            <a:off x="6199632" y="178308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99632" y="1783080"/>
            <a:ext cx="50292" cy="17830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947672"/>
            <a:ext cx="4727448" cy="320040"/>
          </a:xfrm>
          <a:prstGeom prst="rect">
            <a:avLst/>
          </a:prstGeom>
          <a:noFill/>
        </p:spPr>
        <p:txBody>
          <a:bodyPr wrap="square" anchor="t">
            <a:spAutoFit/>
          </a:bodyPr>
          <a:lstStyle/>
          <a:p>
            <a:pPr algn="l"/>
            <a:r>
              <a:rPr sz="1700" b="1">
                <a:solidFill>
                  <a:srgbClr val="26225C"/>
                </a:solidFill>
                <a:latin typeface="Aptos"/>
              </a:rPr>
              <a:t>Operational</a:t>
            </a:r>
          </a:p>
        </p:txBody>
      </p:sp>
      <p:sp>
        <p:nvSpPr>
          <p:cNvPr id="14" name="TextBox 13"/>
          <p:cNvSpPr txBox="1"/>
          <p:nvPr/>
        </p:nvSpPr>
        <p:spPr>
          <a:xfrm>
            <a:off x="6400800" y="2350008"/>
            <a:ext cx="4727448" cy="1069848"/>
          </a:xfrm>
          <a:prstGeom prst="rect">
            <a:avLst/>
          </a:prstGeom>
          <a:noFill/>
        </p:spPr>
        <p:txBody>
          <a:bodyPr wrap="square" anchor="t">
            <a:spAutoFit/>
          </a:bodyPr>
          <a:lstStyle/>
          <a:p>
            <a:pPr algn="l"/>
            <a:r>
              <a:rPr sz="1300" b="0">
                <a:solidFill>
                  <a:srgbClr val="232B3C"/>
                </a:solidFill>
                <a:latin typeface="Aptos"/>
              </a:rPr>
              <a:t>Knowledge-base quality, lead-data quality and consistency of CRM records.</a:t>
            </a:r>
          </a:p>
        </p:txBody>
      </p:sp>
      <p:sp>
        <p:nvSpPr>
          <p:cNvPr id="15" name="Rounded Rectangle 14"/>
          <p:cNvSpPr/>
          <p:nvPr/>
        </p:nvSpPr>
        <p:spPr>
          <a:xfrm>
            <a:off x="713232" y="393192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13232" y="3931920"/>
            <a:ext cx="50292" cy="1783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096511"/>
            <a:ext cx="4727448" cy="320040"/>
          </a:xfrm>
          <a:prstGeom prst="rect">
            <a:avLst/>
          </a:prstGeom>
          <a:noFill/>
        </p:spPr>
        <p:txBody>
          <a:bodyPr wrap="square" anchor="t">
            <a:spAutoFit/>
          </a:bodyPr>
          <a:lstStyle/>
          <a:p>
            <a:pPr algn="l"/>
            <a:r>
              <a:rPr sz="1700" b="1">
                <a:solidFill>
                  <a:srgbClr val="26225C"/>
                </a:solidFill>
                <a:latin typeface="Aptos"/>
              </a:rPr>
              <a:t>Schedule</a:t>
            </a:r>
          </a:p>
        </p:txBody>
      </p:sp>
      <p:sp>
        <p:nvSpPr>
          <p:cNvPr id="18" name="TextBox 17"/>
          <p:cNvSpPr txBox="1"/>
          <p:nvPr/>
        </p:nvSpPr>
        <p:spPr>
          <a:xfrm>
            <a:off x="914400" y="4498848"/>
            <a:ext cx="4727448" cy="1069848"/>
          </a:xfrm>
          <a:prstGeom prst="rect">
            <a:avLst/>
          </a:prstGeom>
          <a:noFill/>
        </p:spPr>
        <p:txBody>
          <a:bodyPr wrap="square" anchor="t">
            <a:spAutoFit/>
          </a:bodyPr>
          <a:lstStyle/>
          <a:p>
            <a:pPr algn="l"/>
            <a:r>
              <a:rPr sz="1300" b="0">
                <a:solidFill>
                  <a:srgbClr val="232B3C"/>
                </a:solidFill>
                <a:latin typeface="Aptos"/>
              </a:rPr>
              <a:t>Integration and testing effort across UI, agents, RAG and database layers.</a:t>
            </a:r>
          </a:p>
        </p:txBody>
      </p:sp>
      <p:sp>
        <p:nvSpPr>
          <p:cNvPr id="19" name="Rounded Rectangle 18"/>
          <p:cNvSpPr/>
          <p:nvPr/>
        </p:nvSpPr>
        <p:spPr>
          <a:xfrm>
            <a:off x="6199632" y="3931920"/>
            <a:ext cx="5074920" cy="17830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99632" y="3931920"/>
            <a:ext cx="50292" cy="1783080"/>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4096511"/>
            <a:ext cx="4727448" cy="320040"/>
          </a:xfrm>
          <a:prstGeom prst="rect">
            <a:avLst/>
          </a:prstGeom>
          <a:noFill/>
        </p:spPr>
        <p:txBody>
          <a:bodyPr wrap="square" anchor="t">
            <a:spAutoFit/>
          </a:bodyPr>
          <a:lstStyle/>
          <a:p>
            <a:pPr algn="l"/>
            <a:r>
              <a:rPr sz="1700" b="1">
                <a:solidFill>
                  <a:srgbClr val="26225C"/>
                </a:solidFill>
                <a:latin typeface="Aptos"/>
              </a:rPr>
              <a:t>Business</a:t>
            </a:r>
          </a:p>
        </p:txBody>
      </p:sp>
      <p:sp>
        <p:nvSpPr>
          <p:cNvPr id="22" name="TextBox 21"/>
          <p:cNvSpPr txBox="1"/>
          <p:nvPr/>
        </p:nvSpPr>
        <p:spPr>
          <a:xfrm>
            <a:off x="6400800" y="4498848"/>
            <a:ext cx="4727448" cy="1069848"/>
          </a:xfrm>
          <a:prstGeom prst="rect">
            <a:avLst/>
          </a:prstGeom>
          <a:noFill/>
        </p:spPr>
        <p:txBody>
          <a:bodyPr wrap="square" anchor="t">
            <a:spAutoFit/>
          </a:bodyPr>
          <a:lstStyle/>
          <a:p>
            <a:pPr algn="l"/>
            <a:r>
              <a:rPr sz="1300" b="0">
                <a:solidFill>
                  <a:srgbClr val="232B3C"/>
                </a:solidFill>
                <a:latin typeface="Aptos"/>
              </a:rPr>
              <a:t>User adoption, recurring AI/API costs and changing business requirements.</a:t>
            </a:r>
          </a:p>
        </p:txBody>
      </p:sp>
      <p:sp>
        <p:nvSpPr>
          <p:cNvPr id="23" name="TextBox 22"/>
          <p:cNvSpPr txBox="1"/>
          <p:nvPr/>
        </p:nvSpPr>
        <p:spPr>
          <a:xfrm>
            <a:off x="960120" y="5925312"/>
            <a:ext cx="10241280" cy="310896"/>
          </a:xfrm>
          <a:prstGeom prst="rect">
            <a:avLst/>
          </a:prstGeom>
          <a:noFill/>
        </p:spPr>
        <p:txBody>
          <a:bodyPr wrap="square" anchor="t">
            <a:spAutoFit/>
          </a:bodyPr>
          <a:lstStyle/>
          <a:p>
            <a:pPr algn="ctr"/>
            <a:r>
              <a:rPr sz="1350" b="1">
                <a:solidFill>
                  <a:srgbClr val="26225C"/>
                </a:solidFill>
                <a:latin typeface="Aptos"/>
              </a:rPr>
              <a:t>Risk focus: protect response quality, data integrity, integration stability and delivery continuity.</a:t>
            </a:r>
          </a:p>
        </p:txBody>
      </p:sp>
      <p:sp>
        <p:nvSpPr>
          <p:cNvPr id="24" name="Rectangle 23"/>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28" name="TextBox 27">
            <a:extLst>
              <a:ext uri="{FF2B5EF4-FFF2-40B4-BE49-F238E27FC236}">
                <a16:creationId xmlns:a16="http://schemas.microsoft.com/office/drawing/2014/main" id="{F91E38D0-E2E9-60A3-4413-BB0C16954158}"/>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12 of 16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RISK RESPONSE</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Risk Prioritization &amp; Backup Controls</a:t>
            </a:r>
          </a:p>
        </p:txBody>
      </p:sp>
      <p:sp>
        <p:nvSpPr>
          <p:cNvPr id="6" name="TextBox 5"/>
          <p:cNvSpPr txBox="1"/>
          <p:nvPr/>
        </p:nvSpPr>
        <p:spPr>
          <a:xfrm>
            <a:off x="713232" y="1188720"/>
            <a:ext cx="10698480" cy="307777"/>
          </a:xfrm>
          <a:prstGeom prst="rect">
            <a:avLst/>
          </a:prstGeom>
          <a:noFill/>
        </p:spPr>
        <p:txBody>
          <a:bodyPr wrap="square" anchor="t">
            <a:spAutoFit/>
          </a:bodyPr>
          <a:lstStyle/>
          <a:p>
            <a:r>
              <a:rPr lang="en-IN" sz="1350" dirty="0">
                <a:solidFill>
                  <a:srgbClr val="64748B"/>
                </a:solidFill>
                <a:latin typeface="Aptos" panose="020B0004020202020204" pitchFamily="34" charset="0"/>
              </a:rPr>
              <a:t>The following steps can help make the system more reliable and handle possible risks during development</a:t>
            </a:r>
            <a:r>
              <a:rPr lang="en-US" sz="1350" b="0" dirty="0">
                <a:solidFill>
                  <a:srgbClr val="64748B"/>
                </a:solidFill>
                <a:latin typeface="Aptos"/>
              </a:rPr>
              <a:t>.</a:t>
            </a:r>
          </a:p>
        </p:txBody>
      </p:sp>
      <p:sp>
        <p:nvSpPr>
          <p:cNvPr id="7" name="Rounded Rectangle 6"/>
          <p:cNvSpPr/>
          <p:nvPr/>
        </p:nvSpPr>
        <p:spPr>
          <a:xfrm>
            <a:off x="713232" y="1737360"/>
            <a:ext cx="10698480" cy="84124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32688" y="1901952"/>
            <a:ext cx="457200" cy="45720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11095"/>
            <a:ext cx="457200" cy="438912"/>
          </a:xfrm>
          <a:prstGeom prst="rect">
            <a:avLst/>
          </a:prstGeom>
          <a:noFill/>
        </p:spPr>
        <p:txBody>
          <a:bodyPr wrap="square" anchor="ctr">
            <a:spAutoFit/>
          </a:bodyPr>
          <a:lstStyle/>
          <a:p>
            <a:pPr algn="ctr"/>
            <a:r>
              <a:rPr sz="1100" b="1">
                <a:solidFill>
                  <a:srgbClr val="FFFFFF"/>
                </a:solidFill>
                <a:latin typeface="Aptos"/>
              </a:rPr>
              <a:t>1</a:t>
            </a:r>
          </a:p>
        </p:txBody>
      </p:sp>
      <p:sp>
        <p:nvSpPr>
          <p:cNvPr id="10" name="TextBox 9"/>
          <p:cNvSpPr txBox="1"/>
          <p:nvPr/>
        </p:nvSpPr>
        <p:spPr>
          <a:xfrm>
            <a:off x="1600200" y="1865376"/>
            <a:ext cx="3749039" cy="256032"/>
          </a:xfrm>
          <a:prstGeom prst="rect">
            <a:avLst/>
          </a:prstGeom>
          <a:noFill/>
        </p:spPr>
        <p:txBody>
          <a:bodyPr wrap="square" anchor="t">
            <a:spAutoFit/>
          </a:bodyPr>
          <a:lstStyle/>
          <a:p>
            <a:pPr algn="l"/>
            <a:r>
              <a:rPr sz="1450" b="1">
                <a:solidFill>
                  <a:srgbClr val="26225C"/>
                </a:solidFill>
                <a:latin typeface="Aptos"/>
              </a:rPr>
              <a:t>High-impact: AI response quality</a:t>
            </a:r>
          </a:p>
        </p:txBody>
      </p:sp>
      <p:sp>
        <p:nvSpPr>
          <p:cNvPr id="11" name="TextBox 10"/>
          <p:cNvSpPr txBox="1"/>
          <p:nvPr/>
        </p:nvSpPr>
        <p:spPr>
          <a:xfrm>
            <a:off x="5212080" y="1856231"/>
            <a:ext cx="5760720" cy="530352"/>
          </a:xfrm>
          <a:prstGeom prst="rect">
            <a:avLst/>
          </a:prstGeom>
          <a:noFill/>
        </p:spPr>
        <p:txBody>
          <a:bodyPr wrap="square" anchor="t">
            <a:spAutoFit/>
          </a:bodyPr>
          <a:lstStyle/>
          <a:p>
            <a:pPr algn="l"/>
            <a:r>
              <a:rPr sz="1250" b="0" dirty="0">
                <a:solidFill>
                  <a:srgbClr val="232B3C"/>
                </a:solidFill>
                <a:latin typeface="Aptos"/>
              </a:rPr>
              <a:t>Use RAG, verified company documents and controlled prompts; add validation before sensitive outputs.</a:t>
            </a:r>
          </a:p>
        </p:txBody>
      </p:sp>
      <p:sp>
        <p:nvSpPr>
          <p:cNvPr id="12" name="Rounded Rectangle 11"/>
          <p:cNvSpPr/>
          <p:nvPr/>
        </p:nvSpPr>
        <p:spPr>
          <a:xfrm>
            <a:off x="713232" y="2788920"/>
            <a:ext cx="10698480" cy="84124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32688" y="2953512"/>
            <a:ext cx="457200" cy="45720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2962656"/>
            <a:ext cx="457200" cy="438912"/>
          </a:xfrm>
          <a:prstGeom prst="rect">
            <a:avLst/>
          </a:prstGeom>
          <a:noFill/>
        </p:spPr>
        <p:txBody>
          <a:bodyPr wrap="square" anchor="ctr">
            <a:spAutoFit/>
          </a:bodyPr>
          <a:lstStyle/>
          <a:p>
            <a:pPr algn="ctr"/>
            <a:r>
              <a:rPr sz="1100" b="1">
                <a:solidFill>
                  <a:srgbClr val="FFFFFF"/>
                </a:solidFill>
                <a:latin typeface="Aptos"/>
              </a:rPr>
              <a:t>2</a:t>
            </a:r>
          </a:p>
        </p:txBody>
      </p:sp>
      <p:sp>
        <p:nvSpPr>
          <p:cNvPr id="15" name="TextBox 14"/>
          <p:cNvSpPr txBox="1"/>
          <p:nvPr/>
        </p:nvSpPr>
        <p:spPr>
          <a:xfrm>
            <a:off x="1600200" y="2916936"/>
            <a:ext cx="3749039" cy="256032"/>
          </a:xfrm>
          <a:prstGeom prst="rect">
            <a:avLst/>
          </a:prstGeom>
          <a:noFill/>
        </p:spPr>
        <p:txBody>
          <a:bodyPr wrap="square" anchor="t">
            <a:spAutoFit/>
          </a:bodyPr>
          <a:lstStyle/>
          <a:p>
            <a:pPr algn="l"/>
            <a:r>
              <a:rPr sz="1450" b="1">
                <a:solidFill>
                  <a:srgbClr val="26225C"/>
                </a:solidFill>
                <a:latin typeface="Aptos"/>
              </a:rPr>
              <a:t>High-impact: External API dependency</a:t>
            </a:r>
          </a:p>
        </p:txBody>
      </p:sp>
      <p:sp>
        <p:nvSpPr>
          <p:cNvPr id="16" name="TextBox 15"/>
          <p:cNvSpPr txBox="1"/>
          <p:nvPr/>
        </p:nvSpPr>
        <p:spPr>
          <a:xfrm>
            <a:off x="5212080" y="2907791"/>
            <a:ext cx="5760720" cy="530352"/>
          </a:xfrm>
          <a:prstGeom prst="rect">
            <a:avLst/>
          </a:prstGeom>
          <a:noFill/>
        </p:spPr>
        <p:txBody>
          <a:bodyPr wrap="square" anchor="t">
            <a:spAutoFit/>
          </a:bodyPr>
          <a:lstStyle/>
          <a:p>
            <a:pPr algn="l"/>
            <a:r>
              <a:rPr sz="1250" b="0">
                <a:solidFill>
                  <a:srgbClr val="232B3C"/>
                </a:solidFill>
                <a:latin typeface="Aptos"/>
              </a:rPr>
              <a:t>Keep the agent layer modular and support alternative LLM providers listed in the specifications.</a:t>
            </a:r>
          </a:p>
        </p:txBody>
      </p:sp>
      <p:sp>
        <p:nvSpPr>
          <p:cNvPr id="17" name="Rounded Rectangle 16"/>
          <p:cNvSpPr/>
          <p:nvPr/>
        </p:nvSpPr>
        <p:spPr>
          <a:xfrm>
            <a:off x="713232" y="3840479"/>
            <a:ext cx="10698480" cy="84124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32688" y="4005071"/>
            <a:ext cx="457200" cy="4572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4014215"/>
            <a:ext cx="457200" cy="438912"/>
          </a:xfrm>
          <a:prstGeom prst="rect">
            <a:avLst/>
          </a:prstGeom>
          <a:noFill/>
        </p:spPr>
        <p:txBody>
          <a:bodyPr wrap="square" anchor="ctr">
            <a:spAutoFit/>
          </a:bodyPr>
          <a:lstStyle/>
          <a:p>
            <a:pPr algn="ctr"/>
            <a:r>
              <a:rPr sz="1100" b="1">
                <a:solidFill>
                  <a:srgbClr val="FFFFFF"/>
                </a:solidFill>
                <a:latin typeface="Aptos"/>
              </a:rPr>
              <a:t>3</a:t>
            </a:r>
          </a:p>
        </p:txBody>
      </p:sp>
      <p:sp>
        <p:nvSpPr>
          <p:cNvPr id="20" name="TextBox 19"/>
          <p:cNvSpPr txBox="1"/>
          <p:nvPr/>
        </p:nvSpPr>
        <p:spPr>
          <a:xfrm>
            <a:off x="1600200" y="3968495"/>
            <a:ext cx="3749039" cy="256032"/>
          </a:xfrm>
          <a:prstGeom prst="rect">
            <a:avLst/>
          </a:prstGeom>
          <a:noFill/>
        </p:spPr>
        <p:txBody>
          <a:bodyPr wrap="square" anchor="t">
            <a:spAutoFit/>
          </a:bodyPr>
          <a:lstStyle/>
          <a:p>
            <a:pPr algn="l"/>
            <a:r>
              <a:rPr sz="1450" b="1">
                <a:solidFill>
                  <a:srgbClr val="26225C"/>
                </a:solidFill>
                <a:latin typeface="Aptos"/>
              </a:rPr>
              <a:t>Medium: Integration delays</a:t>
            </a:r>
          </a:p>
        </p:txBody>
      </p:sp>
      <p:sp>
        <p:nvSpPr>
          <p:cNvPr id="21" name="TextBox 20"/>
          <p:cNvSpPr txBox="1"/>
          <p:nvPr/>
        </p:nvSpPr>
        <p:spPr>
          <a:xfrm>
            <a:off x="5212080" y="3959351"/>
            <a:ext cx="5760720" cy="530352"/>
          </a:xfrm>
          <a:prstGeom prst="rect">
            <a:avLst/>
          </a:prstGeom>
          <a:noFill/>
        </p:spPr>
        <p:txBody>
          <a:bodyPr wrap="square" anchor="t">
            <a:spAutoFit/>
          </a:bodyPr>
          <a:lstStyle/>
          <a:p>
            <a:pPr algn="l"/>
            <a:r>
              <a:rPr sz="1250" b="0">
                <a:solidFill>
                  <a:srgbClr val="232B3C"/>
                </a:solidFill>
                <a:latin typeface="Aptos"/>
              </a:rPr>
              <a:t>Develop and test agents independently before final multi-agent orchestration.</a:t>
            </a:r>
          </a:p>
        </p:txBody>
      </p:sp>
      <p:sp>
        <p:nvSpPr>
          <p:cNvPr id="22" name="Rounded Rectangle 21"/>
          <p:cNvSpPr/>
          <p:nvPr/>
        </p:nvSpPr>
        <p:spPr>
          <a:xfrm>
            <a:off x="713232" y="4892040"/>
            <a:ext cx="10698480" cy="841248"/>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32688" y="5056631"/>
            <a:ext cx="457200" cy="457200"/>
          </a:xfrm>
          <a:prstGeom prst="ellipse">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5065775"/>
            <a:ext cx="457200" cy="438912"/>
          </a:xfrm>
          <a:prstGeom prst="rect">
            <a:avLst/>
          </a:prstGeom>
          <a:noFill/>
        </p:spPr>
        <p:txBody>
          <a:bodyPr wrap="square" anchor="ctr">
            <a:spAutoFit/>
          </a:bodyPr>
          <a:lstStyle/>
          <a:p>
            <a:pPr algn="ctr"/>
            <a:r>
              <a:rPr sz="1100" b="1">
                <a:solidFill>
                  <a:srgbClr val="FFFFFF"/>
                </a:solidFill>
                <a:latin typeface="Aptos"/>
              </a:rPr>
              <a:t>4</a:t>
            </a:r>
          </a:p>
        </p:txBody>
      </p:sp>
      <p:sp>
        <p:nvSpPr>
          <p:cNvPr id="25" name="TextBox 24"/>
          <p:cNvSpPr txBox="1"/>
          <p:nvPr/>
        </p:nvSpPr>
        <p:spPr>
          <a:xfrm>
            <a:off x="1600200" y="5020055"/>
            <a:ext cx="3749039" cy="256032"/>
          </a:xfrm>
          <a:prstGeom prst="rect">
            <a:avLst/>
          </a:prstGeom>
          <a:noFill/>
        </p:spPr>
        <p:txBody>
          <a:bodyPr wrap="square" anchor="t">
            <a:spAutoFit/>
          </a:bodyPr>
          <a:lstStyle/>
          <a:p>
            <a:pPr algn="l"/>
            <a:r>
              <a:rPr sz="1450" b="1">
                <a:solidFill>
                  <a:srgbClr val="26225C"/>
                </a:solidFill>
                <a:latin typeface="Aptos"/>
              </a:rPr>
              <a:t>Medium: Data quality</a:t>
            </a:r>
          </a:p>
        </p:txBody>
      </p:sp>
      <p:sp>
        <p:nvSpPr>
          <p:cNvPr id="26" name="TextBox 25"/>
          <p:cNvSpPr txBox="1"/>
          <p:nvPr/>
        </p:nvSpPr>
        <p:spPr>
          <a:xfrm>
            <a:off x="5212080" y="5010912"/>
            <a:ext cx="5760720" cy="530352"/>
          </a:xfrm>
          <a:prstGeom prst="rect">
            <a:avLst/>
          </a:prstGeom>
          <a:noFill/>
        </p:spPr>
        <p:txBody>
          <a:bodyPr wrap="square" anchor="t">
            <a:spAutoFit/>
          </a:bodyPr>
          <a:lstStyle/>
          <a:p>
            <a:pPr algn="l"/>
            <a:r>
              <a:rPr sz="1250" b="0">
                <a:solidFill>
                  <a:srgbClr val="232B3C"/>
                </a:solidFill>
                <a:latin typeface="Aptos"/>
              </a:rPr>
              <a:t>Validate lead fields and knowledge documents before CRM/RAG ingestion.</a:t>
            </a:r>
          </a:p>
        </p:txBody>
      </p:sp>
      <p:sp>
        <p:nvSpPr>
          <p:cNvPr id="27" name="Rounded Rectangle 26"/>
          <p:cNvSpPr/>
          <p:nvPr/>
        </p:nvSpPr>
        <p:spPr>
          <a:xfrm>
            <a:off x="713232" y="5961888"/>
            <a:ext cx="10698480" cy="274320"/>
          </a:xfrm>
          <a:prstGeom prst="roundRect">
            <a:avLst/>
          </a:prstGeom>
          <a:solidFill>
            <a:srgbClr val="F5F7FA"/>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6112" y="5989320"/>
            <a:ext cx="10332720" cy="201168"/>
          </a:xfrm>
          <a:prstGeom prst="rect">
            <a:avLst/>
          </a:prstGeom>
          <a:noFill/>
        </p:spPr>
        <p:txBody>
          <a:bodyPr wrap="square" anchor="t">
            <a:spAutoFit/>
          </a:bodyPr>
          <a:lstStyle/>
          <a:p>
            <a:pPr algn="ctr"/>
            <a:r>
              <a:rPr sz="1120" b="0">
                <a:solidFill>
                  <a:srgbClr val="64748B"/>
                </a:solidFill>
                <a:latin typeface="Aptos"/>
              </a:rPr>
              <a:t>Backup principle: keep the system modular so one component can be isolated or replaced without redesigning the entire platform.</a:t>
            </a:r>
          </a:p>
        </p:txBody>
      </p:sp>
      <p:sp>
        <p:nvSpPr>
          <p:cNvPr id="29" name="Rectangle 28"/>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33" name="TextBox 32">
            <a:extLst>
              <a:ext uri="{FF2B5EF4-FFF2-40B4-BE49-F238E27FC236}">
                <a16:creationId xmlns:a16="http://schemas.microsoft.com/office/drawing/2014/main" id="{5D571918-F8BF-38A6-22A6-34F45788279F}"/>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13 of 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dirty="0">
                <a:solidFill>
                  <a:srgbClr val="4F46E5"/>
                </a:solidFill>
                <a:latin typeface="Aptos"/>
              </a:rPr>
              <a:t>SYSTEM OVERVIEW</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System Flow Supporting the Review</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a:solidFill>
                  <a:srgbClr val="64748B"/>
                </a:solidFill>
                <a:latin typeface="Aptos"/>
              </a:rPr>
              <a:t>The architecture connects customer input, intent routing, RAG retrieval, specialized agents and CRM outputs.</a:t>
            </a:r>
          </a:p>
        </p:txBody>
      </p:sp>
      <p:sp>
        <p:nvSpPr>
          <p:cNvPr id="7" name="Rounded Rectangle 6"/>
          <p:cNvSpPr/>
          <p:nvPr/>
        </p:nvSpPr>
        <p:spPr>
          <a:xfrm>
            <a:off x="502920" y="2148840"/>
            <a:ext cx="1993392" cy="187451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2148840"/>
            <a:ext cx="50292" cy="1874519"/>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2313432"/>
            <a:ext cx="1645920" cy="320040"/>
          </a:xfrm>
          <a:prstGeom prst="rect">
            <a:avLst/>
          </a:prstGeom>
          <a:noFill/>
        </p:spPr>
        <p:txBody>
          <a:bodyPr wrap="square" anchor="t">
            <a:spAutoFit/>
          </a:bodyPr>
          <a:lstStyle/>
          <a:p>
            <a:pPr algn="l"/>
            <a:r>
              <a:rPr sz="1400" b="1">
                <a:solidFill>
                  <a:srgbClr val="26225C"/>
                </a:solidFill>
                <a:latin typeface="Aptos"/>
              </a:rPr>
              <a:t>Customer Website</a:t>
            </a:r>
          </a:p>
        </p:txBody>
      </p:sp>
      <p:sp>
        <p:nvSpPr>
          <p:cNvPr id="10" name="TextBox 9"/>
          <p:cNvSpPr txBox="1"/>
          <p:nvPr/>
        </p:nvSpPr>
        <p:spPr>
          <a:xfrm>
            <a:off x="704088" y="2715768"/>
            <a:ext cx="1645920" cy="1161287"/>
          </a:xfrm>
          <a:prstGeom prst="rect">
            <a:avLst/>
          </a:prstGeom>
          <a:noFill/>
        </p:spPr>
        <p:txBody>
          <a:bodyPr wrap="square" anchor="t">
            <a:spAutoFit/>
          </a:bodyPr>
          <a:lstStyle/>
          <a:p>
            <a:pPr algn="l"/>
            <a:r>
              <a:rPr sz="1150" b="0">
                <a:solidFill>
                  <a:srgbClr val="232B3C"/>
                </a:solidFill>
                <a:latin typeface="Aptos"/>
              </a:rPr>
              <a:t>Query / Lead Details</a:t>
            </a:r>
          </a:p>
        </p:txBody>
      </p:sp>
      <p:sp>
        <p:nvSpPr>
          <p:cNvPr id="11" name="TextBox 10"/>
          <p:cNvSpPr txBox="1"/>
          <p:nvPr/>
        </p:nvSpPr>
        <p:spPr>
          <a:xfrm>
            <a:off x="2468880" y="2816352"/>
            <a:ext cx="292608" cy="320040"/>
          </a:xfrm>
          <a:prstGeom prst="rect">
            <a:avLst/>
          </a:prstGeom>
          <a:noFill/>
        </p:spPr>
        <p:txBody>
          <a:bodyPr wrap="square" anchor="t">
            <a:spAutoFit/>
          </a:bodyPr>
          <a:lstStyle/>
          <a:p>
            <a:pPr algn="ctr"/>
            <a:r>
              <a:rPr sz="2300" b="1">
                <a:solidFill>
                  <a:srgbClr val="4F46E5"/>
                </a:solidFill>
                <a:latin typeface="Aptos"/>
              </a:rPr>
              <a:t>→</a:t>
            </a:r>
          </a:p>
        </p:txBody>
      </p:sp>
      <p:sp>
        <p:nvSpPr>
          <p:cNvPr id="12" name="Rounded Rectangle 11"/>
          <p:cNvSpPr/>
          <p:nvPr/>
        </p:nvSpPr>
        <p:spPr>
          <a:xfrm>
            <a:off x="2788920" y="2148840"/>
            <a:ext cx="1993392" cy="187451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88920" y="2148840"/>
            <a:ext cx="50292" cy="1874519"/>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90088" y="2313432"/>
            <a:ext cx="1645920" cy="320040"/>
          </a:xfrm>
          <a:prstGeom prst="rect">
            <a:avLst/>
          </a:prstGeom>
          <a:noFill/>
        </p:spPr>
        <p:txBody>
          <a:bodyPr wrap="square" anchor="t">
            <a:spAutoFit/>
          </a:bodyPr>
          <a:lstStyle/>
          <a:p>
            <a:pPr algn="l"/>
            <a:r>
              <a:rPr sz="1400" b="1">
                <a:solidFill>
                  <a:srgbClr val="26225C"/>
                </a:solidFill>
                <a:latin typeface="Aptos"/>
              </a:rPr>
              <a:t>Intent Routing</a:t>
            </a:r>
          </a:p>
        </p:txBody>
      </p:sp>
      <p:sp>
        <p:nvSpPr>
          <p:cNvPr id="15" name="TextBox 14"/>
          <p:cNvSpPr txBox="1"/>
          <p:nvPr/>
        </p:nvSpPr>
        <p:spPr>
          <a:xfrm>
            <a:off x="2990088" y="2715768"/>
            <a:ext cx="1645920" cy="1161287"/>
          </a:xfrm>
          <a:prstGeom prst="rect">
            <a:avLst/>
          </a:prstGeom>
          <a:noFill/>
        </p:spPr>
        <p:txBody>
          <a:bodyPr wrap="square" anchor="t">
            <a:spAutoFit/>
          </a:bodyPr>
          <a:lstStyle/>
          <a:p>
            <a:pPr algn="l"/>
            <a:r>
              <a:rPr sz="1150" b="0">
                <a:solidFill>
                  <a:srgbClr val="232B3C"/>
                </a:solidFill>
                <a:latin typeface="Aptos"/>
              </a:rPr>
              <a:t>Sales • Marketing • Lead</a:t>
            </a:r>
          </a:p>
        </p:txBody>
      </p:sp>
      <p:sp>
        <p:nvSpPr>
          <p:cNvPr id="16" name="TextBox 15"/>
          <p:cNvSpPr txBox="1"/>
          <p:nvPr/>
        </p:nvSpPr>
        <p:spPr>
          <a:xfrm>
            <a:off x="4754880" y="2816352"/>
            <a:ext cx="292608" cy="320040"/>
          </a:xfrm>
          <a:prstGeom prst="rect">
            <a:avLst/>
          </a:prstGeom>
          <a:noFill/>
        </p:spPr>
        <p:txBody>
          <a:bodyPr wrap="square" anchor="t">
            <a:spAutoFit/>
          </a:bodyPr>
          <a:lstStyle/>
          <a:p>
            <a:pPr algn="ctr"/>
            <a:r>
              <a:rPr sz="2300" b="1">
                <a:solidFill>
                  <a:srgbClr val="4F46E5"/>
                </a:solidFill>
                <a:latin typeface="Aptos"/>
              </a:rPr>
              <a:t>→</a:t>
            </a:r>
          </a:p>
        </p:txBody>
      </p:sp>
      <p:sp>
        <p:nvSpPr>
          <p:cNvPr id="17" name="Rounded Rectangle 16"/>
          <p:cNvSpPr/>
          <p:nvPr/>
        </p:nvSpPr>
        <p:spPr>
          <a:xfrm>
            <a:off x="5074920" y="2148840"/>
            <a:ext cx="1993392" cy="187451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74920" y="2148840"/>
            <a:ext cx="50292" cy="1874519"/>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76088" y="2313432"/>
            <a:ext cx="1645920" cy="320040"/>
          </a:xfrm>
          <a:prstGeom prst="rect">
            <a:avLst/>
          </a:prstGeom>
          <a:noFill/>
        </p:spPr>
        <p:txBody>
          <a:bodyPr wrap="square" anchor="t">
            <a:spAutoFit/>
          </a:bodyPr>
          <a:lstStyle/>
          <a:p>
            <a:pPr algn="l"/>
            <a:r>
              <a:rPr sz="1400" b="1">
                <a:solidFill>
                  <a:srgbClr val="26225C"/>
                </a:solidFill>
                <a:latin typeface="Aptos"/>
              </a:rPr>
              <a:t>RAG Knowledge</a:t>
            </a:r>
          </a:p>
        </p:txBody>
      </p:sp>
      <p:sp>
        <p:nvSpPr>
          <p:cNvPr id="20" name="TextBox 19"/>
          <p:cNvSpPr txBox="1"/>
          <p:nvPr/>
        </p:nvSpPr>
        <p:spPr>
          <a:xfrm>
            <a:off x="5276088" y="2715768"/>
            <a:ext cx="1645920" cy="1161287"/>
          </a:xfrm>
          <a:prstGeom prst="rect">
            <a:avLst/>
          </a:prstGeom>
          <a:noFill/>
        </p:spPr>
        <p:txBody>
          <a:bodyPr wrap="square" anchor="t">
            <a:spAutoFit/>
          </a:bodyPr>
          <a:lstStyle/>
          <a:p>
            <a:pPr algn="l"/>
            <a:r>
              <a:rPr sz="1150" b="0">
                <a:solidFill>
                  <a:srgbClr val="232B3C"/>
                </a:solidFill>
                <a:latin typeface="Aptos"/>
              </a:rPr>
              <a:t>Company docs • FAQs</a:t>
            </a:r>
          </a:p>
        </p:txBody>
      </p:sp>
      <p:sp>
        <p:nvSpPr>
          <p:cNvPr id="21" name="TextBox 20"/>
          <p:cNvSpPr txBox="1"/>
          <p:nvPr/>
        </p:nvSpPr>
        <p:spPr>
          <a:xfrm>
            <a:off x="7040880" y="2816352"/>
            <a:ext cx="292608" cy="320040"/>
          </a:xfrm>
          <a:prstGeom prst="rect">
            <a:avLst/>
          </a:prstGeom>
          <a:noFill/>
        </p:spPr>
        <p:txBody>
          <a:bodyPr wrap="square" anchor="t">
            <a:spAutoFit/>
          </a:bodyPr>
          <a:lstStyle/>
          <a:p>
            <a:pPr algn="ctr"/>
            <a:r>
              <a:rPr sz="2300" b="1">
                <a:solidFill>
                  <a:srgbClr val="4F46E5"/>
                </a:solidFill>
                <a:latin typeface="Aptos"/>
              </a:rPr>
              <a:t>→</a:t>
            </a:r>
          </a:p>
        </p:txBody>
      </p:sp>
      <p:sp>
        <p:nvSpPr>
          <p:cNvPr id="22" name="Rounded Rectangle 21"/>
          <p:cNvSpPr/>
          <p:nvPr/>
        </p:nvSpPr>
        <p:spPr>
          <a:xfrm>
            <a:off x="7360920" y="2148840"/>
            <a:ext cx="1993392" cy="187451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60920" y="2148840"/>
            <a:ext cx="50292" cy="1874519"/>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62088" y="2313432"/>
            <a:ext cx="1645920" cy="320040"/>
          </a:xfrm>
          <a:prstGeom prst="rect">
            <a:avLst/>
          </a:prstGeom>
          <a:noFill/>
        </p:spPr>
        <p:txBody>
          <a:bodyPr wrap="square" anchor="t">
            <a:spAutoFit/>
          </a:bodyPr>
          <a:lstStyle/>
          <a:p>
            <a:pPr algn="l"/>
            <a:r>
              <a:rPr sz="1400" b="1">
                <a:solidFill>
                  <a:srgbClr val="26225C"/>
                </a:solidFill>
                <a:latin typeface="Aptos"/>
              </a:rPr>
              <a:t>Agent Layer</a:t>
            </a:r>
          </a:p>
        </p:txBody>
      </p:sp>
      <p:sp>
        <p:nvSpPr>
          <p:cNvPr id="25" name="TextBox 24"/>
          <p:cNvSpPr txBox="1"/>
          <p:nvPr/>
        </p:nvSpPr>
        <p:spPr>
          <a:xfrm>
            <a:off x="7562088" y="2715768"/>
            <a:ext cx="1645920" cy="1161287"/>
          </a:xfrm>
          <a:prstGeom prst="rect">
            <a:avLst/>
          </a:prstGeom>
          <a:noFill/>
        </p:spPr>
        <p:txBody>
          <a:bodyPr wrap="square" anchor="t">
            <a:spAutoFit/>
          </a:bodyPr>
          <a:lstStyle/>
          <a:p>
            <a:pPr algn="l"/>
            <a:r>
              <a:rPr sz="1150" b="0">
                <a:solidFill>
                  <a:srgbClr val="232B3C"/>
                </a:solidFill>
                <a:latin typeface="Aptos"/>
              </a:rPr>
              <a:t>Context-aware processing</a:t>
            </a:r>
          </a:p>
        </p:txBody>
      </p:sp>
      <p:sp>
        <p:nvSpPr>
          <p:cNvPr id="26" name="TextBox 25"/>
          <p:cNvSpPr txBox="1"/>
          <p:nvPr/>
        </p:nvSpPr>
        <p:spPr>
          <a:xfrm>
            <a:off x="9326880" y="2816352"/>
            <a:ext cx="292608" cy="320040"/>
          </a:xfrm>
          <a:prstGeom prst="rect">
            <a:avLst/>
          </a:prstGeom>
          <a:noFill/>
        </p:spPr>
        <p:txBody>
          <a:bodyPr wrap="square" anchor="t">
            <a:spAutoFit/>
          </a:bodyPr>
          <a:lstStyle/>
          <a:p>
            <a:pPr algn="ctr"/>
            <a:r>
              <a:rPr sz="2300" b="1">
                <a:solidFill>
                  <a:srgbClr val="4F46E5"/>
                </a:solidFill>
                <a:latin typeface="Aptos"/>
              </a:rPr>
              <a:t>→</a:t>
            </a:r>
          </a:p>
        </p:txBody>
      </p:sp>
      <p:sp>
        <p:nvSpPr>
          <p:cNvPr id="27" name="Rounded Rectangle 26"/>
          <p:cNvSpPr/>
          <p:nvPr/>
        </p:nvSpPr>
        <p:spPr>
          <a:xfrm>
            <a:off x="9646920" y="2148840"/>
            <a:ext cx="1993392" cy="1874519"/>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646920" y="2148840"/>
            <a:ext cx="50292" cy="1874519"/>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48088" y="2313432"/>
            <a:ext cx="1645920" cy="320040"/>
          </a:xfrm>
          <a:prstGeom prst="rect">
            <a:avLst/>
          </a:prstGeom>
          <a:noFill/>
        </p:spPr>
        <p:txBody>
          <a:bodyPr wrap="square" anchor="t">
            <a:spAutoFit/>
          </a:bodyPr>
          <a:lstStyle/>
          <a:p>
            <a:pPr algn="l"/>
            <a:r>
              <a:rPr sz="1400" b="1">
                <a:solidFill>
                  <a:srgbClr val="26225C"/>
                </a:solidFill>
                <a:latin typeface="Aptos"/>
              </a:rPr>
              <a:t>CRM / Reports</a:t>
            </a:r>
          </a:p>
        </p:txBody>
      </p:sp>
      <p:sp>
        <p:nvSpPr>
          <p:cNvPr id="30" name="TextBox 29"/>
          <p:cNvSpPr txBox="1"/>
          <p:nvPr/>
        </p:nvSpPr>
        <p:spPr>
          <a:xfrm>
            <a:off x="9848088" y="2715768"/>
            <a:ext cx="1645920" cy="1161287"/>
          </a:xfrm>
          <a:prstGeom prst="rect">
            <a:avLst/>
          </a:prstGeom>
          <a:noFill/>
        </p:spPr>
        <p:txBody>
          <a:bodyPr wrap="square" anchor="t">
            <a:spAutoFit/>
          </a:bodyPr>
          <a:lstStyle/>
          <a:p>
            <a:pPr algn="l"/>
            <a:r>
              <a:rPr sz="1150" b="0">
                <a:solidFill>
                  <a:srgbClr val="232B3C"/>
                </a:solidFill>
                <a:latin typeface="Aptos"/>
              </a:rPr>
              <a:t>Lead records • Insights</a:t>
            </a:r>
          </a:p>
        </p:txBody>
      </p:sp>
      <p:sp>
        <p:nvSpPr>
          <p:cNvPr id="31" name="Rounded Rectangle 30"/>
          <p:cNvSpPr/>
          <p:nvPr/>
        </p:nvSpPr>
        <p:spPr>
          <a:xfrm>
            <a:off x="1417320" y="4736592"/>
            <a:ext cx="9372600" cy="868680"/>
          </a:xfrm>
          <a:prstGeom prst="roundRect">
            <a:avLst/>
          </a:prstGeom>
          <a:solidFill>
            <a:srgbClr val="F5F7FA"/>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664208" y="4983480"/>
            <a:ext cx="1097280" cy="228600"/>
          </a:xfrm>
          <a:prstGeom prst="rect">
            <a:avLst/>
          </a:prstGeom>
          <a:noFill/>
        </p:spPr>
        <p:txBody>
          <a:bodyPr wrap="square" anchor="t">
            <a:spAutoFit/>
          </a:bodyPr>
          <a:lstStyle/>
          <a:p>
            <a:pPr algn="l"/>
            <a:r>
              <a:rPr sz="1300" b="1">
                <a:solidFill>
                  <a:srgbClr val="4F46E5"/>
                </a:solidFill>
                <a:latin typeface="Aptos"/>
              </a:rPr>
              <a:t>Core idea</a:t>
            </a:r>
          </a:p>
        </p:txBody>
      </p:sp>
      <p:sp>
        <p:nvSpPr>
          <p:cNvPr id="33" name="TextBox 32"/>
          <p:cNvSpPr txBox="1"/>
          <p:nvPr/>
        </p:nvSpPr>
        <p:spPr>
          <a:xfrm>
            <a:off x="2743200" y="4882896"/>
            <a:ext cx="7635240" cy="365760"/>
          </a:xfrm>
          <a:prstGeom prst="rect">
            <a:avLst/>
          </a:prstGeom>
          <a:noFill/>
        </p:spPr>
        <p:txBody>
          <a:bodyPr wrap="square" anchor="t">
            <a:spAutoFit/>
          </a:bodyPr>
          <a:lstStyle/>
          <a:p>
            <a:pPr algn="l"/>
            <a:r>
              <a:rPr sz="1500" b="1">
                <a:solidFill>
                  <a:srgbClr val="26225C"/>
                </a:solidFill>
                <a:latin typeface="Aptos"/>
              </a:rPr>
              <a:t>Specialized agents collaborate while RAG grounds responses in organization-specific information.</a:t>
            </a:r>
          </a:p>
        </p:txBody>
      </p:sp>
      <p:sp>
        <p:nvSpPr>
          <p:cNvPr id="34" name="Rectangle 33"/>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38" name="TextBox 37">
            <a:extLst>
              <a:ext uri="{FF2B5EF4-FFF2-40B4-BE49-F238E27FC236}">
                <a16:creationId xmlns:a16="http://schemas.microsoft.com/office/drawing/2014/main" id="{9B36B529-EFB6-A845-EC54-500E4E6B94AF}"/>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14 of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84048"/>
            <a:ext cx="4114800" cy="228600"/>
          </a:xfrm>
          <a:prstGeom prst="rect">
            <a:avLst/>
          </a:prstGeom>
          <a:noFill/>
        </p:spPr>
        <p:txBody>
          <a:bodyPr wrap="square" anchor="t">
            <a:spAutoFit/>
          </a:bodyPr>
          <a:lstStyle/>
          <a:p>
            <a:pPr algn="l"/>
            <a:r>
              <a:rPr sz="1050" b="1">
                <a:solidFill>
                  <a:srgbClr val="4F46E5"/>
                </a:solidFill>
                <a:latin typeface="Aptos"/>
              </a:rPr>
              <a:t>OUTCOME</a:t>
            </a:r>
          </a:p>
        </p:txBody>
      </p:sp>
      <p:sp>
        <p:nvSpPr>
          <p:cNvPr id="5" name="TextBox 4"/>
          <p:cNvSpPr txBox="1"/>
          <p:nvPr/>
        </p:nvSpPr>
        <p:spPr>
          <a:xfrm>
            <a:off x="713232" y="658368"/>
            <a:ext cx="10698480" cy="502920"/>
          </a:xfrm>
          <a:prstGeom prst="rect">
            <a:avLst/>
          </a:prstGeom>
          <a:noFill/>
        </p:spPr>
        <p:txBody>
          <a:bodyPr wrap="square" anchor="t">
            <a:spAutoFit/>
          </a:bodyPr>
          <a:lstStyle/>
          <a:p>
            <a:pPr algn="l"/>
            <a:r>
              <a:rPr sz="2700" b="1" dirty="0">
                <a:solidFill>
                  <a:srgbClr val="26225C"/>
                </a:solidFill>
                <a:latin typeface="Aptos"/>
              </a:rPr>
              <a:t>Expected Deliverables &amp; Project Outcome</a:t>
            </a:r>
          </a:p>
        </p:txBody>
      </p:sp>
      <p:sp>
        <p:nvSpPr>
          <p:cNvPr id="6" name="TextBox 5"/>
          <p:cNvSpPr txBox="1"/>
          <p:nvPr/>
        </p:nvSpPr>
        <p:spPr>
          <a:xfrm>
            <a:off x="713232" y="1188720"/>
            <a:ext cx="10698480" cy="438912"/>
          </a:xfrm>
          <a:prstGeom prst="rect">
            <a:avLst/>
          </a:prstGeom>
          <a:noFill/>
        </p:spPr>
        <p:txBody>
          <a:bodyPr wrap="square" anchor="t">
            <a:spAutoFit/>
          </a:bodyPr>
          <a:lstStyle/>
          <a:p>
            <a:pPr algn="l"/>
            <a:r>
              <a:rPr sz="1350" b="0">
                <a:solidFill>
                  <a:srgbClr val="64748B"/>
                </a:solidFill>
                <a:latin typeface="Aptos"/>
              </a:rPr>
              <a:t>The review is supported by a clear mapping from requirements to system outputs and business use.</a:t>
            </a:r>
          </a:p>
        </p:txBody>
      </p:sp>
      <p:sp>
        <p:nvSpPr>
          <p:cNvPr id="7" name="Rounded Rectangle 6"/>
          <p:cNvSpPr/>
          <p:nvPr/>
        </p:nvSpPr>
        <p:spPr>
          <a:xfrm>
            <a:off x="713232" y="1755648"/>
            <a:ext cx="3401568"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 y="1755648"/>
            <a:ext cx="50292" cy="36118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3054096" cy="320040"/>
          </a:xfrm>
          <a:prstGeom prst="rect">
            <a:avLst/>
          </a:prstGeom>
          <a:noFill/>
        </p:spPr>
        <p:txBody>
          <a:bodyPr wrap="square" anchor="t">
            <a:spAutoFit/>
          </a:bodyPr>
          <a:lstStyle/>
          <a:p>
            <a:pPr algn="l"/>
            <a:r>
              <a:rPr sz="1600" b="1">
                <a:solidFill>
                  <a:srgbClr val="26225C"/>
                </a:solidFill>
                <a:latin typeface="Aptos"/>
              </a:rPr>
              <a:t>Customer Experience</a:t>
            </a:r>
          </a:p>
        </p:txBody>
      </p:sp>
      <p:sp>
        <p:nvSpPr>
          <p:cNvPr id="10" name="TextBox 9"/>
          <p:cNvSpPr txBox="1"/>
          <p:nvPr/>
        </p:nvSpPr>
        <p:spPr>
          <a:xfrm>
            <a:off x="914400" y="2322576"/>
            <a:ext cx="3054096" cy="2898648"/>
          </a:xfrm>
          <a:prstGeom prst="rect">
            <a:avLst/>
          </a:prstGeom>
          <a:noFill/>
        </p:spPr>
        <p:txBody>
          <a:bodyPr wrap="square" anchor="t">
            <a:spAutoFit/>
          </a:bodyPr>
          <a:lstStyle/>
          <a:p>
            <a:pPr algn="l"/>
            <a:r>
              <a:rPr sz="1300" b="0" dirty="0">
                <a:solidFill>
                  <a:srgbClr val="232B3C"/>
                </a:solidFill>
                <a:latin typeface="Aptos"/>
              </a:rPr>
              <a:t>Context-aware AI chat responses, service guidance and personalized recommendations.</a:t>
            </a:r>
          </a:p>
        </p:txBody>
      </p:sp>
      <p:sp>
        <p:nvSpPr>
          <p:cNvPr id="11" name="Rounded Rectangle 10"/>
          <p:cNvSpPr/>
          <p:nvPr/>
        </p:nvSpPr>
        <p:spPr>
          <a:xfrm>
            <a:off x="4407408" y="1755648"/>
            <a:ext cx="3401568"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07408" y="1755648"/>
            <a:ext cx="50292" cy="3611880"/>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1920240"/>
            <a:ext cx="3054096" cy="320040"/>
          </a:xfrm>
          <a:prstGeom prst="rect">
            <a:avLst/>
          </a:prstGeom>
          <a:noFill/>
        </p:spPr>
        <p:txBody>
          <a:bodyPr wrap="square" anchor="t">
            <a:spAutoFit/>
          </a:bodyPr>
          <a:lstStyle/>
          <a:p>
            <a:pPr algn="l"/>
            <a:r>
              <a:rPr sz="1600" b="1">
                <a:solidFill>
                  <a:srgbClr val="26225C"/>
                </a:solidFill>
                <a:latin typeface="Aptos"/>
              </a:rPr>
              <a:t>Sales &amp; Lead Operations</a:t>
            </a:r>
          </a:p>
        </p:txBody>
      </p:sp>
      <p:sp>
        <p:nvSpPr>
          <p:cNvPr id="14" name="TextBox 13"/>
          <p:cNvSpPr txBox="1"/>
          <p:nvPr/>
        </p:nvSpPr>
        <p:spPr>
          <a:xfrm>
            <a:off x="4608576" y="2322576"/>
            <a:ext cx="3054096" cy="2898648"/>
          </a:xfrm>
          <a:prstGeom prst="rect">
            <a:avLst/>
          </a:prstGeom>
          <a:noFill/>
        </p:spPr>
        <p:txBody>
          <a:bodyPr wrap="square" anchor="t">
            <a:spAutoFit/>
          </a:bodyPr>
          <a:lstStyle/>
          <a:p>
            <a:pPr algn="l"/>
            <a:r>
              <a:rPr sz="1300" b="0">
                <a:solidFill>
                  <a:srgbClr val="232B3C"/>
                </a:solidFill>
                <a:latin typeface="Aptos"/>
              </a:rPr>
              <a:t>Lead score, qualification status, requirement summary, customer profile and CRM records.</a:t>
            </a:r>
          </a:p>
        </p:txBody>
      </p:sp>
      <p:sp>
        <p:nvSpPr>
          <p:cNvPr id="15" name="Rounded Rectangle 14"/>
          <p:cNvSpPr/>
          <p:nvPr/>
        </p:nvSpPr>
        <p:spPr>
          <a:xfrm>
            <a:off x="8101583" y="1755648"/>
            <a:ext cx="3310128"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1583" y="1755648"/>
            <a:ext cx="50292" cy="3611880"/>
          </a:xfrm>
          <a:prstGeom prst="rect">
            <a:avLst/>
          </a:prstGeom>
          <a:solidFill>
            <a:srgbClr val="262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920240"/>
            <a:ext cx="2962656" cy="320040"/>
          </a:xfrm>
          <a:prstGeom prst="rect">
            <a:avLst/>
          </a:prstGeom>
          <a:noFill/>
        </p:spPr>
        <p:txBody>
          <a:bodyPr wrap="square" anchor="t">
            <a:spAutoFit/>
          </a:bodyPr>
          <a:lstStyle/>
          <a:p>
            <a:pPr algn="l"/>
            <a:r>
              <a:rPr sz="1600" b="1">
                <a:solidFill>
                  <a:srgbClr val="26225C"/>
                </a:solidFill>
                <a:latin typeface="Aptos"/>
              </a:rPr>
              <a:t>Marketing &amp; Analytics</a:t>
            </a:r>
          </a:p>
        </p:txBody>
      </p:sp>
      <p:sp>
        <p:nvSpPr>
          <p:cNvPr id="18" name="TextBox 17"/>
          <p:cNvSpPr txBox="1"/>
          <p:nvPr/>
        </p:nvSpPr>
        <p:spPr>
          <a:xfrm>
            <a:off x="8302752" y="2322576"/>
            <a:ext cx="2962656" cy="2898648"/>
          </a:xfrm>
          <a:prstGeom prst="rect">
            <a:avLst/>
          </a:prstGeom>
          <a:noFill/>
        </p:spPr>
        <p:txBody>
          <a:bodyPr wrap="square" anchor="t">
            <a:spAutoFit/>
          </a:bodyPr>
          <a:lstStyle/>
          <a:p>
            <a:pPr algn="l"/>
            <a:r>
              <a:rPr sz="1300" b="0">
                <a:solidFill>
                  <a:srgbClr val="232B3C"/>
                </a:solidFill>
                <a:latin typeface="Aptos"/>
              </a:rPr>
              <a:t>AI-generated emails, promotional content, follow-up messages, sales insights and activity reports.</a:t>
            </a:r>
          </a:p>
        </p:txBody>
      </p:sp>
      <p:sp>
        <p:nvSpPr>
          <p:cNvPr id="19" name="Rounded Rectangle 18"/>
          <p:cNvSpPr/>
          <p:nvPr/>
        </p:nvSpPr>
        <p:spPr>
          <a:xfrm>
            <a:off x="713232" y="5623560"/>
            <a:ext cx="10698480" cy="502920"/>
          </a:xfrm>
          <a:prstGeom prst="roundRect">
            <a:avLst/>
          </a:prstGeom>
          <a:solidFill>
            <a:srgbClr val="F5F7FA"/>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5207" y="5641158"/>
            <a:ext cx="10241280" cy="228600"/>
          </a:xfrm>
          <a:prstGeom prst="rect">
            <a:avLst/>
          </a:prstGeom>
          <a:noFill/>
        </p:spPr>
        <p:txBody>
          <a:bodyPr wrap="square" anchor="t">
            <a:spAutoFit/>
          </a:bodyPr>
          <a:lstStyle/>
          <a:p>
            <a:pPr algn="ctr"/>
            <a:r>
              <a:rPr sz="1350" b="1" dirty="0">
                <a:solidFill>
                  <a:srgbClr val="26225C"/>
                </a:solidFill>
                <a:latin typeface="Aptos"/>
              </a:rPr>
              <a:t>Overall outcome: a modular web-based multi-agent platform for more organized sales, marketing and lead-management workflows.</a:t>
            </a:r>
          </a:p>
        </p:txBody>
      </p:sp>
      <p:sp>
        <p:nvSpPr>
          <p:cNvPr id="21" name="Rectangle 20"/>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25" name="TextBox 24">
            <a:extLst>
              <a:ext uri="{FF2B5EF4-FFF2-40B4-BE49-F238E27FC236}">
                <a16:creationId xmlns:a16="http://schemas.microsoft.com/office/drawing/2014/main" id="{E1BC0D34-88F1-CD7D-3734-A863205F5519}"/>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15 of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6">
            <a:extLst>
              <a:ext uri="{FF2B5EF4-FFF2-40B4-BE49-F238E27FC236}">
                <a16:creationId xmlns:a16="http://schemas.microsoft.com/office/drawing/2014/main" id="{2F1D9F04-04EF-6F93-183D-5631193AC64F}"/>
              </a:ext>
            </a:extLst>
          </p:cNvPr>
          <p:cNvSpPr/>
          <p:nvPr/>
        </p:nvSpPr>
        <p:spPr>
          <a:xfrm>
            <a:off x="746607" y="1262153"/>
            <a:ext cx="6164897" cy="3611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411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6175" cy="41148"/>
          </a:xfrm>
          <a:prstGeom prst="rect">
            <a:avLst/>
          </a:prstGeom>
          <a:solidFill>
            <a:srgbClr val="18B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46607" y="5309271"/>
            <a:ext cx="10698480" cy="868680"/>
          </a:xfrm>
          <a:prstGeom prst="roundRect">
            <a:avLst/>
          </a:prstGeom>
          <a:solidFill>
            <a:srgbClr val="26225C"/>
          </a:solidFill>
          <a:ln w="12700">
            <a:solidFill>
              <a:srgbClr val="262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16890" y="5400884"/>
            <a:ext cx="10287000" cy="347472"/>
          </a:xfrm>
          <a:prstGeom prst="rect">
            <a:avLst/>
          </a:prstGeom>
          <a:noFill/>
        </p:spPr>
        <p:txBody>
          <a:bodyPr wrap="square" anchor="t">
            <a:spAutoFit/>
          </a:bodyPr>
          <a:lstStyle/>
          <a:p>
            <a:pPr algn="ctr"/>
            <a:r>
              <a:rPr sz="2400" b="1" dirty="0">
                <a:solidFill>
                  <a:srgbClr val="FFFFFF"/>
                </a:solidFill>
                <a:latin typeface="Aptos"/>
              </a:rPr>
              <a:t>Thank You</a:t>
            </a:r>
          </a:p>
        </p:txBody>
      </p:sp>
      <p:sp>
        <p:nvSpPr>
          <p:cNvPr id="21" name="TextBox 20"/>
          <p:cNvSpPr txBox="1"/>
          <p:nvPr/>
        </p:nvSpPr>
        <p:spPr>
          <a:xfrm>
            <a:off x="1216890" y="5823179"/>
            <a:ext cx="10287000" cy="284693"/>
          </a:xfrm>
          <a:prstGeom prst="rect">
            <a:avLst/>
          </a:prstGeom>
          <a:noFill/>
        </p:spPr>
        <p:txBody>
          <a:bodyPr wrap="square" anchor="t">
            <a:spAutoFit/>
          </a:bodyPr>
          <a:lstStyle/>
          <a:p>
            <a:pPr algn="ctr"/>
            <a:r>
              <a:rPr sz="1250" b="1" dirty="0">
                <a:solidFill>
                  <a:srgbClr val="FFFF00"/>
                </a:solidFill>
                <a:latin typeface="Aptos"/>
              </a:rPr>
              <a:t>Sales and Marketing Agent Development for Online Websites</a:t>
            </a:r>
          </a:p>
        </p:txBody>
      </p:sp>
      <p:sp>
        <p:nvSpPr>
          <p:cNvPr id="22" name="Rectangle 21"/>
          <p:cNvSpPr/>
          <p:nvPr/>
        </p:nvSpPr>
        <p:spPr>
          <a:xfrm>
            <a:off x="475488" y="6437376"/>
            <a:ext cx="1120140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5488" y="6492240"/>
            <a:ext cx="6217920" cy="201168"/>
          </a:xfrm>
          <a:prstGeom prst="rect">
            <a:avLst/>
          </a:prstGeom>
          <a:noFill/>
        </p:spPr>
        <p:txBody>
          <a:bodyPr wrap="square" anchor="t">
            <a:spAutoFit/>
          </a:bodyPr>
          <a:lstStyle/>
          <a:p>
            <a:pPr algn="l"/>
            <a:r>
              <a:rPr sz="950" b="0">
                <a:solidFill>
                  <a:srgbClr val="94A3B8"/>
                </a:solidFill>
                <a:latin typeface="Aptos"/>
              </a:rPr>
              <a:t>ISBM College of Engineering, Nande, Pune — Dept. of AI &amp; ML</a:t>
            </a:r>
          </a:p>
        </p:txBody>
      </p:sp>
      <p:sp>
        <p:nvSpPr>
          <p:cNvPr id="5" name="TextBox 4">
            <a:extLst>
              <a:ext uri="{FF2B5EF4-FFF2-40B4-BE49-F238E27FC236}">
                <a16:creationId xmlns:a16="http://schemas.microsoft.com/office/drawing/2014/main" id="{65FD12B4-A137-D71D-5320-5B76A611E0FC}"/>
              </a:ext>
            </a:extLst>
          </p:cNvPr>
          <p:cNvSpPr txBox="1"/>
          <p:nvPr/>
        </p:nvSpPr>
        <p:spPr>
          <a:xfrm>
            <a:off x="9921240" y="6492240"/>
            <a:ext cx="1737360" cy="230832"/>
          </a:xfrm>
          <a:prstGeom prst="rect">
            <a:avLst/>
          </a:prstGeom>
          <a:noFill/>
        </p:spPr>
        <p:txBody>
          <a:bodyPr wrap="square" anchor="t">
            <a:spAutoFit/>
          </a:bodyPr>
          <a:lstStyle/>
          <a:p>
            <a:pPr lvl="0" algn="r">
              <a:defRPr/>
            </a:pPr>
            <a:r>
              <a:rPr lang="en-IN" sz="900" dirty="0">
                <a:solidFill>
                  <a:srgbClr val="94A3B8"/>
                </a:solidFill>
                <a:latin typeface="Inter"/>
              </a:rPr>
              <a:t>Slide 16 of 16</a:t>
            </a:r>
          </a:p>
        </p:txBody>
      </p:sp>
      <p:sp>
        <p:nvSpPr>
          <p:cNvPr id="7" name="TextBox 6">
            <a:extLst>
              <a:ext uri="{FF2B5EF4-FFF2-40B4-BE49-F238E27FC236}">
                <a16:creationId xmlns:a16="http://schemas.microsoft.com/office/drawing/2014/main" id="{1F369E90-D8F1-F1C7-6546-88D3449AC6C2}"/>
              </a:ext>
            </a:extLst>
          </p:cNvPr>
          <p:cNvSpPr txBox="1"/>
          <p:nvPr/>
        </p:nvSpPr>
        <p:spPr>
          <a:xfrm>
            <a:off x="1130707" y="1861857"/>
            <a:ext cx="5396695" cy="2464201"/>
          </a:xfrm>
          <a:prstGeom prst="rect">
            <a:avLst/>
          </a:prstGeom>
          <a:noFill/>
        </p:spPr>
        <p:txBody>
          <a:bodyPr wrap="square">
            <a:spAutoFit/>
          </a:bodyPr>
          <a:lstStyle/>
          <a:p>
            <a:pPr>
              <a:lnSpc>
                <a:spcPct val="150000"/>
              </a:lnSpc>
              <a:buNone/>
            </a:pPr>
            <a:r>
              <a:rPr lang="en-IN" sz="1300" dirty="0">
                <a:latin typeface="Aptos" panose="020B0004020202020204" pitchFamily="34" charset="0"/>
              </a:rPr>
              <a:t>The proposed Sales and Marketing Agent provides a structured AI-powered solution for automating customer interaction, sales support, marketing activities, and lead qualification. By combining specialized agents, LLMs, RAG, and CRM integration, the system aims to improve response quality and operational efficiency. The modular architecture supports phased development, testing, and future scalability. Overall, the project provides a practical foundation for organized, context-aware, and automated sales and marketing workflows.</a:t>
            </a:r>
          </a:p>
        </p:txBody>
      </p:sp>
      <p:sp>
        <p:nvSpPr>
          <p:cNvPr id="11" name="TextBox 10">
            <a:extLst>
              <a:ext uri="{FF2B5EF4-FFF2-40B4-BE49-F238E27FC236}">
                <a16:creationId xmlns:a16="http://schemas.microsoft.com/office/drawing/2014/main" id="{7C7C8D3C-A71C-8716-C30D-DAF8E607D14D}"/>
              </a:ext>
            </a:extLst>
          </p:cNvPr>
          <p:cNvSpPr txBox="1"/>
          <p:nvPr/>
        </p:nvSpPr>
        <p:spPr>
          <a:xfrm>
            <a:off x="746607" y="601813"/>
            <a:ext cx="7410090" cy="507831"/>
          </a:xfrm>
          <a:prstGeom prst="rect">
            <a:avLst/>
          </a:prstGeom>
          <a:noFill/>
        </p:spPr>
        <p:txBody>
          <a:bodyPr wrap="square">
            <a:spAutoFit/>
          </a:bodyPr>
          <a:lstStyle/>
          <a:p>
            <a:pPr algn="l"/>
            <a:r>
              <a:rPr lang="en-IN" sz="2700" b="1" dirty="0">
                <a:solidFill>
                  <a:srgbClr val="26225C"/>
                </a:solidFill>
                <a:latin typeface="Aptos"/>
              </a:rPr>
              <a:t>Conclusion</a:t>
            </a:r>
          </a:p>
        </p:txBody>
      </p:sp>
      <p:sp>
        <p:nvSpPr>
          <p:cNvPr id="13" name="TextBox 12">
            <a:extLst>
              <a:ext uri="{FF2B5EF4-FFF2-40B4-BE49-F238E27FC236}">
                <a16:creationId xmlns:a16="http://schemas.microsoft.com/office/drawing/2014/main" id="{3DED303D-E07F-AAD3-D87E-A1C6EC8880A4}"/>
              </a:ext>
            </a:extLst>
          </p:cNvPr>
          <p:cNvSpPr txBox="1"/>
          <p:nvPr/>
        </p:nvSpPr>
        <p:spPr>
          <a:xfrm>
            <a:off x="775248" y="426133"/>
            <a:ext cx="6136256" cy="253916"/>
          </a:xfrm>
          <a:prstGeom prst="rect">
            <a:avLst/>
          </a:prstGeom>
          <a:noFill/>
        </p:spPr>
        <p:txBody>
          <a:bodyPr wrap="square">
            <a:spAutoFit/>
          </a:bodyPr>
          <a:lstStyle/>
          <a:p>
            <a:pPr algn="l"/>
            <a:r>
              <a:rPr lang="en-IN" sz="1050" b="1" dirty="0">
                <a:solidFill>
                  <a:srgbClr val="4F46E5"/>
                </a:solidFill>
                <a:latin typeface="Aptos"/>
              </a:rP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632</TotalTime>
  <Words>1943</Words>
  <Application>Microsoft Office PowerPoint</Application>
  <PresentationFormat>Widescreen</PresentationFormat>
  <Paragraphs>254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Inter</vt:lpstr>
      <vt:lpstr>Inter Medium</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Review-II — Sales and Marketing Agent Development for Online Websites</dc:title>
  <dc:subject>Review-II presentation based on project PPT, Specifications and Synopsis</dc:subject>
  <dc:creator>ISBM College of Engineering — Dept. of AI &amp; ML</dc:creator>
  <cp:keywords/>
  <dc:description>generated using python-pptx</dc:description>
  <cp:lastModifiedBy>Kartik Barade</cp:lastModifiedBy>
  <cp:revision>10</cp:revision>
  <dcterms:created xsi:type="dcterms:W3CDTF">2013-01-27T09:14:16Z</dcterms:created>
  <dcterms:modified xsi:type="dcterms:W3CDTF">2026-09-25T18:48:01Z</dcterms:modified>
  <cp:category/>
</cp:coreProperties>
</file>